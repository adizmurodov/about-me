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will learn the three English articles: a, an and the. We will also learn when we use no article at all. Look at the colors: blue is always a / an, orange is always the, and grey (the symbol Ø) means no article. These colors stay the same on every slide. By the end, you will be able to choose the right article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We start with the basics, then learn how to choose between a and an. Next we look at when to use a / an, when to use the, and when to use no article. At the end we put everything together in one chart, look at common mistakes, and practice with a short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article is a very small word, but it carries important information. It always comes before a noun, or before an adjective + noun, like "a big house". English has two indefinite articles, a and an, which mean "any one". It has one definite article, the, which means "the specific one we both know". And very often we use no article at all. We write this as Ø, which simply means "nothing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in the whole lesson. If I say "Can I borrow a pen?", I mean any pen. I don't care which one. If I say "Can I borrow the pen?", I mean one specific pen, for example the pen on your desk that we can both see. The noun "pen" is the same. Only the article changes, and the meaning changes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one rule for a and an. We do not look at the first letter of the word. We listen to the first sound. This is why we say "an hour" (the h is silent) but "a university" (it starts with a "you" sound). On the next two slides we will see how this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when the next word starts with a consonant sound, like b, c, d or t. Use "an" when the next word starts with a vowel sound: the sounds of a, e, i, o and u. We use "an" because it is easier to say: "an apple" flows better than "a apple". Look at the tip at the bottom: the article only cares about the word right after it. "An apple" becomes "a red apple", because "red" starts with a consonant sound. "A car" becomes "an old car", because "old" starts with a vowel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words confuse many learners. "University" starts with the letter u, but we say "you-niversity", which starts with a consonant sound, so we say "a university". "One" starts with a "w" sound, so it is "a one-day trip". On the right, "hour" and "honest" start with a silent h, so the first sound is a vowel: "an hour", "an honest man". Letters in abbreviations are read by their names: M is "em" and X is "eks", so we say "an MBA" and "an X-ray". If you are not sure, say the word out loud and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most common uses of a / an. One: when we mention something for the first time. The listener doesn't know it yet. Two: when we mean any one, and it doesn't matter which. Three: with jobs. In English we must say "She is an engineer", never "She is engineer". Four: when we describe something or say what kind of thing it is. Five: a / an can simply mean "one": "an hour" is "one hour". Six: to say "per" or "every": "twice a week", "ninety kilometres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an comes from the old word for "one". So we can only use it with one countable thing. We never say "a books", because "books" is plural. We also never say "a water" or "an advice", because these nouns are uncountable: we cannot count them one by one. Instead we say "some water", "some advice", or we use a container or unit: "a glass of water", "a piece of advice". Be careful: in many languages "advice", "information" and "news" are countable, but in English they are uncountable.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always means: the listener knows exactly which one. One: the second time we mention something. First "a film", then "the film". Two: things that are unique, like the sun, the moon or the internet. Three: when the situation makes it clear. If there is one door in the room, it is "the door". Four: when extra words make it specific: "the man who called you", "the book on the table". Five: with superlatives like "the best" or "the biggest", because only one thing can be the best. Six: with first, last, next, only and same, for the same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names are a special area. We use "the" with rivers, seas and oceans, mountain ranges and deserts. We also use it with country names that contain a word like States, Kingdom or Emirates, and with plural names like the Netherlands. But most countries, all cities, continents, single mountains, lakes and streets take no article. So we say "I live in Uzbekistan", not "the Uzbekistan", and "I live in Tashkent", not "the Tashkent". One useful clue: when a name has "of" in it, it usually takes "the": the Republic of Uzbekistan, the Gulf of Mexico.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uses of "the" are fixed. We just need to learn them. We play the piano and play the guitar. "The" + an adjective can mean a whole group of people: the rich, the young, the elderly. We use "the" for a nationality as a whole group: the British, the Chinese. Famous buildings, museums, hotels and many newspapers take "the". We also say "the 1990s" for decades, and "the Smiths" or "the Karimovs" for a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common mistake. When we talk about something in general, we use no article. "Dogs are loyal animals" means all dogs. "The dogs next door are very loud" means some specific dogs. "I love music" means music in general. "I love the music in this film" means one specific music. So ask yourself: am I talking about everything in general, or about specific ones? General: no article. Specific: 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six groups of words that normally take no article. Meals: have breakfast, have lunch. Sports and games: play football, play chess. Compare this with musical instruments, which take "the": play the piano. Languages and school subjects: speak English, study math. Days, months and years: on Monday, in July, in 2026. Names of people, cities and most countries. And transport after "by": by bus, by car, by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like school, bed, hospital, prison, church and university work in a special way. When we use the place for its main purpose, we use no article. A student goes to school to study. A tired person goes to bed to sleep. A patient is in hospital. But when we mean just the building or the object, we use "the": parents go to the school for a meeting, your phone is on the bed, you go to the hospital to visit a friend. Also remember these phrases with no article: at home, at work, at night, go home. Note that American English usually says "in the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chart covers almost every noun. Ask two questions. First: is the noun singular and countable, or is it plural or uncountable? Second: is it specific, meaning we both know which one, or is it general? If it is specific, the answer is always "the", for any kind of noun. If it is general and singular countable, use a or an. If it is general and plural or uncountable, use no article. Finally, if you chose a / an, check the first sound of the next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Languages like Uzbek and Russian have no articles, so learners often forget them or add them in the wrong place. Here are seven very common mistakes. Read the wrong sentence, then the right one, then the reason. Notice that every reason is a rule we already learned: jobs take a / an, silent h means a vowel sound, general ideas take no article, unique things take the, sports take no article, uncountable nouns never take a / an, and superlatives take 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read a short story together and watch the articles. "A new phone" and "an umbrella" are new information, so we use a / an. After that, the listener knows which phone and which umbrella, so they become "the phone" and "the umbrella". "The first day" takes "the" because of the word "first". "The shop near my house" is made specific by "near my house". "The manager" is the manager of that shop, so we both know who. Finally, "good service" is a general idea, so it has no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Read each sentence and choose a, an, the, or no article (Ø). Take about two minutes. Think about the rules: is it the first sound? Is it one countable thing? Do we both know which one? Is it general? Then go to the next slide to check your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One: an umbrella, because of the vowel sound. Two: the moon, because there is only one. Three: a university, because it starts with a "you" sound. Four: no article, because meals take no article. Five: the window, because we both know which one. Six: an hour, because the h is silent. Seven: the guitar, because musical instruments take "the". Eight: no article, because honesty is a general idea. How many did you get right? Seven or eight means you have understood articles very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everything on one page. Take a photo of this slide or write it in your notebook. A / an means any one: one countable thing, the first mention, jobs, "one" and "per", and "an" before a vowel sound. The means the specific one: the second mention, unique things, things we both know, superlatives, and some place names. No article means general: general plurals, general ideas, meals, sports, languages, most countries and cities, and fixed phrases like "go to school" and "by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remember three questions. One: is the noun one countable thing, or is it plural or uncountable? Two: do we both know which one? If yes, use "the". If not, use a / an, or no article for things in general. Three: if you need a / an, what is the first sound of the next word? Practice these three questions every time you speak or write, and articles will soon become automatic. Thank you! Are there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p:bgPr>
    </p:bg>
    <p:spTree>
      <p:nvGrpSpPr>
        <p:cNvPr id="1" name=""/>
        <p:cNvGrpSpPr/>
        <p:nvPr/>
      </p:nvGrpSpPr>
      <p:grpSpPr>
        <a:xfrm>
          <a:off x="0" y="0"/>
          <a:ext cx="0" cy="0"/>
          <a:chOff x="0" y="0"/>
          <a:chExt cx="0" cy="0"/>
        </a:xfrm>
      </p:grpSpPr>
      <p:sp>
        <p:nvSpPr>
          <p:cNvPr id="2" name="Text 0"/>
          <p:cNvSpPr txBox="1"/>
          <p:nvPr/>
        </p:nvSpPr>
        <p:spPr>
          <a:xfrm>
            <a:off x="812810" y="1894911"/>
            <a:ext cx="10815798" cy="228600"/>
          </a:xfrm>
          <a:prstGeom prst="rect">
            <a:avLst/>
          </a:prstGeom>
          <a:noFill/>
          <a:ln/>
        </p:spPr>
        <p:txBody>
          <a:bodyPr wrap="square" lIns="0" tIns="0" rIns="0" bIns="0" rtlCol="0" anchor="t"/>
          <a:lstStyle/>
          <a:p>
            <a:pPr algn="l" indent="0" marL="0">
              <a:lnSpc>
                <a:spcPts val="1680"/>
              </a:lnSpc>
              <a:buNone/>
            </a:pPr>
            <a:r>
              <a:rPr lang="en-US" sz="1200" b="1" spc="200" kern="0" dirty="0">
                <a:solidFill>
                  <a:srgbClr val="F4A261"/>
                </a:solidFill>
                <a:latin typeface="Calibri" pitchFamily="34" charset="0"/>
                <a:ea typeface="Calibri" pitchFamily="34" charset="-122"/>
                <a:cs typeface="Calibri" pitchFamily="34" charset="-120"/>
              </a:rPr>
              <a:t>ENGLISH GRAMMAR ESSENTIALS</a:t>
            </a:r>
            <a:endParaRPr lang="en-US" sz="1200" dirty="0"/>
          </a:p>
        </p:txBody>
      </p:sp>
      <p:sp>
        <p:nvSpPr>
          <p:cNvPr id="3" name="Text 1"/>
          <p:cNvSpPr txBox="1"/>
          <p:nvPr/>
        </p:nvSpPr>
        <p:spPr>
          <a:xfrm>
            <a:off x="812810" y="2377440"/>
            <a:ext cx="10815798" cy="960029"/>
          </a:xfrm>
          <a:prstGeom prst="rect">
            <a:avLst/>
          </a:prstGeom>
          <a:noFill/>
          <a:ln/>
        </p:spPr>
        <p:txBody>
          <a:bodyPr wrap="square" lIns="0" tIns="0" rIns="0" bIns="0" rtlCol="0" anchor="t"/>
          <a:lstStyle/>
          <a:p>
            <a:pPr algn="l" indent="0" marL="0">
              <a:lnSpc>
                <a:spcPts val="7560"/>
              </a:lnSpc>
              <a:buNone/>
            </a:pPr>
            <a:r>
              <a:rPr lang="en-US" sz="7200" b="1" dirty="0">
                <a:solidFill>
                  <a:srgbClr val="8DB0F5"/>
                </a:solidFill>
                <a:latin typeface="Cambria" pitchFamily="34" charset="0"/>
                <a:ea typeface="Cambria" pitchFamily="34" charset="-122"/>
                <a:cs typeface="Cambria" pitchFamily="34" charset="-120"/>
              </a:rPr>
              <a:t>A</a:t>
            </a:r>
            <a:pPr algn="l" indent="0" marL="0">
              <a:lnSpc>
                <a:spcPts val="7560"/>
              </a:lnSpc>
              <a:buNone/>
            </a:pPr>
            <a:r>
              <a:rPr lang="en-US" sz="7200" b="1" dirty="0">
                <a:solidFill>
                  <a:srgbClr val="F4EFE4"/>
                </a:solidFill>
                <a:latin typeface="Cambria" pitchFamily="34" charset="0"/>
                <a:ea typeface="Cambria" pitchFamily="34" charset="-122"/>
                <a:cs typeface="Cambria" pitchFamily="34" charset="-120"/>
              </a:rPr>
              <a:t>, </a:t>
            </a:r>
            <a:pPr algn="l" indent="0" marL="0">
              <a:lnSpc>
                <a:spcPts val="7560"/>
              </a:lnSpc>
              <a:buNone/>
            </a:pPr>
            <a:r>
              <a:rPr lang="en-US" sz="7200" b="1" dirty="0">
                <a:solidFill>
                  <a:srgbClr val="8DB0F5"/>
                </a:solidFill>
                <a:latin typeface="Cambria" pitchFamily="34" charset="0"/>
                <a:ea typeface="Cambria" pitchFamily="34" charset="-122"/>
                <a:cs typeface="Cambria" pitchFamily="34" charset="-120"/>
              </a:rPr>
              <a:t>An</a:t>
            </a:r>
            <a:pPr algn="l" indent="0" marL="0">
              <a:lnSpc>
                <a:spcPts val="7560"/>
              </a:lnSpc>
              <a:buNone/>
            </a:pPr>
            <a:r>
              <a:rPr lang="en-US" sz="7200" b="1" dirty="0">
                <a:solidFill>
                  <a:srgbClr val="F4EFE4"/>
                </a:solidFill>
                <a:latin typeface="Cambria" pitchFamily="34" charset="0"/>
                <a:ea typeface="Cambria" pitchFamily="34" charset="-122"/>
                <a:cs typeface="Cambria" pitchFamily="34" charset="-120"/>
              </a:rPr>
              <a:t> &amp; </a:t>
            </a:r>
            <a:pPr algn="l" indent="0" marL="0">
              <a:lnSpc>
                <a:spcPts val="7560"/>
              </a:lnSpc>
              <a:buNone/>
            </a:pPr>
            <a:r>
              <a:rPr lang="en-US" sz="7200" b="1" dirty="0">
                <a:solidFill>
                  <a:srgbClr val="F4A261"/>
                </a:solidFill>
                <a:latin typeface="Cambria" pitchFamily="34" charset="0"/>
                <a:ea typeface="Cambria" pitchFamily="34" charset="-122"/>
                <a:cs typeface="Cambria" pitchFamily="34" charset="-120"/>
              </a:rPr>
              <a:t>The</a:t>
            </a:r>
            <a:endParaRPr lang="en-US" sz="7200" dirty="0"/>
          </a:p>
        </p:txBody>
      </p:sp>
      <p:sp>
        <p:nvSpPr>
          <p:cNvPr id="4" name="Text 2"/>
          <p:cNvSpPr txBox="1"/>
          <p:nvPr/>
        </p:nvSpPr>
        <p:spPr>
          <a:xfrm>
            <a:off x="812810" y="3566160"/>
            <a:ext cx="8069580" cy="736641"/>
          </a:xfrm>
          <a:prstGeom prst="rect">
            <a:avLst/>
          </a:prstGeom>
          <a:noFill/>
          <a:ln/>
        </p:spPr>
        <p:txBody>
          <a:bodyPr wrap="square" lIns="0" tIns="0" rIns="0" bIns="0" rtlCol="0" anchor="t"/>
          <a:lstStyle/>
          <a:p>
            <a:pPr algn="l" indent="0" marL="0">
              <a:lnSpc>
                <a:spcPts val="2800"/>
              </a:lnSpc>
              <a:buNone/>
            </a:pPr>
            <a:r>
              <a:rPr lang="en-US" sz="2000" dirty="0">
                <a:solidFill>
                  <a:srgbClr val="C9D1DE"/>
                </a:solidFill>
                <a:latin typeface="Calibri" pitchFamily="34" charset="0"/>
                <a:ea typeface="Calibri" pitchFamily="34" charset="-122"/>
                <a:cs typeface="Calibri" pitchFamily="34" charset="-120"/>
              </a:rPr>
              <a:t>A clear, step-by-step guide to English articles: what they mean, when to use them, and when to use no article at all.</a:t>
            </a:r>
            <a:endParaRPr lang="en-US" sz="2000" dirty="0"/>
          </a:p>
        </p:txBody>
      </p:sp>
      <p:sp>
        <p:nvSpPr>
          <p:cNvPr id="5" name="Shape 3"/>
          <p:cNvSpPr/>
          <p:nvPr/>
        </p:nvSpPr>
        <p:spPr>
          <a:xfrm>
            <a:off x="812810" y="4556730"/>
            <a:ext cx="1411468" cy="391089"/>
          </a:xfrm>
          <a:prstGeom prst="roundRect">
            <a:avLst>
              <a:gd name="adj" fmla="val 50012"/>
            </a:avLst>
          </a:prstGeom>
          <a:ln w="12700">
            <a:solidFill>
              <a:srgbClr val="8DB0F5"/>
            </a:solidFill>
            <a:prstDash val="solid"/>
          </a:ln>
        </p:spPr>
      </p:sp>
      <p:sp>
        <p:nvSpPr>
          <p:cNvPr id="6" name="Text 4"/>
          <p:cNvSpPr txBox="1"/>
          <p:nvPr/>
        </p:nvSpPr>
        <p:spPr>
          <a:xfrm>
            <a:off x="1003280" y="4630339"/>
            <a:ext cx="1089233" cy="228600"/>
          </a:xfrm>
          <a:prstGeom prst="rect">
            <a:avLst/>
          </a:prstGeom>
          <a:noFill/>
          <a:ln/>
        </p:spPr>
        <p:txBody>
          <a:bodyPr wrap="square" lIns="0" tIns="0" rIns="0" bIns="0" rtlCol="0" anchor="t"/>
          <a:lstStyle/>
          <a:p>
            <a:pPr algn="l" indent="0" marL="0">
              <a:lnSpc>
                <a:spcPts val="1680"/>
              </a:lnSpc>
              <a:buNone/>
            </a:pPr>
            <a:r>
              <a:rPr lang="en-US" sz="1200" b="1" dirty="0">
                <a:solidFill>
                  <a:srgbClr val="8DB0F5"/>
                </a:solidFill>
                <a:latin typeface="Calibri" pitchFamily="34" charset="0"/>
                <a:ea typeface="Calibri" pitchFamily="34" charset="-122"/>
                <a:cs typeface="Calibri" pitchFamily="34" charset="-120"/>
              </a:rPr>
              <a:t>A / AN · any one</a:t>
            </a:r>
            <a:endParaRPr lang="en-US" sz="1200" dirty="0"/>
          </a:p>
        </p:txBody>
      </p:sp>
      <p:sp>
        <p:nvSpPr>
          <p:cNvPr id="7" name="Shape 5"/>
          <p:cNvSpPr/>
          <p:nvPr/>
        </p:nvSpPr>
        <p:spPr>
          <a:xfrm>
            <a:off x="2376708" y="4556730"/>
            <a:ext cx="1726113" cy="391089"/>
          </a:xfrm>
          <a:prstGeom prst="roundRect">
            <a:avLst>
              <a:gd name="adj" fmla="val 50012"/>
            </a:avLst>
          </a:prstGeom>
          <a:ln w="12700">
            <a:solidFill>
              <a:srgbClr val="F4A261"/>
            </a:solidFill>
            <a:prstDash val="solid"/>
          </a:ln>
        </p:spPr>
      </p:sp>
      <p:sp>
        <p:nvSpPr>
          <p:cNvPr id="8" name="Text 6"/>
          <p:cNvSpPr txBox="1"/>
          <p:nvPr/>
        </p:nvSpPr>
        <p:spPr>
          <a:xfrm>
            <a:off x="2567178" y="4630339"/>
            <a:ext cx="1410096" cy="228600"/>
          </a:xfrm>
          <a:prstGeom prst="rect">
            <a:avLst/>
          </a:prstGeom>
          <a:noFill/>
          <a:ln/>
        </p:spPr>
        <p:txBody>
          <a:bodyPr wrap="square" lIns="0" tIns="0" rIns="0" bIns="0" rtlCol="0" anchor="t"/>
          <a:lstStyle/>
          <a:p>
            <a:pPr algn="l" indent="0" marL="0">
              <a:lnSpc>
                <a:spcPts val="1680"/>
              </a:lnSpc>
              <a:buNone/>
            </a:pPr>
            <a:r>
              <a:rPr lang="en-US" sz="1200" b="1" dirty="0">
                <a:solidFill>
                  <a:srgbClr val="F4A261"/>
                </a:solidFill>
                <a:latin typeface="Calibri" pitchFamily="34" charset="0"/>
                <a:ea typeface="Calibri" pitchFamily="34" charset="-122"/>
                <a:cs typeface="Calibri" pitchFamily="34" charset="-120"/>
              </a:rPr>
              <a:t>THE · the specific one</a:t>
            </a:r>
            <a:endParaRPr lang="en-US" sz="1200" dirty="0"/>
          </a:p>
        </p:txBody>
      </p:sp>
      <p:sp>
        <p:nvSpPr>
          <p:cNvPr id="9" name="Shape 7"/>
          <p:cNvSpPr/>
          <p:nvPr/>
        </p:nvSpPr>
        <p:spPr>
          <a:xfrm>
            <a:off x="4255160" y="4556730"/>
            <a:ext cx="1189177" cy="391089"/>
          </a:xfrm>
          <a:prstGeom prst="roundRect">
            <a:avLst>
              <a:gd name="adj" fmla="val 50012"/>
            </a:avLst>
          </a:prstGeom>
          <a:ln w="12700">
            <a:solidFill>
              <a:srgbClr val="B9C2D0"/>
            </a:solidFill>
            <a:prstDash val="solid"/>
          </a:ln>
        </p:spPr>
      </p:sp>
      <p:sp>
        <p:nvSpPr>
          <p:cNvPr id="10" name="Text 8"/>
          <p:cNvSpPr txBox="1"/>
          <p:nvPr/>
        </p:nvSpPr>
        <p:spPr>
          <a:xfrm>
            <a:off x="4445721" y="4630339"/>
            <a:ext cx="862371" cy="228600"/>
          </a:xfrm>
          <a:prstGeom prst="rect">
            <a:avLst/>
          </a:prstGeom>
          <a:noFill/>
          <a:ln/>
        </p:spPr>
        <p:txBody>
          <a:bodyPr wrap="square" lIns="0" tIns="0" rIns="0" bIns="0" rtlCol="0" anchor="t"/>
          <a:lstStyle/>
          <a:p>
            <a:pPr algn="l" indent="0" marL="0">
              <a:lnSpc>
                <a:spcPts val="1680"/>
              </a:lnSpc>
              <a:buNone/>
            </a:pPr>
            <a:r>
              <a:rPr lang="en-US" sz="1200" b="1" dirty="0">
                <a:solidFill>
                  <a:srgbClr val="B9C2D0"/>
                </a:solidFill>
                <a:latin typeface="Calibri" pitchFamily="34" charset="0"/>
                <a:ea typeface="Calibri" pitchFamily="34" charset="-122"/>
                <a:cs typeface="Calibri" pitchFamily="34" charset="-120"/>
              </a:rPr>
              <a:t>Ø · no article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What you will learn</a:t>
            </a:r>
            <a:endParaRPr lang="en-US" sz="3200" dirty="0"/>
          </a:p>
        </p:txBody>
      </p:sp>
      <p:sp>
        <p:nvSpPr>
          <p:cNvPr id="4" name="Text 2"/>
          <p:cNvSpPr txBox="1"/>
          <p:nvPr/>
        </p:nvSpPr>
        <p:spPr>
          <a:xfrm>
            <a:off x="812810" y="1904878"/>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01</a:t>
            </a:r>
            <a:endParaRPr lang="en-US" sz="2000" dirty="0"/>
          </a:p>
        </p:txBody>
      </p:sp>
      <p:sp>
        <p:nvSpPr>
          <p:cNvPr id="5" name="Text 3"/>
          <p:cNvSpPr txBox="1"/>
          <p:nvPr/>
        </p:nvSpPr>
        <p:spPr>
          <a:xfrm>
            <a:off x="1498610" y="1904878"/>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The basics</a:t>
            </a:r>
            <a:endParaRPr lang="en-US" sz="2000" dirty="0"/>
          </a:p>
        </p:txBody>
      </p:sp>
      <p:sp>
        <p:nvSpPr>
          <p:cNvPr id="6" name="Text 4"/>
          <p:cNvSpPr txBox="1"/>
          <p:nvPr/>
        </p:nvSpPr>
        <p:spPr>
          <a:xfrm>
            <a:off x="1498610" y="2245218"/>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What an article is and what it tells the listener.</a:t>
            </a:r>
            <a:endParaRPr lang="en-US" sz="1600" dirty="0"/>
          </a:p>
        </p:txBody>
      </p:sp>
      <p:sp>
        <p:nvSpPr>
          <p:cNvPr id="7" name="Text 5"/>
          <p:cNvSpPr txBox="1"/>
          <p:nvPr/>
        </p:nvSpPr>
        <p:spPr>
          <a:xfrm>
            <a:off x="6248370" y="1904878"/>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02</a:t>
            </a:r>
            <a:endParaRPr lang="en-US" sz="2000" dirty="0"/>
          </a:p>
        </p:txBody>
      </p:sp>
      <p:sp>
        <p:nvSpPr>
          <p:cNvPr id="8" name="Text 6"/>
          <p:cNvSpPr txBox="1"/>
          <p:nvPr/>
        </p:nvSpPr>
        <p:spPr>
          <a:xfrm>
            <a:off x="6934170" y="1904878"/>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A or An?</a:t>
            </a:r>
            <a:endParaRPr lang="en-US" sz="2000" dirty="0"/>
          </a:p>
        </p:txBody>
      </p:sp>
      <p:sp>
        <p:nvSpPr>
          <p:cNvPr id="9" name="Text 7"/>
          <p:cNvSpPr txBox="1"/>
          <p:nvPr/>
        </p:nvSpPr>
        <p:spPr>
          <a:xfrm>
            <a:off x="6934170" y="2245218"/>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How the first sound of the next word decides.</a:t>
            </a:r>
            <a:endParaRPr lang="en-US" sz="1600" dirty="0"/>
          </a:p>
        </p:txBody>
      </p:sp>
      <p:sp>
        <p:nvSpPr>
          <p:cNvPr id="10" name="Text 8"/>
          <p:cNvSpPr txBox="1"/>
          <p:nvPr/>
        </p:nvSpPr>
        <p:spPr>
          <a:xfrm>
            <a:off x="812810" y="2839578"/>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03</a:t>
            </a:r>
            <a:endParaRPr lang="en-US" sz="2000" dirty="0"/>
          </a:p>
        </p:txBody>
      </p:sp>
      <p:sp>
        <p:nvSpPr>
          <p:cNvPr id="11" name="Text 9"/>
          <p:cNvSpPr txBox="1"/>
          <p:nvPr/>
        </p:nvSpPr>
        <p:spPr>
          <a:xfrm>
            <a:off x="1498610" y="2839578"/>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Using A / AN</a:t>
            </a:r>
            <a:endParaRPr lang="en-US" sz="2000" dirty="0"/>
          </a:p>
        </p:txBody>
      </p:sp>
      <p:sp>
        <p:nvSpPr>
          <p:cNvPr id="12" name="Text 10"/>
          <p:cNvSpPr txBox="1"/>
          <p:nvPr/>
        </p:nvSpPr>
        <p:spPr>
          <a:xfrm>
            <a:off x="1498610" y="3179917"/>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Six common situations, and one important limit.</a:t>
            </a:r>
            <a:endParaRPr lang="en-US" sz="1600" dirty="0"/>
          </a:p>
        </p:txBody>
      </p:sp>
      <p:sp>
        <p:nvSpPr>
          <p:cNvPr id="13" name="Text 11"/>
          <p:cNvSpPr txBox="1"/>
          <p:nvPr/>
        </p:nvSpPr>
        <p:spPr>
          <a:xfrm>
            <a:off x="6248370" y="2839578"/>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04</a:t>
            </a:r>
            <a:endParaRPr lang="en-US" sz="2000" dirty="0"/>
          </a:p>
        </p:txBody>
      </p:sp>
      <p:sp>
        <p:nvSpPr>
          <p:cNvPr id="14" name="Text 12"/>
          <p:cNvSpPr txBox="1"/>
          <p:nvPr/>
        </p:nvSpPr>
        <p:spPr>
          <a:xfrm>
            <a:off x="6934170" y="2839578"/>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Using THE</a:t>
            </a:r>
            <a:endParaRPr lang="en-US" sz="2000" dirty="0"/>
          </a:p>
        </p:txBody>
      </p:sp>
      <p:sp>
        <p:nvSpPr>
          <p:cNvPr id="15" name="Text 13"/>
          <p:cNvSpPr txBox="1"/>
          <p:nvPr/>
        </p:nvSpPr>
        <p:spPr>
          <a:xfrm>
            <a:off x="6934170" y="3179917"/>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Specific things, unique things and place names.</a:t>
            </a:r>
            <a:endParaRPr lang="en-US" sz="1600" dirty="0"/>
          </a:p>
        </p:txBody>
      </p:sp>
      <p:sp>
        <p:nvSpPr>
          <p:cNvPr id="16" name="Text 14"/>
          <p:cNvSpPr txBox="1"/>
          <p:nvPr/>
        </p:nvSpPr>
        <p:spPr>
          <a:xfrm>
            <a:off x="812810" y="3774186"/>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05</a:t>
            </a:r>
            <a:endParaRPr lang="en-US" sz="2000" dirty="0"/>
          </a:p>
        </p:txBody>
      </p:sp>
      <p:sp>
        <p:nvSpPr>
          <p:cNvPr id="17" name="Text 15"/>
          <p:cNvSpPr txBox="1"/>
          <p:nvPr/>
        </p:nvSpPr>
        <p:spPr>
          <a:xfrm>
            <a:off x="1498610" y="3774186"/>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No article (Ø)</a:t>
            </a:r>
            <a:endParaRPr lang="en-US" sz="2000" dirty="0"/>
          </a:p>
        </p:txBody>
      </p:sp>
      <p:sp>
        <p:nvSpPr>
          <p:cNvPr id="18" name="Text 16"/>
          <p:cNvSpPr txBox="1"/>
          <p:nvPr/>
        </p:nvSpPr>
        <p:spPr>
          <a:xfrm>
            <a:off x="1498610" y="4114526"/>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General ideas, meals, sports, names and more.</a:t>
            </a:r>
            <a:endParaRPr lang="en-US" sz="1600" dirty="0"/>
          </a:p>
        </p:txBody>
      </p:sp>
      <p:sp>
        <p:nvSpPr>
          <p:cNvPr id="19" name="Text 17"/>
          <p:cNvSpPr txBox="1"/>
          <p:nvPr/>
        </p:nvSpPr>
        <p:spPr>
          <a:xfrm>
            <a:off x="6248370" y="3774186"/>
            <a:ext cx="556230"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mbria" pitchFamily="34" charset="0"/>
                <a:ea typeface="Cambria" pitchFamily="34" charset="-122"/>
                <a:cs typeface="Cambria" pitchFamily="34" charset="-120"/>
              </a:rPr>
              <a:t>06</a:t>
            </a:r>
            <a:endParaRPr lang="en-US" sz="2000" dirty="0"/>
          </a:p>
        </p:txBody>
      </p:sp>
      <p:sp>
        <p:nvSpPr>
          <p:cNvPr id="20" name="Text 18"/>
          <p:cNvSpPr txBox="1"/>
          <p:nvPr/>
        </p:nvSpPr>
        <p:spPr>
          <a:xfrm>
            <a:off x="6934170" y="3774186"/>
            <a:ext cx="4572000" cy="304770"/>
          </a:xfrm>
          <a:prstGeom prst="rect">
            <a:avLst/>
          </a:prstGeom>
          <a:noFill/>
          <a:ln/>
        </p:spPr>
        <p:txBody>
          <a:bodyPr wrap="square" lIns="0" tIns="0" rIns="0" bIns="0" rtlCol="0" anchor="t"/>
          <a:lstStyle/>
          <a:p>
            <a:pPr algn="l" indent="0" marL="0">
              <a:lnSpc>
                <a:spcPts val="2400"/>
              </a:lnSpc>
              <a:buNone/>
            </a:pPr>
            <a:r>
              <a:rPr lang="en-US" sz="2000" b="1" dirty="0">
                <a:solidFill>
                  <a:srgbClr val="15233F"/>
                </a:solidFill>
                <a:latin typeface="Calibri" pitchFamily="34" charset="0"/>
                <a:ea typeface="Calibri" pitchFamily="34" charset="-122"/>
                <a:cs typeface="Calibri" pitchFamily="34" charset="-120"/>
              </a:rPr>
              <a:t>Putting it together</a:t>
            </a:r>
            <a:endParaRPr lang="en-US" sz="2000" dirty="0"/>
          </a:p>
        </p:txBody>
      </p:sp>
      <p:sp>
        <p:nvSpPr>
          <p:cNvPr id="21" name="Text 19"/>
          <p:cNvSpPr txBox="1"/>
          <p:nvPr/>
        </p:nvSpPr>
        <p:spPr>
          <a:xfrm>
            <a:off x="6934170" y="4114526"/>
            <a:ext cx="4572000" cy="289499"/>
          </a:xfrm>
          <a:prstGeom prst="rect">
            <a:avLst/>
          </a:prstGeom>
          <a:noFill/>
          <a:ln/>
        </p:spPr>
        <p:txBody>
          <a:bodyPr wrap="square" lIns="0" tIns="0" rIns="0" bIns="0" rtlCol="0" anchor="t"/>
          <a:lstStyle/>
          <a:p>
            <a:pPr algn="l" indent="0" marL="0">
              <a:lnSpc>
                <a:spcPts val="2160"/>
              </a:lnSpc>
              <a:buNone/>
            </a:pPr>
            <a:r>
              <a:rPr lang="en-US" sz="1600" dirty="0">
                <a:solidFill>
                  <a:srgbClr val="3F4A5C"/>
                </a:solidFill>
                <a:latin typeface="Calibri" pitchFamily="34" charset="0"/>
                <a:ea typeface="Calibri" pitchFamily="34" charset="-122"/>
                <a:cs typeface="Calibri" pitchFamily="34" charset="-120"/>
              </a:rPr>
              <a:t>One simple chart, common mistakes and practice.</a:t>
            </a:r>
            <a:endParaRPr lang="en-US" sz="1600" dirty="0"/>
          </a:p>
        </p:txBody>
      </p:sp>
      <p:sp>
        <p:nvSpPr>
          <p:cNvPr id="22" name="Text 20"/>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3" name="Text 21"/>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01 · THE BASICS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What is an article?</a:t>
            </a:r>
            <a:endParaRPr lang="en-US" sz="3200" dirty="0"/>
          </a:p>
        </p:txBody>
      </p:sp>
      <p:sp>
        <p:nvSpPr>
          <p:cNvPr id="4" name="Text 2"/>
          <p:cNvSpPr txBox="1"/>
          <p:nvPr/>
        </p:nvSpPr>
        <p:spPr>
          <a:xfrm>
            <a:off x="812810" y="1777868"/>
            <a:ext cx="10815798" cy="736641"/>
          </a:xfrm>
          <a:prstGeom prst="rect">
            <a:avLst/>
          </a:prstGeom>
          <a:noFill/>
          <a:ln/>
        </p:spPr>
        <p:txBody>
          <a:bodyPr wrap="square" lIns="0" tIns="0" rIns="0" bIns="0" rtlCol="0" anchor="t"/>
          <a:lstStyle/>
          <a:p>
            <a:pPr algn="l" indent="0" marL="0">
              <a:lnSpc>
                <a:spcPts val="2800"/>
              </a:lnSpc>
              <a:buNone/>
            </a:pPr>
            <a:r>
              <a:rPr lang="en-US" sz="2000" dirty="0">
                <a:solidFill>
                  <a:srgbClr val="3F4A5C"/>
                </a:solidFill>
                <a:latin typeface="Calibri" pitchFamily="34" charset="0"/>
                <a:ea typeface="Calibri" pitchFamily="34" charset="-122"/>
                <a:cs typeface="Calibri" pitchFamily="34" charset="-120"/>
              </a:rPr>
              <a:t>An article is a small word that comes </a:t>
            </a:r>
            <a:pPr algn="l" indent="0" marL="0">
              <a:lnSpc>
                <a:spcPts val="2800"/>
              </a:lnSpc>
              <a:buNone/>
            </a:pPr>
            <a:r>
              <a:rPr lang="en-US" sz="2000" b="1" dirty="0">
                <a:solidFill>
                  <a:srgbClr val="3F4A5C"/>
                </a:solidFill>
                <a:latin typeface="Calibri" pitchFamily="34" charset="0"/>
                <a:ea typeface="Calibri" pitchFamily="34" charset="-122"/>
                <a:cs typeface="Calibri" pitchFamily="34" charset="-120"/>
              </a:rPr>
              <a:t>before a noun</a:t>
            </a:r>
            <a:pPr algn="l" indent="0" marL="0">
              <a:lnSpc>
                <a:spcPts val="2800"/>
              </a:lnSpc>
              <a:buNone/>
            </a:pPr>
            <a:r>
              <a:rPr lang="en-US" sz="2000" dirty="0">
                <a:solidFill>
                  <a:srgbClr val="3F4A5C"/>
                </a:solidFill>
                <a:latin typeface="Calibri" pitchFamily="34" charset="0"/>
                <a:ea typeface="Calibri" pitchFamily="34" charset="-122"/>
                <a:cs typeface="Calibri" pitchFamily="34" charset="-120"/>
              </a:rPr>
              <a:t>. It tells the listener: do you mean </a:t>
            </a:r>
            <a:pPr algn="l" indent="0" marL="0">
              <a:lnSpc>
                <a:spcPts val="2800"/>
              </a:lnSpc>
              <a:buNone/>
            </a:pPr>
            <a:r>
              <a:rPr lang="en-US" sz="2000" b="1" dirty="0">
                <a:solidFill>
                  <a:srgbClr val="3F4A5C"/>
                </a:solidFill>
                <a:latin typeface="Calibri" pitchFamily="34" charset="0"/>
                <a:ea typeface="Calibri" pitchFamily="34" charset="-122"/>
                <a:cs typeface="Calibri" pitchFamily="34" charset="-120"/>
              </a:rPr>
              <a:t>any one</a:t>
            </a:r>
            <a:pPr algn="l" indent="0" marL="0">
              <a:lnSpc>
                <a:spcPts val="2800"/>
              </a:lnSpc>
              <a:buNone/>
            </a:pPr>
            <a:r>
              <a:rPr lang="en-US" sz="2000" dirty="0">
                <a:solidFill>
                  <a:srgbClr val="3F4A5C"/>
                </a:solidFill>
                <a:latin typeface="Calibri" pitchFamily="34" charset="0"/>
                <a:ea typeface="Calibri" pitchFamily="34" charset="-122"/>
                <a:cs typeface="Calibri" pitchFamily="34" charset="-120"/>
              </a:rPr>
              <a:t> thing, or </a:t>
            </a:r>
            <a:pPr algn="l" indent="0" marL="0">
              <a:lnSpc>
                <a:spcPts val="2800"/>
              </a:lnSpc>
              <a:buNone/>
            </a:pPr>
            <a:r>
              <a:rPr lang="en-US" sz="2000" b="1" dirty="0">
                <a:solidFill>
                  <a:srgbClr val="3F4A5C"/>
                </a:solidFill>
                <a:latin typeface="Calibri" pitchFamily="34" charset="0"/>
                <a:ea typeface="Calibri" pitchFamily="34" charset="-122"/>
                <a:cs typeface="Calibri" pitchFamily="34" charset="-120"/>
              </a:rPr>
              <a:t>one specific</a:t>
            </a:r>
            <a:pPr algn="l" indent="0" marL="0">
              <a:lnSpc>
                <a:spcPts val="2800"/>
              </a:lnSpc>
              <a:buNone/>
            </a:pPr>
            <a:r>
              <a:rPr lang="en-US" sz="2000" dirty="0">
                <a:solidFill>
                  <a:srgbClr val="3F4A5C"/>
                </a:solidFill>
                <a:latin typeface="Calibri" pitchFamily="34" charset="0"/>
                <a:ea typeface="Calibri" pitchFamily="34" charset="-122"/>
                <a:cs typeface="Calibri" pitchFamily="34" charset="-120"/>
              </a:rPr>
              <a:t> thing?</a:t>
            </a:r>
            <a:endParaRPr lang="en-US" sz="2000" dirty="0"/>
          </a:p>
        </p:txBody>
      </p:sp>
      <p:sp>
        <p:nvSpPr>
          <p:cNvPr id="5" name="Shape 3"/>
          <p:cNvSpPr/>
          <p:nvPr/>
        </p:nvSpPr>
        <p:spPr>
          <a:xfrm>
            <a:off x="812810" y="2768529"/>
            <a:ext cx="2489180" cy="2168865"/>
          </a:xfrm>
          <a:prstGeom prst="roundRect">
            <a:avLst>
              <a:gd name="adj" fmla="val 4684"/>
            </a:avLst>
          </a:prstGeom>
          <a:solidFill>
            <a:srgbClr val="E4EBFA"/>
          </a:solidFill>
          <a:ln/>
        </p:spPr>
      </p:sp>
      <p:sp>
        <p:nvSpPr>
          <p:cNvPr id="6" name="Text 4"/>
          <p:cNvSpPr txBox="1"/>
          <p:nvPr/>
        </p:nvSpPr>
        <p:spPr>
          <a:xfrm>
            <a:off x="1041410" y="2981858"/>
            <a:ext cx="21107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A5BC4"/>
                </a:solidFill>
                <a:latin typeface="Calibri" pitchFamily="34" charset="0"/>
                <a:ea typeface="Calibri" pitchFamily="34" charset="-122"/>
                <a:cs typeface="Calibri" pitchFamily="34" charset="-120"/>
              </a:rPr>
              <a:t>INDEFINITE</a:t>
            </a:r>
            <a:endParaRPr lang="en-US" sz="1200" dirty="0"/>
          </a:p>
        </p:txBody>
      </p:sp>
      <p:sp>
        <p:nvSpPr>
          <p:cNvPr id="7" name="Text 5"/>
          <p:cNvSpPr txBox="1"/>
          <p:nvPr/>
        </p:nvSpPr>
        <p:spPr>
          <a:xfrm>
            <a:off x="1041410" y="3286628"/>
            <a:ext cx="2110710"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a:t>
            </a:r>
            <a:endParaRPr lang="en-US" sz="3200" dirty="0"/>
          </a:p>
        </p:txBody>
      </p:sp>
      <p:sp>
        <p:nvSpPr>
          <p:cNvPr id="8" name="Text 6"/>
          <p:cNvSpPr txBox="1"/>
          <p:nvPr/>
        </p:nvSpPr>
        <p:spPr>
          <a:xfrm>
            <a:off x="1041410" y="3794577"/>
            <a:ext cx="2110710" cy="563728"/>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any one thing, not a specific one</a:t>
            </a:r>
            <a:endParaRPr lang="en-US" sz="1600" dirty="0"/>
          </a:p>
        </p:txBody>
      </p:sp>
      <p:sp>
        <p:nvSpPr>
          <p:cNvPr id="9" name="Text 7"/>
          <p:cNvSpPr txBox="1"/>
          <p:nvPr/>
        </p:nvSpPr>
        <p:spPr>
          <a:xfrm>
            <a:off x="1041410" y="4419204"/>
            <a:ext cx="2110710"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a cat · a book</a:t>
            </a:r>
            <a:endParaRPr lang="en-US" sz="1600" dirty="0"/>
          </a:p>
        </p:txBody>
      </p:sp>
      <p:sp>
        <p:nvSpPr>
          <p:cNvPr id="10" name="Shape 8"/>
          <p:cNvSpPr/>
          <p:nvPr/>
        </p:nvSpPr>
        <p:spPr>
          <a:xfrm>
            <a:off x="3505170" y="2768529"/>
            <a:ext cx="2489180" cy="2168865"/>
          </a:xfrm>
          <a:prstGeom prst="roundRect">
            <a:avLst>
              <a:gd name="adj" fmla="val 4684"/>
            </a:avLst>
          </a:prstGeom>
          <a:solidFill>
            <a:srgbClr val="E4EBFA"/>
          </a:solidFill>
          <a:ln/>
        </p:spPr>
      </p:sp>
      <p:sp>
        <p:nvSpPr>
          <p:cNvPr id="11" name="Text 9"/>
          <p:cNvSpPr txBox="1"/>
          <p:nvPr/>
        </p:nvSpPr>
        <p:spPr>
          <a:xfrm>
            <a:off x="3733770" y="2981858"/>
            <a:ext cx="21107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A5BC4"/>
                </a:solidFill>
                <a:latin typeface="Calibri" pitchFamily="34" charset="0"/>
                <a:ea typeface="Calibri" pitchFamily="34" charset="-122"/>
                <a:cs typeface="Calibri" pitchFamily="34" charset="-120"/>
              </a:rPr>
              <a:t>INDEFINITE</a:t>
            </a:r>
            <a:endParaRPr lang="en-US" sz="1200" dirty="0"/>
          </a:p>
        </p:txBody>
      </p:sp>
      <p:sp>
        <p:nvSpPr>
          <p:cNvPr id="12" name="Text 10"/>
          <p:cNvSpPr txBox="1"/>
          <p:nvPr/>
        </p:nvSpPr>
        <p:spPr>
          <a:xfrm>
            <a:off x="3733770" y="3286628"/>
            <a:ext cx="2110710"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an</a:t>
            </a:r>
            <a:endParaRPr lang="en-US" sz="3200" dirty="0"/>
          </a:p>
        </p:txBody>
      </p:sp>
      <p:sp>
        <p:nvSpPr>
          <p:cNvPr id="13" name="Text 11"/>
          <p:cNvSpPr txBox="1"/>
          <p:nvPr/>
        </p:nvSpPr>
        <p:spPr>
          <a:xfrm>
            <a:off x="3733770" y="3794577"/>
            <a:ext cx="2110710" cy="563728"/>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the same as a, but before a vowel sound</a:t>
            </a:r>
            <a:endParaRPr lang="en-US" sz="1600" dirty="0"/>
          </a:p>
        </p:txBody>
      </p:sp>
      <p:sp>
        <p:nvSpPr>
          <p:cNvPr id="14" name="Text 12"/>
          <p:cNvSpPr txBox="1"/>
          <p:nvPr/>
        </p:nvSpPr>
        <p:spPr>
          <a:xfrm>
            <a:off x="3733770" y="4419204"/>
            <a:ext cx="2110710"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an apple · an hour</a:t>
            </a:r>
            <a:endParaRPr lang="en-US" sz="1600" dirty="0"/>
          </a:p>
        </p:txBody>
      </p:sp>
      <p:sp>
        <p:nvSpPr>
          <p:cNvPr id="15" name="Shape 13"/>
          <p:cNvSpPr/>
          <p:nvPr/>
        </p:nvSpPr>
        <p:spPr>
          <a:xfrm>
            <a:off x="6197620" y="2768529"/>
            <a:ext cx="2489180" cy="2168865"/>
          </a:xfrm>
          <a:prstGeom prst="roundRect">
            <a:avLst>
              <a:gd name="adj" fmla="val 4684"/>
            </a:avLst>
          </a:prstGeom>
          <a:solidFill>
            <a:srgbClr val="FBE8DA"/>
          </a:solidFill>
          <a:ln/>
        </p:spPr>
      </p:sp>
      <p:sp>
        <p:nvSpPr>
          <p:cNvPr id="16" name="Text 14"/>
          <p:cNvSpPr txBox="1"/>
          <p:nvPr/>
        </p:nvSpPr>
        <p:spPr>
          <a:xfrm>
            <a:off x="6426220" y="2981858"/>
            <a:ext cx="21107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A2470F"/>
                </a:solidFill>
                <a:latin typeface="Calibri" pitchFamily="34" charset="0"/>
                <a:ea typeface="Calibri" pitchFamily="34" charset="-122"/>
                <a:cs typeface="Calibri" pitchFamily="34" charset="-120"/>
              </a:rPr>
              <a:t>DEFINITE</a:t>
            </a:r>
            <a:endParaRPr lang="en-US" sz="1200" dirty="0"/>
          </a:p>
        </p:txBody>
      </p:sp>
      <p:sp>
        <p:nvSpPr>
          <p:cNvPr id="17" name="Text 15"/>
          <p:cNvSpPr txBox="1"/>
          <p:nvPr/>
        </p:nvSpPr>
        <p:spPr>
          <a:xfrm>
            <a:off x="6426220" y="3286628"/>
            <a:ext cx="2110710" cy="446959"/>
          </a:xfrm>
          <a:prstGeom prst="rect">
            <a:avLst/>
          </a:prstGeom>
          <a:noFill/>
          <a:ln/>
        </p:spPr>
        <p:txBody>
          <a:bodyPr wrap="square" lIns="0" tIns="0" rIns="0" bIns="0" rtlCol="0" anchor="t"/>
          <a:lstStyle/>
          <a:p>
            <a:pPr algn="l" indent="0" marL="0">
              <a:lnSpc>
                <a:spcPts val="3520"/>
              </a:lnSpc>
              <a:buNone/>
            </a:pPr>
            <a:r>
              <a:rPr lang="en-US" sz="3200" b="1" dirty="0">
                <a:solidFill>
                  <a:srgbClr val="A2470F"/>
                </a:solidFill>
                <a:latin typeface="Cambria" pitchFamily="34" charset="0"/>
                <a:ea typeface="Cambria" pitchFamily="34" charset="-122"/>
                <a:cs typeface="Cambria" pitchFamily="34" charset="-120"/>
              </a:rPr>
              <a:t>the</a:t>
            </a:r>
            <a:endParaRPr lang="en-US" sz="3200" dirty="0"/>
          </a:p>
        </p:txBody>
      </p:sp>
      <p:sp>
        <p:nvSpPr>
          <p:cNvPr id="18" name="Text 16"/>
          <p:cNvSpPr txBox="1"/>
          <p:nvPr/>
        </p:nvSpPr>
        <p:spPr>
          <a:xfrm>
            <a:off x="6426220" y="3794577"/>
            <a:ext cx="2110710" cy="563728"/>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 specific thing: we both know which one</a:t>
            </a:r>
            <a:endParaRPr lang="en-US" sz="1600" dirty="0"/>
          </a:p>
        </p:txBody>
      </p:sp>
      <p:sp>
        <p:nvSpPr>
          <p:cNvPr id="19" name="Text 17"/>
          <p:cNvSpPr txBox="1"/>
          <p:nvPr/>
        </p:nvSpPr>
        <p:spPr>
          <a:xfrm>
            <a:off x="6426220" y="4419204"/>
            <a:ext cx="2110710"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the cat · the sun</a:t>
            </a:r>
            <a:endParaRPr lang="en-US" sz="1600" dirty="0"/>
          </a:p>
        </p:txBody>
      </p:sp>
      <p:sp>
        <p:nvSpPr>
          <p:cNvPr id="20" name="Shape 18"/>
          <p:cNvSpPr/>
          <p:nvPr/>
        </p:nvSpPr>
        <p:spPr>
          <a:xfrm>
            <a:off x="8889980" y="2768529"/>
            <a:ext cx="2489180" cy="2168865"/>
          </a:xfrm>
          <a:prstGeom prst="roundRect">
            <a:avLst>
              <a:gd name="adj" fmla="val 4684"/>
            </a:avLst>
          </a:prstGeom>
          <a:solidFill>
            <a:srgbClr val="ECEAE6"/>
          </a:solidFill>
          <a:ln/>
        </p:spPr>
      </p:sp>
      <p:sp>
        <p:nvSpPr>
          <p:cNvPr id="21" name="Text 19"/>
          <p:cNvSpPr txBox="1"/>
          <p:nvPr/>
        </p:nvSpPr>
        <p:spPr>
          <a:xfrm>
            <a:off x="9118580" y="2981858"/>
            <a:ext cx="21107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5E6675"/>
                </a:solidFill>
                <a:latin typeface="Calibri" pitchFamily="34" charset="0"/>
                <a:ea typeface="Calibri" pitchFamily="34" charset="-122"/>
                <a:cs typeface="Calibri" pitchFamily="34" charset="-120"/>
              </a:rPr>
              <a:t>NO ARTICLE</a:t>
            </a:r>
            <a:endParaRPr lang="en-US" sz="1200" dirty="0"/>
          </a:p>
        </p:txBody>
      </p:sp>
      <p:sp>
        <p:nvSpPr>
          <p:cNvPr id="22" name="Text 20"/>
          <p:cNvSpPr txBox="1"/>
          <p:nvPr/>
        </p:nvSpPr>
        <p:spPr>
          <a:xfrm>
            <a:off x="9118580" y="3286628"/>
            <a:ext cx="2110710" cy="446959"/>
          </a:xfrm>
          <a:prstGeom prst="rect">
            <a:avLst/>
          </a:prstGeom>
          <a:noFill/>
          <a:ln/>
        </p:spPr>
        <p:txBody>
          <a:bodyPr wrap="square" lIns="0" tIns="0" rIns="0" bIns="0" rtlCol="0" anchor="t"/>
          <a:lstStyle/>
          <a:p>
            <a:pPr algn="l" indent="0" marL="0">
              <a:lnSpc>
                <a:spcPts val="3520"/>
              </a:lnSpc>
              <a:buNone/>
            </a:pPr>
            <a:r>
              <a:rPr lang="en-US" sz="3200" b="1" dirty="0">
                <a:solidFill>
                  <a:srgbClr val="5E6675"/>
                </a:solidFill>
                <a:latin typeface="Cambria" pitchFamily="34" charset="0"/>
                <a:ea typeface="Cambria" pitchFamily="34" charset="-122"/>
                <a:cs typeface="Cambria" pitchFamily="34" charset="-120"/>
              </a:rPr>
              <a:t>Ø</a:t>
            </a:r>
            <a:endParaRPr lang="en-US" sz="3200" dirty="0"/>
          </a:p>
        </p:txBody>
      </p:sp>
      <p:sp>
        <p:nvSpPr>
          <p:cNvPr id="23" name="Text 21"/>
          <p:cNvSpPr txBox="1"/>
          <p:nvPr/>
        </p:nvSpPr>
        <p:spPr>
          <a:xfrm>
            <a:off x="9118580" y="3794577"/>
            <a:ext cx="2110710" cy="563728"/>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things in general, and most names</a:t>
            </a:r>
            <a:endParaRPr lang="en-US" sz="1600" dirty="0"/>
          </a:p>
        </p:txBody>
      </p:sp>
      <p:sp>
        <p:nvSpPr>
          <p:cNvPr id="24" name="Text 22"/>
          <p:cNvSpPr txBox="1"/>
          <p:nvPr/>
        </p:nvSpPr>
        <p:spPr>
          <a:xfrm>
            <a:off x="9118580" y="4419204"/>
            <a:ext cx="2110710"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cats · music · Tashkent</a:t>
            </a:r>
            <a:endParaRPr lang="en-US" sz="1600" dirty="0"/>
          </a:p>
        </p:txBody>
      </p:sp>
      <p:sp>
        <p:nvSpPr>
          <p:cNvPr id="25" name="Text 23"/>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6" name="Text 24"/>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01 · THE BASICS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Any one, or the specific one?</a:t>
            </a:r>
            <a:endParaRPr lang="en-US" sz="3200" dirty="0"/>
          </a:p>
        </p:txBody>
      </p:sp>
      <p:sp>
        <p:nvSpPr>
          <p:cNvPr id="4" name="Shape 2"/>
          <p:cNvSpPr/>
          <p:nvPr/>
        </p:nvSpPr>
        <p:spPr>
          <a:xfrm>
            <a:off x="812810" y="1803288"/>
            <a:ext cx="5156210" cy="2811780"/>
          </a:xfrm>
          <a:prstGeom prst="roundRect">
            <a:avLst>
              <a:gd name="adj" fmla="val 4517"/>
            </a:avLst>
          </a:prstGeom>
          <a:solidFill>
            <a:srgbClr val="E4EBFA"/>
          </a:solidFill>
          <a:ln/>
        </p:spPr>
      </p:sp>
      <p:sp>
        <p:nvSpPr>
          <p:cNvPr id="5" name="Text 3"/>
          <p:cNvSpPr txBox="1"/>
          <p:nvPr/>
        </p:nvSpPr>
        <p:spPr>
          <a:xfrm>
            <a:off x="1117580" y="2108058"/>
            <a:ext cx="4675602" cy="304770"/>
          </a:xfrm>
          <a:prstGeom prst="rect">
            <a:avLst/>
          </a:prstGeom>
          <a:noFill/>
          <a:ln/>
        </p:spPr>
        <p:txBody>
          <a:bodyPr wrap="square" lIns="0" tIns="0" rIns="0" bIns="0" rtlCol="0" anchor="t"/>
          <a:lstStyle/>
          <a:p>
            <a:pPr algn="l" indent="0" marL="0">
              <a:lnSpc>
                <a:spcPts val="2400"/>
              </a:lnSpc>
              <a:buNone/>
            </a:pPr>
            <a:r>
              <a:rPr lang="en-US" sz="2000" b="1" dirty="0">
                <a:solidFill>
                  <a:srgbClr val="2A5BC4"/>
                </a:solidFill>
                <a:latin typeface="Calibri" pitchFamily="34" charset="0"/>
                <a:ea typeface="Calibri" pitchFamily="34" charset="-122"/>
                <a:cs typeface="Calibri" pitchFamily="34" charset="-120"/>
              </a:rPr>
              <a:t>A / AN = any one</a:t>
            </a:r>
            <a:endParaRPr lang="en-US" sz="2000" dirty="0"/>
          </a:p>
        </p:txBody>
      </p:sp>
      <p:pic>
        <p:nvPicPr>
          <p:cNvPr id="6" name="Image 0" descr="Illustration of pens">    </p:cNvPr>
          <p:cNvPicPr>
            <a:picLocks noChangeAspect="1"/>
          </p:cNvPicPr>
          <p:nvPr/>
        </p:nvPicPr>
        <p:blipFill>
          <a:blip r:embed="rId1"/>
          <a:stretch>
            <a:fillRect/>
          </a:stretch>
        </p:blipFill>
        <p:spPr>
          <a:xfrm>
            <a:off x="1117580" y="2565258"/>
            <a:ext cx="2158990" cy="825520"/>
          </a:xfrm>
          <a:prstGeom prst="rect">
            <a:avLst/>
          </a:prstGeom>
        </p:spPr>
      </p:pic>
      <p:sp>
        <p:nvSpPr>
          <p:cNvPr id="7" name="Text 4"/>
          <p:cNvSpPr txBox="1"/>
          <p:nvPr/>
        </p:nvSpPr>
        <p:spPr>
          <a:xfrm>
            <a:off x="1117580" y="3530498"/>
            <a:ext cx="4675602" cy="342900"/>
          </a:xfrm>
          <a:prstGeom prst="rect">
            <a:avLst/>
          </a:prstGeom>
          <a:noFill/>
          <a:ln/>
        </p:spPr>
        <p:txBody>
          <a:bodyPr wrap="square" lIns="0" tIns="0" rIns="0" bIns="0" rtlCol="0" anchor="t"/>
          <a:lstStyle/>
          <a:p>
            <a:pPr algn="l" indent="0" marL="0">
              <a:lnSpc>
                <a:spcPts val="2600"/>
              </a:lnSpc>
              <a:buNone/>
            </a:pPr>
            <a:r>
              <a:rPr lang="en-US" sz="2000" b="1" dirty="0">
                <a:solidFill>
                  <a:srgbClr val="15233F"/>
                </a:solidFill>
                <a:latin typeface="Calibri" pitchFamily="34" charset="0"/>
                <a:ea typeface="Calibri" pitchFamily="34" charset="-122"/>
                <a:cs typeface="Calibri" pitchFamily="34" charset="-120"/>
              </a:rPr>
              <a:t>“Can I borrow </a:t>
            </a:r>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b="1" dirty="0">
                <a:solidFill>
                  <a:srgbClr val="15233F"/>
                </a:solidFill>
                <a:latin typeface="Calibri" pitchFamily="34" charset="0"/>
                <a:ea typeface="Calibri" pitchFamily="34" charset="-122"/>
                <a:cs typeface="Calibri" pitchFamily="34" charset="-120"/>
              </a:rPr>
              <a:t> pen?”</a:t>
            </a:r>
            <a:endParaRPr lang="en-US" sz="2000" dirty="0"/>
          </a:p>
        </p:txBody>
      </p:sp>
      <p:sp>
        <p:nvSpPr>
          <p:cNvPr id="8" name="Text 5"/>
          <p:cNvSpPr txBox="1"/>
          <p:nvPr/>
        </p:nvSpPr>
        <p:spPr>
          <a:xfrm>
            <a:off x="1117580" y="4005438"/>
            <a:ext cx="4675602"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Any pen is fine. It doesn’t matter which one.</a:t>
            </a:r>
            <a:endParaRPr lang="en-US" sz="1600" dirty="0"/>
          </a:p>
        </p:txBody>
      </p:sp>
      <p:sp>
        <p:nvSpPr>
          <p:cNvPr id="9" name="Shape 6"/>
          <p:cNvSpPr/>
          <p:nvPr/>
        </p:nvSpPr>
        <p:spPr>
          <a:xfrm>
            <a:off x="6223041" y="1803288"/>
            <a:ext cx="5156210" cy="2811780"/>
          </a:xfrm>
          <a:prstGeom prst="roundRect">
            <a:avLst>
              <a:gd name="adj" fmla="val 4517"/>
            </a:avLst>
          </a:prstGeom>
          <a:solidFill>
            <a:srgbClr val="FBE8DA"/>
          </a:solidFill>
          <a:ln/>
        </p:spPr>
      </p:sp>
      <p:sp>
        <p:nvSpPr>
          <p:cNvPr id="10" name="Text 7"/>
          <p:cNvSpPr txBox="1"/>
          <p:nvPr/>
        </p:nvSpPr>
        <p:spPr>
          <a:xfrm>
            <a:off x="6527810" y="2108058"/>
            <a:ext cx="4675602"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libri" pitchFamily="34" charset="0"/>
                <a:ea typeface="Calibri" pitchFamily="34" charset="-122"/>
                <a:cs typeface="Calibri" pitchFamily="34" charset="-120"/>
              </a:rPr>
              <a:t>THE = the specific one</a:t>
            </a:r>
            <a:endParaRPr lang="en-US" sz="2000" dirty="0"/>
          </a:p>
        </p:txBody>
      </p:sp>
      <p:pic>
        <p:nvPicPr>
          <p:cNvPr id="11" name="Image 1" descr="Illustration of pens">    </p:cNvPr>
          <p:cNvPicPr>
            <a:picLocks noChangeAspect="1"/>
          </p:cNvPicPr>
          <p:nvPr/>
        </p:nvPicPr>
        <p:blipFill>
          <a:blip r:embed="rId2"/>
          <a:stretch>
            <a:fillRect/>
          </a:stretch>
        </p:blipFill>
        <p:spPr>
          <a:xfrm>
            <a:off x="6527810" y="2565258"/>
            <a:ext cx="2158990" cy="825520"/>
          </a:xfrm>
          <a:prstGeom prst="rect">
            <a:avLst/>
          </a:prstGeom>
        </p:spPr>
      </p:pic>
      <p:sp>
        <p:nvSpPr>
          <p:cNvPr id="12" name="Text 8"/>
          <p:cNvSpPr txBox="1"/>
          <p:nvPr/>
        </p:nvSpPr>
        <p:spPr>
          <a:xfrm>
            <a:off x="6527810" y="3530498"/>
            <a:ext cx="4675602" cy="342900"/>
          </a:xfrm>
          <a:prstGeom prst="rect">
            <a:avLst/>
          </a:prstGeom>
          <a:noFill/>
          <a:ln/>
        </p:spPr>
        <p:txBody>
          <a:bodyPr wrap="square" lIns="0" tIns="0" rIns="0" bIns="0" rtlCol="0" anchor="t"/>
          <a:lstStyle/>
          <a:p>
            <a:pPr algn="l" indent="0" marL="0">
              <a:lnSpc>
                <a:spcPts val="2600"/>
              </a:lnSpc>
              <a:buNone/>
            </a:pPr>
            <a:r>
              <a:rPr lang="en-US" sz="2000" b="1" dirty="0">
                <a:solidFill>
                  <a:srgbClr val="15233F"/>
                </a:solidFill>
                <a:latin typeface="Calibri" pitchFamily="34" charset="0"/>
                <a:ea typeface="Calibri" pitchFamily="34" charset="-122"/>
                <a:cs typeface="Calibri" pitchFamily="34" charset="-120"/>
              </a:rPr>
              <a:t>“Can I borrow </a:t>
            </a:r>
            <a:pPr algn="l" indent="0" marL="0">
              <a:lnSpc>
                <a:spcPts val="26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2600"/>
              </a:lnSpc>
              <a:buNone/>
            </a:pPr>
            <a:r>
              <a:rPr lang="en-US" sz="2000" b="1" dirty="0">
                <a:solidFill>
                  <a:srgbClr val="15233F"/>
                </a:solidFill>
                <a:latin typeface="Calibri" pitchFamily="34" charset="0"/>
                <a:ea typeface="Calibri" pitchFamily="34" charset="-122"/>
                <a:cs typeface="Calibri" pitchFamily="34" charset="-120"/>
              </a:rPr>
              <a:t> pen?”</a:t>
            </a:r>
            <a:endParaRPr lang="en-US" sz="2000" dirty="0"/>
          </a:p>
        </p:txBody>
      </p:sp>
      <p:sp>
        <p:nvSpPr>
          <p:cNvPr id="13" name="Text 9"/>
          <p:cNvSpPr txBox="1"/>
          <p:nvPr/>
        </p:nvSpPr>
        <p:spPr>
          <a:xfrm>
            <a:off x="6527810" y="4005438"/>
            <a:ext cx="4675602"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That exact pen: the one we both know about.</a:t>
            </a:r>
            <a:endParaRPr lang="en-US" sz="1600" dirty="0"/>
          </a:p>
        </p:txBody>
      </p:sp>
      <p:sp>
        <p:nvSpPr>
          <p:cNvPr id="14" name="Text 10"/>
          <p:cNvSpPr txBox="1"/>
          <p:nvPr/>
        </p:nvSpPr>
        <p:spPr>
          <a:xfrm>
            <a:off x="812810" y="4848697"/>
            <a:ext cx="10815798" cy="304770"/>
          </a:xfrm>
          <a:prstGeom prst="rect">
            <a:avLst/>
          </a:prstGeom>
          <a:noFill/>
          <a:ln/>
        </p:spPr>
        <p:txBody>
          <a:bodyPr wrap="square" lIns="0" tIns="0" rIns="0" bIns="0" rtlCol="0" anchor="t"/>
          <a:lstStyle/>
          <a:p>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Same noun, different article, different meaning.</a:t>
            </a:r>
            <a:endParaRPr lang="en-US" sz="1600" dirty="0"/>
          </a:p>
        </p:txBody>
      </p:sp>
      <p:sp>
        <p:nvSpPr>
          <p:cNvPr id="15" name="Text 11"/>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16" name="Text 12"/>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5BC4"/>
        </a:solidFill>
      </p:bgPr>
    </p:bg>
    <p:spTree>
      <p:nvGrpSpPr>
        <p:cNvPr id="1" name=""/>
        <p:cNvGrpSpPr/>
        <p:nvPr/>
      </p:nvGrpSpPr>
      <p:grpSpPr>
        <a:xfrm>
          <a:off x="0" y="0"/>
          <a:ext cx="0" cy="0"/>
          <a:chOff x="0" y="0"/>
          <a:chExt cx="0" cy="0"/>
        </a:xfrm>
      </p:grpSpPr>
      <p:sp>
        <p:nvSpPr>
          <p:cNvPr id="2" name="Text 0"/>
          <p:cNvSpPr txBox="1"/>
          <p:nvPr/>
        </p:nvSpPr>
        <p:spPr>
          <a:xfrm>
            <a:off x="812810" y="1915302"/>
            <a:ext cx="10815798" cy="228600"/>
          </a:xfrm>
          <a:prstGeom prst="rect">
            <a:avLst/>
          </a:prstGeom>
          <a:noFill/>
          <a:ln/>
        </p:spPr>
        <p:txBody>
          <a:bodyPr wrap="square" lIns="0" tIns="0" rIns="0" bIns="0" rtlCol="0" anchor="t"/>
          <a:lstStyle/>
          <a:p>
            <a:pPr algn="l" indent="0" marL="0">
              <a:lnSpc>
                <a:spcPts val="1680"/>
              </a:lnSpc>
              <a:buNone/>
            </a:pPr>
            <a:r>
              <a:rPr lang="en-US" sz="1200" b="1" spc="200" kern="0" dirty="0">
                <a:solidFill>
                  <a:srgbClr val="DCE6FB"/>
                </a:solidFill>
                <a:latin typeface="Calibri" pitchFamily="34" charset="0"/>
                <a:ea typeface="Calibri" pitchFamily="34" charset="-122"/>
                <a:cs typeface="Calibri" pitchFamily="34" charset="-120"/>
              </a:rPr>
              <a:t>02 · A OR AN?</a:t>
            </a:r>
            <a:endParaRPr lang="en-US" sz="1200" dirty="0"/>
          </a:p>
        </p:txBody>
      </p:sp>
      <p:sp>
        <p:nvSpPr>
          <p:cNvPr id="3" name="Text 1"/>
          <p:cNvSpPr txBox="1"/>
          <p:nvPr/>
        </p:nvSpPr>
        <p:spPr>
          <a:xfrm>
            <a:off x="812810" y="2397831"/>
            <a:ext cx="10815798" cy="1920057"/>
          </a:xfrm>
          <a:prstGeom prst="rect">
            <a:avLst/>
          </a:prstGeom>
          <a:noFill/>
          <a:ln/>
        </p:spPr>
        <p:txBody>
          <a:bodyPr wrap="square" lIns="0" tIns="0" rIns="0" bIns="0" rtlCol="0" anchor="t"/>
          <a:lstStyle/>
          <a:p>
            <a:pPr algn="l" indent="0" marL="0">
              <a:lnSpc>
                <a:spcPts val="7560"/>
              </a:lnSpc>
              <a:buNone/>
            </a:pPr>
            <a:r>
              <a:rPr lang="en-US" sz="7200" b="1" dirty="0">
                <a:solidFill>
                  <a:srgbClr val="F7F4EC"/>
                </a:solidFill>
                <a:latin typeface="Cambria" pitchFamily="34" charset="0"/>
                <a:ea typeface="Cambria" pitchFamily="34" charset="-122"/>
                <a:cs typeface="Cambria" pitchFamily="34" charset="-120"/>
              </a:rPr>
              <a:t>Sound,</a:t>
            </a:r>
            <a:endParaRPr lang="en-US" sz="7200" dirty="0"/>
          </a:p>
          <a:p>
            <a:pPr algn="l" indent="0" marL="0">
              <a:lnSpc>
                <a:spcPts val="7560"/>
              </a:lnSpc>
              <a:buNone/>
            </a:pPr>
            <a:r>
              <a:rPr lang="en-US" sz="7200" b="1" dirty="0">
                <a:solidFill>
                  <a:srgbClr val="F7F4EC"/>
                </a:solidFill>
                <a:latin typeface="Cambria" pitchFamily="34" charset="0"/>
                <a:ea typeface="Cambria" pitchFamily="34" charset="-122"/>
                <a:cs typeface="Cambria" pitchFamily="34" charset="-120"/>
              </a:rPr>
              <a:t>not spelling.</a:t>
            </a:r>
            <a:endParaRPr lang="en-US" sz="7200" dirty="0"/>
          </a:p>
        </p:txBody>
      </p:sp>
      <p:sp>
        <p:nvSpPr>
          <p:cNvPr id="4" name="Text 2"/>
          <p:cNvSpPr txBox="1"/>
          <p:nvPr/>
        </p:nvSpPr>
        <p:spPr>
          <a:xfrm>
            <a:off x="812810" y="4546488"/>
            <a:ext cx="8458200" cy="381030"/>
          </a:xfrm>
          <a:prstGeom prst="rect">
            <a:avLst/>
          </a:prstGeom>
          <a:noFill/>
          <a:ln/>
        </p:spPr>
        <p:txBody>
          <a:bodyPr wrap="square" lIns="0" tIns="0" rIns="0" bIns="0" rtlCol="0" anchor="t"/>
          <a:lstStyle/>
          <a:p>
            <a:pPr algn="l" indent="0" marL="0">
              <a:lnSpc>
                <a:spcPts val="2800"/>
              </a:lnSpc>
              <a:buNone/>
            </a:pPr>
            <a:r>
              <a:rPr lang="en-US" sz="2000" dirty="0">
                <a:solidFill>
                  <a:srgbClr val="EAF0FD"/>
                </a:solidFill>
                <a:latin typeface="Calibri" pitchFamily="34" charset="0"/>
                <a:ea typeface="Calibri" pitchFamily="34" charset="-122"/>
                <a:cs typeface="Calibri" pitchFamily="34" charset="-120"/>
              </a:rPr>
              <a:t>Choose </a:t>
            </a:r>
            <a:pPr algn="l" indent="0" marL="0">
              <a:lnSpc>
                <a:spcPts val="2800"/>
              </a:lnSpc>
              <a:buNone/>
            </a:pPr>
            <a:r>
              <a:rPr lang="en-US" sz="2000" b="1" dirty="0">
                <a:solidFill>
                  <a:srgbClr val="EAF0FD"/>
                </a:solidFill>
                <a:latin typeface="Calibri" pitchFamily="34" charset="0"/>
                <a:ea typeface="Calibri" pitchFamily="34" charset="-122"/>
                <a:cs typeface="Calibri" pitchFamily="34" charset="-120"/>
              </a:rPr>
              <a:t>a</a:t>
            </a:r>
            <a:pPr algn="l" indent="0" marL="0">
              <a:lnSpc>
                <a:spcPts val="2800"/>
              </a:lnSpc>
              <a:buNone/>
            </a:pPr>
            <a:r>
              <a:rPr lang="en-US" sz="2000" dirty="0">
                <a:solidFill>
                  <a:srgbClr val="EAF0FD"/>
                </a:solidFill>
                <a:latin typeface="Calibri" pitchFamily="34" charset="0"/>
                <a:ea typeface="Calibri" pitchFamily="34" charset="-122"/>
                <a:cs typeface="Calibri" pitchFamily="34" charset="-120"/>
              </a:rPr>
              <a:t> or </a:t>
            </a:r>
            <a:pPr algn="l" indent="0" marL="0">
              <a:lnSpc>
                <a:spcPts val="2800"/>
              </a:lnSpc>
              <a:buNone/>
            </a:pPr>
            <a:r>
              <a:rPr lang="en-US" sz="2000" b="1" dirty="0">
                <a:solidFill>
                  <a:srgbClr val="EAF0FD"/>
                </a:solidFill>
                <a:latin typeface="Calibri" pitchFamily="34" charset="0"/>
                <a:ea typeface="Calibri" pitchFamily="34" charset="-122"/>
                <a:cs typeface="Calibri" pitchFamily="34" charset="-120"/>
              </a:rPr>
              <a:t>an</a:t>
            </a:r>
            <a:pPr algn="l" indent="0" marL="0">
              <a:lnSpc>
                <a:spcPts val="2800"/>
              </a:lnSpc>
              <a:buNone/>
            </a:pPr>
            <a:r>
              <a:rPr lang="en-US" sz="2000" dirty="0">
                <a:solidFill>
                  <a:srgbClr val="EAF0FD"/>
                </a:solidFill>
                <a:latin typeface="Calibri" pitchFamily="34" charset="0"/>
                <a:ea typeface="Calibri" pitchFamily="34" charset="-122"/>
                <a:cs typeface="Calibri" pitchFamily="34" charset="-120"/>
              </a:rPr>
              <a:t> by the first </a:t>
            </a:r>
            <a:pPr algn="l" indent="0" marL="0">
              <a:lnSpc>
                <a:spcPts val="2800"/>
              </a:lnSpc>
              <a:buNone/>
            </a:pPr>
            <a:r>
              <a:rPr lang="en-US" sz="2000" b="1" dirty="0">
                <a:solidFill>
                  <a:srgbClr val="EAF0FD"/>
                </a:solidFill>
                <a:latin typeface="Calibri" pitchFamily="34" charset="0"/>
                <a:ea typeface="Calibri" pitchFamily="34" charset="-122"/>
                <a:cs typeface="Calibri" pitchFamily="34" charset="-120"/>
              </a:rPr>
              <a:t>sound</a:t>
            </a:r>
            <a:pPr algn="l" indent="0" marL="0">
              <a:lnSpc>
                <a:spcPts val="2800"/>
              </a:lnSpc>
              <a:buNone/>
            </a:pPr>
            <a:r>
              <a:rPr lang="en-US" sz="2000" dirty="0">
                <a:solidFill>
                  <a:srgbClr val="EAF0FD"/>
                </a:solidFill>
                <a:latin typeface="Calibri" pitchFamily="34" charset="0"/>
                <a:ea typeface="Calibri" pitchFamily="34" charset="-122"/>
                <a:cs typeface="Calibri" pitchFamily="34" charset="-120"/>
              </a:rPr>
              <a:t> of the next word, not by its first letter.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02 · A OR AN?</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The rule: listen to the first sound</a:t>
            </a:r>
            <a:endParaRPr lang="en-US" sz="3200" dirty="0"/>
          </a:p>
        </p:txBody>
      </p:sp>
      <p:sp>
        <p:nvSpPr>
          <p:cNvPr id="4" name="Shape 2"/>
          <p:cNvSpPr/>
          <p:nvPr/>
        </p:nvSpPr>
        <p:spPr>
          <a:xfrm>
            <a:off x="812810" y="1803288"/>
            <a:ext cx="5156210" cy="3068178"/>
          </a:xfrm>
          <a:prstGeom prst="roundRect">
            <a:avLst>
              <a:gd name="adj" fmla="val 4140"/>
            </a:avLst>
          </a:prstGeom>
          <a:solidFill>
            <a:srgbClr val="E4EBFA"/>
          </a:solidFill>
          <a:ln/>
        </p:spPr>
      </p:sp>
      <p:sp>
        <p:nvSpPr>
          <p:cNvPr id="5" name="Text 3"/>
          <p:cNvSpPr txBox="1"/>
          <p:nvPr/>
        </p:nvSpPr>
        <p:spPr>
          <a:xfrm>
            <a:off x="1117580" y="2108058"/>
            <a:ext cx="4675602"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a:t>
            </a:r>
            <a:endParaRPr lang="en-US" sz="3200" dirty="0"/>
          </a:p>
        </p:txBody>
      </p:sp>
      <p:sp>
        <p:nvSpPr>
          <p:cNvPr id="6" name="Text 4"/>
          <p:cNvSpPr txBox="1"/>
          <p:nvPr/>
        </p:nvSpPr>
        <p:spPr>
          <a:xfrm>
            <a:off x="1117580" y="2616007"/>
            <a:ext cx="4675602"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 a consonant sound</a:t>
            </a:r>
            <a:endParaRPr lang="en-US" sz="1600" dirty="0"/>
          </a:p>
        </p:txBody>
      </p:sp>
      <p:sp>
        <p:nvSpPr>
          <p:cNvPr id="7" name="Text 5"/>
          <p:cNvSpPr txBox="1"/>
          <p:nvPr/>
        </p:nvSpPr>
        <p:spPr>
          <a:xfrm>
            <a:off x="1117580" y="2966496"/>
            <a:ext cx="4675602"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b, c, d, f, g, h, k, l, m, n, p, r, s, t…</a:t>
            </a:r>
            <a:endParaRPr lang="en-US" sz="1200" dirty="0"/>
          </a:p>
        </p:txBody>
      </p:sp>
      <p:sp>
        <p:nvSpPr>
          <p:cNvPr id="8" name="Text 6"/>
          <p:cNvSpPr txBox="1"/>
          <p:nvPr/>
        </p:nvSpPr>
        <p:spPr>
          <a:xfrm>
            <a:off x="1117580" y="3360146"/>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book</a:t>
            </a:r>
            <a:endParaRPr lang="en-US" sz="2000" dirty="0"/>
          </a:p>
        </p:txBody>
      </p:sp>
      <p:sp>
        <p:nvSpPr>
          <p:cNvPr id="9" name="Text 7"/>
          <p:cNvSpPr txBox="1"/>
          <p:nvPr/>
        </p:nvSpPr>
        <p:spPr>
          <a:xfrm>
            <a:off x="3441710" y="3360146"/>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car</a:t>
            </a:r>
            <a:endParaRPr lang="en-US" sz="2000" dirty="0"/>
          </a:p>
        </p:txBody>
      </p:sp>
      <p:sp>
        <p:nvSpPr>
          <p:cNvPr id="10" name="Text 8"/>
          <p:cNvSpPr txBox="1"/>
          <p:nvPr/>
        </p:nvSpPr>
        <p:spPr>
          <a:xfrm>
            <a:off x="1117580" y="379192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dog</a:t>
            </a:r>
            <a:endParaRPr lang="en-US" sz="2000" dirty="0"/>
          </a:p>
        </p:txBody>
      </p:sp>
      <p:sp>
        <p:nvSpPr>
          <p:cNvPr id="11" name="Text 9"/>
          <p:cNvSpPr txBox="1"/>
          <p:nvPr/>
        </p:nvSpPr>
        <p:spPr>
          <a:xfrm>
            <a:off x="3441710" y="379192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house</a:t>
            </a:r>
            <a:endParaRPr lang="en-US" sz="2000" dirty="0"/>
          </a:p>
        </p:txBody>
      </p:sp>
      <p:sp>
        <p:nvSpPr>
          <p:cNvPr id="12" name="Text 10"/>
          <p:cNvSpPr txBox="1"/>
          <p:nvPr/>
        </p:nvSpPr>
        <p:spPr>
          <a:xfrm>
            <a:off x="1117580" y="422370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teacher</a:t>
            </a:r>
            <a:endParaRPr lang="en-US" sz="2000" dirty="0"/>
          </a:p>
        </p:txBody>
      </p:sp>
      <p:sp>
        <p:nvSpPr>
          <p:cNvPr id="13" name="Text 11"/>
          <p:cNvSpPr txBox="1"/>
          <p:nvPr/>
        </p:nvSpPr>
        <p:spPr>
          <a:xfrm>
            <a:off x="3441710" y="422370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red apple</a:t>
            </a:r>
            <a:endParaRPr lang="en-US" sz="2000" dirty="0"/>
          </a:p>
        </p:txBody>
      </p:sp>
      <p:sp>
        <p:nvSpPr>
          <p:cNvPr id="14" name="Shape 12"/>
          <p:cNvSpPr/>
          <p:nvPr/>
        </p:nvSpPr>
        <p:spPr>
          <a:xfrm>
            <a:off x="6223041" y="1803288"/>
            <a:ext cx="5156210" cy="3068178"/>
          </a:xfrm>
          <a:prstGeom prst="roundRect">
            <a:avLst>
              <a:gd name="adj" fmla="val 4140"/>
            </a:avLst>
          </a:prstGeom>
          <a:solidFill>
            <a:srgbClr val="E4EBFA"/>
          </a:solidFill>
          <a:ln/>
        </p:spPr>
      </p:sp>
      <p:sp>
        <p:nvSpPr>
          <p:cNvPr id="15" name="Text 13"/>
          <p:cNvSpPr txBox="1"/>
          <p:nvPr/>
        </p:nvSpPr>
        <p:spPr>
          <a:xfrm>
            <a:off x="6527810" y="2108058"/>
            <a:ext cx="4675602"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an</a:t>
            </a:r>
            <a:endParaRPr lang="en-US" sz="3200" dirty="0"/>
          </a:p>
        </p:txBody>
      </p:sp>
      <p:sp>
        <p:nvSpPr>
          <p:cNvPr id="16" name="Text 14"/>
          <p:cNvSpPr txBox="1"/>
          <p:nvPr/>
        </p:nvSpPr>
        <p:spPr>
          <a:xfrm>
            <a:off x="6527810" y="2616007"/>
            <a:ext cx="4675602" cy="289499"/>
          </a:xfrm>
          <a:prstGeom prst="rect">
            <a:avLst/>
          </a:prstGeom>
          <a:noFill/>
          <a:ln/>
        </p:spPr>
        <p:txBody>
          <a:bodyPr wrap="square" lIns="0" tIns="0" rIns="0" bIns="0" rtlCol="0" anchor="t"/>
          <a:lstStyle/>
          <a:p>
            <a:pPr algn="l" indent="0" marL="0">
              <a:lnSpc>
                <a:spcPts val="2160"/>
              </a:lnSpc>
              <a:buNone/>
            </a:pPr>
            <a:r>
              <a:rPr lang="en-US" sz="1600" b="1" dirty="0">
                <a:solidFill>
                  <a:srgbClr val="15233F"/>
                </a:solidFill>
                <a:latin typeface="Calibri" pitchFamily="34" charset="0"/>
                <a:ea typeface="Calibri" pitchFamily="34" charset="-122"/>
                <a:cs typeface="Calibri" pitchFamily="34" charset="-120"/>
              </a:rPr>
              <a:t>+ a vowel sound</a:t>
            </a:r>
            <a:endParaRPr lang="en-US" sz="1600" dirty="0"/>
          </a:p>
        </p:txBody>
      </p:sp>
      <p:sp>
        <p:nvSpPr>
          <p:cNvPr id="17" name="Text 15"/>
          <p:cNvSpPr txBox="1"/>
          <p:nvPr/>
        </p:nvSpPr>
        <p:spPr>
          <a:xfrm>
            <a:off x="6527810" y="2966496"/>
            <a:ext cx="4675602"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the sounds of a, e, i, o, u</a:t>
            </a:r>
            <a:endParaRPr lang="en-US" sz="1200" dirty="0"/>
          </a:p>
        </p:txBody>
      </p:sp>
      <p:sp>
        <p:nvSpPr>
          <p:cNvPr id="18" name="Text 16"/>
          <p:cNvSpPr txBox="1"/>
          <p:nvPr/>
        </p:nvSpPr>
        <p:spPr>
          <a:xfrm>
            <a:off x="6527810" y="3360146"/>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apple</a:t>
            </a:r>
            <a:endParaRPr lang="en-US" sz="2000" dirty="0"/>
          </a:p>
        </p:txBody>
      </p:sp>
      <p:sp>
        <p:nvSpPr>
          <p:cNvPr id="19" name="Text 17"/>
          <p:cNvSpPr txBox="1"/>
          <p:nvPr/>
        </p:nvSpPr>
        <p:spPr>
          <a:xfrm>
            <a:off x="8851941" y="3360146"/>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egg</a:t>
            </a:r>
            <a:endParaRPr lang="en-US" sz="2000" dirty="0"/>
          </a:p>
        </p:txBody>
      </p:sp>
      <p:sp>
        <p:nvSpPr>
          <p:cNvPr id="20" name="Text 18"/>
          <p:cNvSpPr txBox="1"/>
          <p:nvPr/>
        </p:nvSpPr>
        <p:spPr>
          <a:xfrm>
            <a:off x="6527810" y="379192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idea</a:t>
            </a:r>
            <a:endParaRPr lang="en-US" sz="2000" dirty="0"/>
          </a:p>
        </p:txBody>
      </p:sp>
      <p:sp>
        <p:nvSpPr>
          <p:cNvPr id="21" name="Text 19"/>
          <p:cNvSpPr txBox="1"/>
          <p:nvPr/>
        </p:nvSpPr>
        <p:spPr>
          <a:xfrm>
            <a:off x="8851941" y="379192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orange</a:t>
            </a:r>
            <a:endParaRPr lang="en-US" sz="2000" dirty="0"/>
          </a:p>
        </p:txBody>
      </p:sp>
      <p:sp>
        <p:nvSpPr>
          <p:cNvPr id="22" name="Text 20"/>
          <p:cNvSpPr txBox="1"/>
          <p:nvPr/>
        </p:nvSpPr>
        <p:spPr>
          <a:xfrm>
            <a:off x="6527810" y="422370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umbrella</a:t>
            </a:r>
            <a:endParaRPr lang="en-US" sz="2000" dirty="0"/>
          </a:p>
        </p:txBody>
      </p:sp>
      <p:sp>
        <p:nvSpPr>
          <p:cNvPr id="23" name="Text 21"/>
          <p:cNvSpPr txBox="1"/>
          <p:nvPr/>
        </p:nvSpPr>
        <p:spPr>
          <a:xfrm>
            <a:off x="8851941" y="4223705"/>
            <a:ext cx="2305020"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old car</a:t>
            </a:r>
            <a:endParaRPr lang="en-US" sz="2000" dirty="0"/>
          </a:p>
        </p:txBody>
      </p:sp>
      <p:sp>
        <p:nvSpPr>
          <p:cNvPr id="24" name="Shape 22"/>
          <p:cNvSpPr/>
          <p:nvPr/>
        </p:nvSpPr>
        <p:spPr>
          <a:xfrm>
            <a:off x="812810" y="5125486"/>
            <a:ext cx="10566441" cy="563819"/>
          </a:xfrm>
          <a:prstGeom prst="roundRect">
            <a:avLst>
              <a:gd name="adj" fmla="val 18018"/>
            </a:avLst>
          </a:prstGeom>
          <a:solidFill>
            <a:srgbClr val="FFFDF9"/>
          </a:solidFill>
          <a:ln w="12700">
            <a:solidFill>
              <a:srgbClr val="E6DFD0"/>
            </a:solidFill>
            <a:prstDash val="solid"/>
          </a:ln>
        </p:spPr>
      </p:sp>
      <p:sp>
        <p:nvSpPr>
          <p:cNvPr id="25" name="Text 23"/>
          <p:cNvSpPr txBox="1"/>
          <p:nvPr/>
        </p:nvSpPr>
        <p:spPr>
          <a:xfrm>
            <a:off x="1028700" y="5244816"/>
            <a:ext cx="10375422" cy="304770"/>
          </a:xfrm>
          <a:prstGeom prst="rect">
            <a:avLst/>
          </a:prstGeom>
          <a:noFill/>
          <a:ln/>
        </p:spPr>
        <p:txBody>
          <a:bodyPr wrap="square" lIns="0" tIns="0" rIns="0" bIns="0" rtlCol="0" anchor="t"/>
          <a:lstStyle/>
          <a:p>
            <a:pPr algn="l" indent="0" marL="0">
              <a:lnSpc>
                <a:spcPts val="2240"/>
              </a:lnSpc>
              <a:buNone/>
            </a:pPr>
            <a:r>
              <a:rPr lang="en-US" sz="1600" b="1" dirty="0">
                <a:solidFill>
                  <a:srgbClr val="3F4A5C"/>
                </a:solidFill>
                <a:latin typeface="Calibri" pitchFamily="34" charset="0"/>
                <a:ea typeface="Calibri" pitchFamily="34" charset="-122"/>
                <a:cs typeface="Calibri" pitchFamily="34" charset="-120"/>
              </a:rPr>
              <a:t>Tip:</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the article looks only at the very next word.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apple →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red apple ·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car →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old car</a:t>
            </a:r>
            <a:endParaRPr lang="en-US" sz="1600" dirty="0"/>
          </a:p>
        </p:txBody>
      </p:sp>
      <p:sp>
        <p:nvSpPr>
          <p:cNvPr id="26" name="Text 2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7" name="Text 2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02 · A OR AN?</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Tricky words: the letter can fool you</a:t>
            </a:r>
            <a:endParaRPr lang="en-US" sz="3200" dirty="0"/>
          </a:p>
        </p:txBody>
      </p:sp>
      <p:sp>
        <p:nvSpPr>
          <p:cNvPr id="4" name="Shape 2"/>
          <p:cNvSpPr/>
          <p:nvPr/>
        </p:nvSpPr>
        <p:spPr>
          <a:xfrm>
            <a:off x="812810" y="1803288"/>
            <a:ext cx="5156210" cy="3042849"/>
          </a:xfrm>
          <a:prstGeom prst="roundRect">
            <a:avLst>
              <a:gd name="adj" fmla="val 4174"/>
            </a:avLst>
          </a:prstGeom>
          <a:solidFill>
            <a:srgbClr val="FFFDF9"/>
          </a:solidFill>
          <a:ln w="12700">
            <a:solidFill>
              <a:srgbClr val="E6DFD0"/>
            </a:solidFill>
            <a:prstDash val="solid"/>
          </a:ln>
        </p:spPr>
      </p:sp>
      <p:sp>
        <p:nvSpPr>
          <p:cNvPr id="5" name="Text 3"/>
          <p:cNvSpPr txBox="1"/>
          <p:nvPr/>
        </p:nvSpPr>
        <p:spPr>
          <a:xfrm>
            <a:off x="1079541" y="2054748"/>
            <a:ext cx="4753326"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A5BC4"/>
                </a:solidFill>
                <a:latin typeface="Calibri" pitchFamily="34" charset="0"/>
                <a:ea typeface="Calibri" pitchFamily="34" charset="-122"/>
                <a:cs typeface="Calibri" pitchFamily="34" charset="-120"/>
              </a:rPr>
              <a:t>USE A</a:t>
            </a:r>
            <a:endParaRPr lang="en-US" sz="1200" dirty="0"/>
          </a:p>
        </p:txBody>
      </p:sp>
      <p:sp>
        <p:nvSpPr>
          <p:cNvPr id="6" name="Text 4"/>
          <p:cNvSpPr txBox="1"/>
          <p:nvPr/>
        </p:nvSpPr>
        <p:spPr>
          <a:xfrm>
            <a:off x="1079541" y="2400117"/>
            <a:ext cx="4753326" cy="274320"/>
          </a:xfrm>
          <a:prstGeom prst="rect">
            <a:avLst/>
          </a:prstGeom>
          <a:noFill/>
          <a:ln/>
        </p:spPr>
        <p:txBody>
          <a:bodyPr wrap="square" lIns="0" tIns="0" rIns="0" bIns="0" rtlCol="0" anchor="t"/>
          <a:lstStyle/>
          <a:p>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Vowel letter, but a consonant sound</a:t>
            </a:r>
            <a:endParaRPr lang="en-US" sz="1600" dirty="0"/>
          </a:p>
        </p:txBody>
      </p:sp>
      <p:sp>
        <p:nvSpPr>
          <p:cNvPr id="7" name="Text 5"/>
          <p:cNvSpPr txBox="1"/>
          <p:nvPr/>
        </p:nvSpPr>
        <p:spPr>
          <a:xfrm>
            <a:off x="1079541" y="2864907"/>
            <a:ext cx="1250442"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university</a:t>
            </a:r>
            <a:endParaRPr lang="en-US" sz="2000" dirty="0"/>
          </a:p>
        </p:txBody>
      </p:sp>
      <p:sp>
        <p:nvSpPr>
          <p:cNvPr id="8" name="Text 6"/>
          <p:cNvSpPr txBox="1"/>
          <p:nvPr/>
        </p:nvSpPr>
        <p:spPr>
          <a:xfrm>
            <a:off x="4675876" y="2901757"/>
            <a:ext cx="1085027"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“you” sound</a:t>
            </a:r>
            <a:endParaRPr lang="en-US" sz="1600" dirty="0"/>
          </a:p>
        </p:txBody>
      </p:sp>
      <p:sp>
        <p:nvSpPr>
          <p:cNvPr id="9" name="Text 7"/>
          <p:cNvSpPr txBox="1"/>
          <p:nvPr/>
        </p:nvSpPr>
        <p:spPr>
          <a:xfrm>
            <a:off x="1079541" y="3322107"/>
            <a:ext cx="1235263"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European</a:t>
            </a:r>
            <a:endParaRPr lang="en-US" sz="2000" dirty="0"/>
          </a:p>
        </p:txBody>
      </p:sp>
      <p:sp>
        <p:nvSpPr>
          <p:cNvPr id="10" name="Text 8"/>
          <p:cNvSpPr txBox="1"/>
          <p:nvPr/>
        </p:nvSpPr>
        <p:spPr>
          <a:xfrm>
            <a:off x="4675876" y="3358957"/>
            <a:ext cx="1085027"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“you” sound</a:t>
            </a:r>
            <a:endParaRPr lang="en-US" sz="1600" dirty="0"/>
          </a:p>
        </p:txBody>
      </p:sp>
      <p:sp>
        <p:nvSpPr>
          <p:cNvPr id="11" name="Text 9"/>
          <p:cNvSpPr txBox="1"/>
          <p:nvPr/>
        </p:nvSpPr>
        <p:spPr>
          <a:xfrm>
            <a:off x="1079541" y="3779307"/>
            <a:ext cx="1063904"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uniform</a:t>
            </a:r>
            <a:endParaRPr lang="en-US" sz="2000" dirty="0"/>
          </a:p>
        </p:txBody>
      </p:sp>
      <p:sp>
        <p:nvSpPr>
          <p:cNvPr id="12" name="Text 10"/>
          <p:cNvSpPr txBox="1"/>
          <p:nvPr/>
        </p:nvSpPr>
        <p:spPr>
          <a:xfrm>
            <a:off x="4675876" y="3816157"/>
            <a:ext cx="1085027"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“you” sound</a:t>
            </a:r>
            <a:endParaRPr lang="en-US" sz="1600" dirty="0"/>
          </a:p>
        </p:txBody>
      </p:sp>
      <p:sp>
        <p:nvSpPr>
          <p:cNvPr id="13" name="Text 11"/>
          <p:cNvSpPr txBox="1"/>
          <p:nvPr/>
        </p:nvSpPr>
        <p:spPr>
          <a:xfrm>
            <a:off x="1079541" y="4236507"/>
            <a:ext cx="1509492"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one-day trip</a:t>
            </a:r>
            <a:endParaRPr lang="en-US" sz="2000" dirty="0"/>
          </a:p>
        </p:txBody>
      </p:sp>
      <p:sp>
        <p:nvSpPr>
          <p:cNvPr id="14" name="Text 12"/>
          <p:cNvSpPr txBox="1"/>
          <p:nvPr/>
        </p:nvSpPr>
        <p:spPr>
          <a:xfrm>
            <a:off x="4828215" y="4273357"/>
            <a:ext cx="929670"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“w” sound</a:t>
            </a:r>
            <a:endParaRPr lang="en-US" sz="1600" dirty="0"/>
          </a:p>
        </p:txBody>
      </p:sp>
      <p:sp>
        <p:nvSpPr>
          <p:cNvPr id="15" name="Shape 13"/>
          <p:cNvSpPr/>
          <p:nvPr/>
        </p:nvSpPr>
        <p:spPr>
          <a:xfrm>
            <a:off x="6223041" y="1803288"/>
            <a:ext cx="5156210" cy="3042849"/>
          </a:xfrm>
          <a:prstGeom prst="roundRect">
            <a:avLst>
              <a:gd name="adj" fmla="val 4174"/>
            </a:avLst>
          </a:prstGeom>
          <a:solidFill>
            <a:srgbClr val="FFFDF9"/>
          </a:solidFill>
          <a:ln w="12700">
            <a:solidFill>
              <a:srgbClr val="E6DFD0"/>
            </a:solidFill>
            <a:prstDash val="solid"/>
          </a:ln>
        </p:spPr>
      </p:sp>
      <p:sp>
        <p:nvSpPr>
          <p:cNvPr id="16" name="Text 14"/>
          <p:cNvSpPr txBox="1"/>
          <p:nvPr/>
        </p:nvSpPr>
        <p:spPr>
          <a:xfrm>
            <a:off x="6489680" y="2054748"/>
            <a:ext cx="4753326"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A5BC4"/>
                </a:solidFill>
                <a:latin typeface="Calibri" pitchFamily="34" charset="0"/>
                <a:ea typeface="Calibri" pitchFamily="34" charset="-122"/>
                <a:cs typeface="Calibri" pitchFamily="34" charset="-120"/>
              </a:rPr>
              <a:t>USE AN</a:t>
            </a:r>
            <a:endParaRPr lang="en-US" sz="1200" dirty="0"/>
          </a:p>
        </p:txBody>
      </p:sp>
      <p:sp>
        <p:nvSpPr>
          <p:cNvPr id="17" name="Text 15"/>
          <p:cNvSpPr txBox="1"/>
          <p:nvPr/>
        </p:nvSpPr>
        <p:spPr>
          <a:xfrm>
            <a:off x="6489680" y="2400117"/>
            <a:ext cx="4753326" cy="274320"/>
          </a:xfrm>
          <a:prstGeom prst="rect">
            <a:avLst/>
          </a:prstGeom>
          <a:noFill/>
          <a:ln/>
        </p:spPr>
        <p:txBody>
          <a:bodyPr wrap="square" lIns="0" tIns="0" rIns="0" bIns="0" rtlCol="0" anchor="t"/>
          <a:lstStyle/>
          <a:p>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Consonant letter, but a vowel sound</a:t>
            </a:r>
            <a:endParaRPr lang="en-US" sz="1600" dirty="0"/>
          </a:p>
        </p:txBody>
      </p:sp>
      <p:sp>
        <p:nvSpPr>
          <p:cNvPr id="18" name="Text 16"/>
          <p:cNvSpPr txBox="1"/>
          <p:nvPr/>
        </p:nvSpPr>
        <p:spPr>
          <a:xfrm>
            <a:off x="6489680" y="2864907"/>
            <a:ext cx="862919"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hour</a:t>
            </a:r>
            <a:endParaRPr lang="en-US" sz="2000" dirty="0"/>
          </a:p>
        </p:txBody>
      </p:sp>
      <p:sp>
        <p:nvSpPr>
          <p:cNvPr id="19" name="Text 17"/>
          <p:cNvSpPr txBox="1"/>
          <p:nvPr/>
        </p:nvSpPr>
        <p:spPr>
          <a:xfrm>
            <a:off x="10513040" y="2901757"/>
            <a:ext cx="649590"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silent h</a:t>
            </a:r>
            <a:endParaRPr lang="en-US" sz="1600" dirty="0"/>
          </a:p>
        </p:txBody>
      </p:sp>
      <p:sp>
        <p:nvSpPr>
          <p:cNvPr id="20" name="Text 18"/>
          <p:cNvSpPr txBox="1"/>
          <p:nvPr/>
        </p:nvSpPr>
        <p:spPr>
          <a:xfrm>
            <a:off x="6489680" y="3322107"/>
            <a:ext cx="1612453"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honest man</a:t>
            </a:r>
            <a:endParaRPr lang="en-US" sz="2000" dirty="0"/>
          </a:p>
        </p:txBody>
      </p:sp>
      <p:sp>
        <p:nvSpPr>
          <p:cNvPr id="21" name="Text 19"/>
          <p:cNvSpPr txBox="1"/>
          <p:nvPr/>
        </p:nvSpPr>
        <p:spPr>
          <a:xfrm>
            <a:off x="10513040" y="3358957"/>
            <a:ext cx="649590"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silent h</a:t>
            </a:r>
            <a:endParaRPr lang="en-US" sz="1600" dirty="0"/>
          </a:p>
        </p:txBody>
      </p:sp>
      <p:sp>
        <p:nvSpPr>
          <p:cNvPr id="22" name="Text 20"/>
          <p:cNvSpPr txBox="1"/>
          <p:nvPr/>
        </p:nvSpPr>
        <p:spPr>
          <a:xfrm>
            <a:off x="6489680" y="3779307"/>
            <a:ext cx="873526"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MBA</a:t>
            </a:r>
            <a:endParaRPr lang="en-US" sz="2000" dirty="0"/>
          </a:p>
        </p:txBody>
      </p:sp>
      <p:sp>
        <p:nvSpPr>
          <p:cNvPr id="23" name="Text 21"/>
          <p:cNvSpPr txBox="1"/>
          <p:nvPr/>
        </p:nvSpPr>
        <p:spPr>
          <a:xfrm>
            <a:off x="10079431" y="3816157"/>
            <a:ext cx="1091794"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M says “em”</a:t>
            </a:r>
            <a:endParaRPr lang="en-US" sz="1600" dirty="0"/>
          </a:p>
        </p:txBody>
      </p:sp>
      <p:sp>
        <p:nvSpPr>
          <p:cNvPr id="24" name="Text 22"/>
          <p:cNvSpPr txBox="1"/>
          <p:nvPr/>
        </p:nvSpPr>
        <p:spPr>
          <a:xfrm>
            <a:off x="6489680" y="4236507"/>
            <a:ext cx="888797" cy="342900"/>
          </a:xfrm>
          <a:prstGeom prst="rect">
            <a:avLst/>
          </a:prstGeom>
          <a:noFill/>
          <a:ln/>
        </p:spPr>
        <p:txBody>
          <a:bodyPr wrap="square" lIns="0" tIns="0" rIns="0" bIns="0" rtlCol="0" anchor="t"/>
          <a:lstStyle/>
          <a:p>
            <a:pPr algn="l" indent="0" marL="0">
              <a:lnSpc>
                <a:spcPts val="26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2600"/>
              </a:lnSpc>
              <a:buNone/>
            </a:pPr>
            <a:r>
              <a:rPr lang="en-US" sz="2000" dirty="0">
                <a:solidFill>
                  <a:srgbClr val="15233F"/>
                </a:solidFill>
                <a:latin typeface="Calibri" pitchFamily="34" charset="0"/>
                <a:ea typeface="Calibri" pitchFamily="34" charset="-122"/>
                <a:cs typeface="Calibri" pitchFamily="34" charset="-120"/>
              </a:rPr>
              <a:t> X-ray</a:t>
            </a:r>
            <a:endParaRPr lang="en-US" sz="2000" dirty="0"/>
          </a:p>
        </p:txBody>
      </p:sp>
      <p:sp>
        <p:nvSpPr>
          <p:cNvPr id="25" name="Text 23"/>
          <p:cNvSpPr txBox="1"/>
          <p:nvPr/>
        </p:nvSpPr>
        <p:spPr>
          <a:xfrm>
            <a:off x="10140056" y="4273357"/>
            <a:ext cx="1029980" cy="304770"/>
          </a:xfrm>
          <a:prstGeom prst="rect">
            <a:avLst/>
          </a:prstGeom>
          <a:noFill/>
          <a:ln/>
        </p:spPr>
        <p:txBody>
          <a:bodyPr wrap="square" lIns="0" tIns="0" rIns="0" bIns="0" rtlCol="0" anchor="t"/>
          <a:lstStyle/>
          <a:p>
            <a:pPr algn="l" indent="0" marL="0">
              <a:lnSpc>
                <a:spcPts val="2240"/>
              </a:lnSpc>
              <a:buNone/>
            </a:pPr>
            <a:r>
              <a:rPr lang="en-US" sz="1600" dirty="0">
                <a:solidFill>
                  <a:srgbClr val="5E6675"/>
                </a:solidFill>
                <a:latin typeface="Calibri" pitchFamily="34" charset="0"/>
                <a:ea typeface="Calibri" pitchFamily="34" charset="-122"/>
                <a:cs typeface="Calibri" pitchFamily="34" charset="-120"/>
              </a:rPr>
              <a:t>X says “eks”</a:t>
            </a:r>
            <a:endParaRPr lang="en-US" sz="1600" dirty="0"/>
          </a:p>
        </p:txBody>
      </p:sp>
      <p:sp>
        <p:nvSpPr>
          <p:cNvPr id="26" name="Text 24"/>
          <p:cNvSpPr txBox="1"/>
          <p:nvPr/>
        </p:nvSpPr>
        <p:spPr>
          <a:xfrm>
            <a:off x="812810" y="5079858"/>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Not sure?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Say the word out loud.</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The sound decides, not the spelling.</a:t>
            </a:r>
            <a:endParaRPr lang="en-US" sz="1600" dirty="0"/>
          </a:p>
        </p:txBody>
      </p:sp>
      <p:sp>
        <p:nvSpPr>
          <p:cNvPr id="27" name="Text 25"/>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8" name="Text 26"/>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03 · USING A / AN</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When to use a / an</a:t>
            </a:r>
            <a:endParaRPr lang="en-US" sz="3200" dirty="0"/>
          </a:p>
        </p:txBody>
      </p:sp>
      <p:sp>
        <p:nvSpPr>
          <p:cNvPr id="4" name="Shape 2"/>
          <p:cNvSpPr/>
          <p:nvPr/>
        </p:nvSpPr>
        <p:spPr>
          <a:xfrm>
            <a:off x="812810" y="1803288"/>
            <a:ext cx="3386663" cy="1386688"/>
          </a:xfrm>
          <a:prstGeom prst="roundRect">
            <a:avLst>
              <a:gd name="adj" fmla="val 7326"/>
            </a:avLst>
          </a:prstGeom>
          <a:solidFill>
            <a:srgbClr val="FFFDF9"/>
          </a:solidFill>
          <a:ln w="12700">
            <a:solidFill>
              <a:srgbClr val="E6DFD0"/>
            </a:solidFill>
            <a:prstDash val="solid"/>
          </a:ln>
        </p:spPr>
      </p:sp>
      <p:sp>
        <p:nvSpPr>
          <p:cNvPr id="5" name="Text 3"/>
          <p:cNvSpPr txBox="1"/>
          <p:nvPr/>
        </p:nvSpPr>
        <p:spPr>
          <a:xfrm>
            <a:off x="1054120"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1</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First mention</a:t>
            </a:r>
            <a:endParaRPr lang="en-US" sz="1600" dirty="0"/>
          </a:p>
        </p:txBody>
      </p:sp>
      <p:sp>
        <p:nvSpPr>
          <p:cNvPr id="6" name="Text 4"/>
          <p:cNvSpPr txBox="1"/>
          <p:nvPr/>
        </p:nvSpPr>
        <p:spPr>
          <a:xfrm>
            <a:off x="1054120"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It is new to the listener.</a:t>
            </a:r>
            <a:endParaRPr lang="en-US" sz="1200" dirty="0"/>
          </a:p>
        </p:txBody>
      </p:sp>
      <p:sp>
        <p:nvSpPr>
          <p:cNvPr id="7" name="Text 5"/>
          <p:cNvSpPr txBox="1"/>
          <p:nvPr/>
        </p:nvSpPr>
        <p:spPr>
          <a:xfrm>
            <a:off x="1054120"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saw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great film last night.</a:t>
            </a:r>
            <a:endParaRPr lang="en-US" sz="1600" dirty="0"/>
          </a:p>
        </p:txBody>
      </p:sp>
      <p:sp>
        <p:nvSpPr>
          <p:cNvPr id="8" name="Shape 6"/>
          <p:cNvSpPr/>
          <p:nvPr/>
        </p:nvSpPr>
        <p:spPr>
          <a:xfrm>
            <a:off x="4402653" y="1803288"/>
            <a:ext cx="3386663" cy="1386688"/>
          </a:xfrm>
          <a:prstGeom prst="roundRect">
            <a:avLst>
              <a:gd name="adj" fmla="val 7326"/>
            </a:avLst>
          </a:prstGeom>
          <a:solidFill>
            <a:srgbClr val="FFFDF9"/>
          </a:solidFill>
          <a:ln w="12700">
            <a:solidFill>
              <a:srgbClr val="E6DFD0"/>
            </a:solidFill>
            <a:prstDash val="solid"/>
          </a:ln>
        </p:spPr>
      </p:sp>
      <p:sp>
        <p:nvSpPr>
          <p:cNvPr id="9" name="Text 7"/>
          <p:cNvSpPr txBox="1"/>
          <p:nvPr/>
        </p:nvSpPr>
        <p:spPr>
          <a:xfrm>
            <a:off x="4643963"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2</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Any one</a:t>
            </a:r>
            <a:endParaRPr lang="en-US" sz="1600" dirty="0"/>
          </a:p>
        </p:txBody>
      </p:sp>
      <p:sp>
        <p:nvSpPr>
          <p:cNvPr id="10" name="Text 8"/>
          <p:cNvSpPr txBox="1"/>
          <p:nvPr/>
        </p:nvSpPr>
        <p:spPr>
          <a:xfrm>
            <a:off x="4643963"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Which one does not matter.</a:t>
            </a:r>
            <a:endParaRPr lang="en-US" sz="1200" dirty="0"/>
          </a:p>
        </p:txBody>
      </p:sp>
      <p:sp>
        <p:nvSpPr>
          <p:cNvPr id="11" name="Text 9"/>
          <p:cNvSpPr txBox="1"/>
          <p:nvPr/>
        </p:nvSpPr>
        <p:spPr>
          <a:xfrm>
            <a:off x="4643963"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Can I borrow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pen?</a:t>
            </a:r>
            <a:endParaRPr lang="en-US" sz="1600" dirty="0"/>
          </a:p>
        </p:txBody>
      </p:sp>
      <p:sp>
        <p:nvSpPr>
          <p:cNvPr id="12" name="Shape 10"/>
          <p:cNvSpPr/>
          <p:nvPr/>
        </p:nvSpPr>
        <p:spPr>
          <a:xfrm>
            <a:off x="7992496" y="1803288"/>
            <a:ext cx="3386663" cy="1386688"/>
          </a:xfrm>
          <a:prstGeom prst="roundRect">
            <a:avLst>
              <a:gd name="adj" fmla="val 7326"/>
            </a:avLst>
          </a:prstGeom>
          <a:solidFill>
            <a:srgbClr val="FFFDF9"/>
          </a:solidFill>
          <a:ln w="12700">
            <a:solidFill>
              <a:srgbClr val="E6DFD0"/>
            </a:solidFill>
            <a:prstDash val="solid"/>
          </a:ln>
        </p:spPr>
      </p:sp>
      <p:sp>
        <p:nvSpPr>
          <p:cNvPr id="13" name="Text 11"/>
          <p:cNvSpPr txBox="1"/>
          <p:nvPr/>
        </p:nvSpPr>
        <p:spPr>
          <a:xfrm>
            <a:off x="8233806"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3</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Jobs</a:t>
            </a:r>
            <a:endParaRPr lang="en-US" sz="1600" dirty="0"/>
          </a:p>
        </p:txBody>
      </p:sp>
      <p:sp>
        <p:nvSpPr>
          <p:cNvPr id="14" name="Text 12"/>
          <p:cNvSpPr txBox="1"/>
          <p:nvPr/>
        </p:nvSpPr>
        <p:spPr>
          <a:xfrm>
            <a:off x="8233806"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Say what someone does.</a:t>
            </a:r>
            <a:endParaRPr lang="en-US" sz="1200" dirty="0"/>
          </a:p>
        </p:txBody>
      </p:sp>
      <p:sp>
        <p:nvSpPr>
          <p:cNvPr id="15" name="Text 13"/>
          <p:cNvSpPr txBox="1"/>
          <p:nvPr/>
        </p:nvSpPr>
        <p:spPr>
          <a:xfrm>
            <a:off x="8233806"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She is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engineer.</a:t>
            </a:r>
            <a:endParaRPr lang="en-US" sz="1600" dirty="0"/>
          </a:p>
        </p:txBody>
      </p:sp>
      <p:sp>
        <p:nvSpPr>
          <p:cNvPr id="16" name="Shape 14"/>
          <p:cNvSpPr/>
          <p:nvPr/>
        </p:nvSpPr>
        <p:spPr>
          <a:xfrm>
            <a:off x="812810" y="3393156"/>
            <a:ext cx="3386663" cy="1386688"/>
          </a:xfrm>
          <a:prstGeom prst="roundRect">
            <a:avLst>
              <a:gd name="adj" fmla="val 7326"/>
            </a:avLst>
          </a:prstGeom>
          <a:solidFill>
            <a:srgbClr val="FFFDF9"/>
          </a:solidFill>
          <a:ln w="12700">
            <a:solidFill>
              <a:srgbClr val="E6DFD0"/>
            </a:solidFill>
            <a:prstDash val="solid"/>
          </a:ln>
        </p:spPr>
      </p:sp>
      <p:sp>
        <p:nvSpPr>
          <p:cNvPr id="17" name="Text 15"/>
          <p:cNvSpPr txBox="1"/>
          <p:nvPr/>
        </p:nvSpPr>
        <p:spPr>
          <a:xfrm>
            <a:off x="1054120"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4</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Describing</a:t>
            </a:r>
            <a:endParaRPr lang="en-US" sz="1600" dirty="0"/>
          </a:p>
        </p:txBody>
      </p:sp>
      <p:sp>
        <p:nvSpPr>
          <p:cNvPr id="18" name="Text 16"/>
          <p:cNvSpPr txBox="1"/>
          <p:nvPr/>
        </p:nvSpPr>
        <p:spPr>
          <a:xfrm>
            <a:off x="1054120"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Say what kind of thing it is.</a:t>
            </a:r>
            <a:endParaRPr lang="en-US" sz="1200" dirty="0"/>
          </a:p>
        </p:txBody>
      </p:sp>
      <p:sp>
        <p:nvSpPr>
          <p:cNvPr id="19" name="Text 17"/>
          <p:cNvSpPr txBox="1"/>
          <p:nvPr/>
        </p:nvSpPr>
        <p:spPr>
          <a:xfrm>
            <a:off x="1054120"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It’s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beautiful day.</a:t>
            </a:r>
            <a:endParaRPr lang="en-US" sz="1600" dirty="0"/>
          </a:p>
        </p:txBody>
      </p:sp>
      <p:sp>
        <p:nvSpPr>
          <p:cNvPr id="20" name="Shape 18"/>
          <p:cNvSpPr/>
          <p:nvPr/>
        </p:nvSpPr>
        <p:spPr>
          <a:xfrm>
            <a:off x="4402653" y="3393156"/>
            <a:ext cx="3386663" cy="1386688"/>
          </a:xfrm>
          <a:prstGeom prst="roundRect">
            <a:avLst>
              <a:gd name="adj" fmla="val 7326"/>
            </a:avLst>
          </a:prstGeom>
          <a:solidFill>
            <a:srgbClr val="FFFDF9"/>
          </a:solidFill>
          <a:ln w="12700">
            <a:solidFill>
              <a:srgbClr val="E6DFD0"/>
            </a:solidFill>
            <a:prstDash val="solid"/>
          </a:ln>
        </p:spPr>
      </p:sp>
      <p:sp>
        <p:nvSpPr>
          <p:cNvPr id="21" name="Text 19"/>
          <p:cNvSpPr txBox="1"/>
          <p:nvPr/>
        </p:nvSpPr>
        <p:spPr>
          <a:xfrm>
            <a:off x="4643963"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5</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Meaning “one”</a:t>
            </a:r>
            <a:endParaRPr lang="en-US" sz="1600" dirty="0"/>
          </a:p>
        </p:txBody>
      </p:sp>
      <p:sp>
        <p:nvSpPr>
          <p:cNvPr id="22" name="Text 20"/>
          <p:cNvSpPr txBox="1"/>
          <p:nvPr/>
        </p:nvSpPr>
        <p:spPr>
          <a:xfrm>
            <a:off x="4643963"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A / an = one.</a:t>
            </a:r>
            <a:endParaRPr lang="en-US" sz="1200" dirty="0"/>
          </a:p>
        </p:txBody>
      </p:sp>
      <p:sp>
        <p:nvSpPr>
          <p:cNvPr id="23" name="Text 21"/>
          <p:cNvSpPr txBox="1"/>
          <p:nvPr/>
        </p:nvSpPr>
        <p:spPr>
          <a:xfrm>
            <a:off x="4643963"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I’ll be back in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hour.</a:t>
            </a:r>
            <a:endParaRPr lang="en-US" sz="1600" dirty="0"/>
          </a:p>
        </p:txBody>
      </p:sp>
      <p:sp>
        <p:nvSpPr>
          <p:cNvPr id="24" name="Shape 22"/>
          <p:cNvSpPr/>
          <p:nvPr/>
        </p:nvSpPr>
        <p:spPr>
          <a:xfrm>
            <a:off x="7992496" y="3393156"/>
            <a:ext cx="3386663" cy="1386688"/>
          </a:xfrm>
          <a:prstGeom prst="roundRect">
            <a:avLst>
              <a:gd name="adj" fmla="val 7326"/>
            </a:avLst>
          </a:prstGeom>
          <a:solidFill>
            <a:srgbClr val="FFFDF9"/>
          </a:solidFill>
          <a:ln w="12700">
            <a:solidFill>
              <a:srgbClr val="E6DFD0"/>
            </a:solidFill>
            <a:prstDash val="solid"/>
          </a:ln>
        </p:spPr>
      </p:sp>
      <p:sp>
        <p:nvSpPr>
          <p:cNvPr id="25" name="Text 23"/>
          <p:cNvSpPr txBox="1"/>
          <p:nvPr/>
        </p:nvSpPr>
        <p:spPr>
          <a:xfrm>
            <a:off x="8233806"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6</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“Per” / “every”</a:t>
            </a:r>
            <a:endParaRPr lang="en-US" sz="1600" dirty="0"/>
          </a:p>
        </p:txBody>
      </p:sp>
      <p:sp>
        <p:nvSpPr>
          <p:cNvPr id="26" name="Text 24"/>
          <p:cNvSpPr txBox="1"/>
          <p:nvPr/>
        </p:nvSpPr>
        <p:spPr>
          <a:xfrm>
            <a:off x="8233806"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How often, how fast, how much.</a:t>
            </a:r>
            <a:endParaRPr lang="en-US" sz="1200" dirty="0"/>
          </a:p>
        </p:txBody>
      </p:sp>
      <p:sp>
        <p:nvSpPr>
          <p:cNvPr id="27" name="Text 25"/>
          <p:cNvSpPr txBox="1"/>
          <p:nvPr/>
        </p:nvSpPr>
        <p:spPr>
          <a:xfrm>
            <a:off x="8233806"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twice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week · 90 km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hour</a:t>
            </a:r>
            <a:endParaRPr lang="en-US" sz="1600" dirty="0"/>
          </a:p>
        </p:txBody>
      </p:sp>
      <p:sp>
        <p:nvSpPr>
          <p:cNvPr id="28" name="Text 26"/>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9" name="Text 27"/>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03 · USING A / AN</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A / an means one countable thing</a:t>
            </a:r>
            <a:endParaRPr lang="en-US" sz="3200" dirty="0"/>
          </a:p>
        </p:txBody>
      </p:sp>
      <p:sp>
        <p:nvSpPr>
          <p:cNvPr id="4" name="Text 2"/>
          <p:cNvSpPr txBox="1"/>
          <p:nvPr/>
        </p:nvSpPr>
        <p:spPr>
          <a:xfrm>
            <a:off x="812810" y="1782989"/>
            <a:ext cx="3924330" cy="873709"/>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Use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 / an</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only with a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singular countable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noun: something you can count.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one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book,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two</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books.</a:t>
            </a:r>
            <a:endParaRPr lang="en-US" sz="1600" dirty="0"/>
          </a:p>
        </p:txBody>
      </p:sp>
      <p:sp>
        <p:nvSpPr>
          <p:cNvPr id="5" name="Text 3"/>
          <p:cNvSpPr txBox="1"/>
          <p:nvPr/>
        </p:nvSpPr>
        <p:spPr>
          <a:xfrm>
            <a:off x="812810" y="2814157"/>
            <a:ext cx="3924330" cy="589239"/>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With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plural</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or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uncountable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nouns, use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some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or no article.</a:t>
            </a:r>
            <a:endParaRPr lang="en-US" sz="1600" dirty="0"/>
          </a:p>
        </p:txBody>
      </p:sp>
      <p:sp>
        <p:nvSpPr>
          <p:cNvPr id="6" name="Shape 4"/>
          <p:cNvSpPr/>
          <p:nvPr/>
        </p:nvSpPr>
        <p:spPr>
          <a:xfrm>
            <a:off x="812810" y="3581156"/>
            <a:ext cx="3810030" cy="1188629"/>
          </a:xfrm>
          <a:prstGeom prst="roundRect">
            <a:avLst>
              <a:gd name="adj" fmla="val 8547"/>
            </a:avLst>
          </a:prstGeom>
          <a:solidFill>
            <a:srgbClr val="ECEAE6"/>
          </a:solidFill>
          <a:ln/>
        </p:spPr>
      </p:sp>
      <p:sp>
        <p:nvSpPr>
          <p:cNvPr id="7" name="Text 5"/>
          <p:cNvSpPr txBox="1"/>
          <p:nvPr/>
        </p:nvSpPr>
        <p:spPr>
          <a:xfrm>
            <a:off x="1015990" y="3743736"/>
            <a:ext cx="3509742"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5E6675"/>
                </a:solidFill>
                <a:latin typeface="Calibri" pitchFamily="34" charset="0"/>
                <a:ea typeface="Calibri" pitchFamily="34" charset="-122"/>
                <a:cs typeface="Calibri" pitchFamily="34" charset="-120"/>
              </a:rPr>
              <a:t>COMMON UNCOUNTABLE NOUNS</a:t>
            </a:r>
            <a:endParaRPr lang="en-US" sz="1200" dirty="0"/>
          </a:p>
        </p:txBody>
      </p:sp>
      <p:sp>
        <p:nvSpPr>
          <p:cNvPr id="8" name="Text 6"/>
          <p:cNvSpPr txBox="1"/>
          <p:nvPr/>
        </p:nvSpPr>
        <p:spPr>
          <a:xfrm>
            <a:off x="1015990" y="4002786"/>
            <a:ext cx="3509742" cy="589239"/>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water, money, advice, information, news, music, homework, furniture</a:t>
            </a:r>
            <a:endParaRPr lang="en-US" sz="1600" dirty="0"/>
          </a:p>
        </p:txBody>
      </p:sp>
      <p:sp>
        <p:nvSpPr>
          <p:cNvPr id="9" name="Shape 7"/>
          <p:cNvSpPr/>
          <p:nvPr/>
        </p:nvSpPr>
        <p:spPr>
          <a:xfrm>
            <a:off x="4978359" y="1803288"/>
            <a:ext cx="6400800" cy="2791663"/>
          </a:xfrm>
          <a:prstGeom prst="roundRect">
            <a:avLst>
              <a:gd name="adj" fmla="val 3639"/>
            </a:avLst>
          </a:prstGeom>
          <a:ln w="12700">
            <a:solidFill>
              <a:srgbClr val="E6DFD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78359" y="1803288"/>
          <a:ext cx="6400800" cy="914400"/>
        </p:xfrm>
        <a:graphic>
          <a:graphicData uri="http://schemas.openxmlformats.org/drawingml/2006/table">
            <a:tbl>
              <a:tblPr/>
              <a:tblGrid>
                <a:gridCol w="2550079"/>
                <a:gridCol w="3825301"/>
              </a:tblGrid>
              <a:tr h="396118">
                <a:tc>
                  <a:txBody>
                    <a:bodyPr/>
                    <a:lstStyle/>
                    <a:p>
                      <a:pPr indent="0" marL="0">
                        <a:lnSpc>
                          <a:spcPts val="1920"/>
                        </a:lnSpc>
                        <a:buNone/>
                      </a:pPr>
                      <a:r>
                        <a:rPr lang="en-US" sz="1600" b="1" dirty="0">
                          <a:solidFill>
                            <a:srgbClr val="FFB4A8"/>
                          </a:solidFill>
                          <a:latin typeface="Calibri" pitchFamily="34" charset="0"/>
                          <a:ea typeface="Calibri" pitchFamily="34" charset="-122"/>
                          <a:cs typeface="Calibri" pitchFamily="34" charset="-120"/>
                        </a:rPr>
                        <a:t>Wrong</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c>
                  <a:txBody>
                    <a:bodyPr/>
                    <a:lstStyle/>
                    <a:p>
                      <a:pPr indent="0" marL="0">
                        <a:lnSpc>
                          <a:spcPts val="1920"/>
                        </a:lnSpc>
                        <a:buNone/>
                      </a:pPr>
                      <a:r>
                        <a:rPr lang="en-US" sz="1600" b="1" dirty="0">
                          <a:solidFill>
                            <a:srgbClr val="A8E0C4"/>
                          </a:solidFill>
                          <a:latin typeface="Calibri" pitchFamily="34" charset="0"/>
                          <a:ea typeface="Calibri" pitchFamily="34" charset="-122"/>
                          <a:cs typeface="Calibri" pitchFamily="34" charset="-120"/>
                        </a:rPr>
                        <a:t>Right</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 books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books / some books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 water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water / a glass of water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an advice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some advice / a piece of advice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an information</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some information</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 homework</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some homework</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89717">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a good news</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good news / some good news</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3EEE4"/>
                    </a:solidFill>
                  </a:tcPr>
                </a:tc>
              </a:tr>
            </a:tbl>
          </a:graphicData>
        </a:graphic>
      </p:graphicFrame>
      <p:sp>
        <p:nvSpPr>
          <p:cNvPr id="11" name="Shape 8"/>
          <p:cNvSpPr/>
          <p:nvPr/>
        </p:nvSpPr>
        <p:spPr>
          <a:xfrm>
            <a:off x="4978359" y="1803288"/>
            <a:ext cx="6400800" cy="2791663"/>
          </a:xfrm>
          <a:prstGeom prst="rect">
            <a:avLst/>
          </a:prstGeom>
          <a:ln w="12700">
            <a:solidFill>
              <a:srgbClr val="E6DFD0"/>
            </a:solidFill>
            <a:prstDash val="solid"/>
          </a:ln>
        </p:spPr>
      </p:sp>
      <p:sp>
        <p:nvSpPr>
          <p:cNvPr id="12" name="Text 9"/>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13" name="Text 10"/>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04 · USING THE</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When to use the</a:t>
            </a:r>
            <a:endParaRPr lang="en-US" sz="3200" dirty="0"/>
          </a:p>
        </p:txBody>
      </p:sp>
      <p:sp>
        <p:nvSpPr>
          <p:cNvPr id="4" name="Shape 2"/>
          <p:cNvSpPr/>
          <p:nvPr/>
        </p:nvSpPr>
        <p:spPr>
          <a:xfrm>
            <a:off x="812810" y="1803288"/>
            <a:ext cx="3386663" cy="1386688"/>
          </a:xfrm>
          <a:prstGeom prst="roundRect">
            <a:avLst>
              <a:gd name="adj" fmla="val 7326"/>
            </a:avLst>
          </a:prstGeom>
          <a:solidFill>
            <a:srgbClr val="FFFDF9"/>
          </a:solidFill>
          <a:ln w="12700">
            <a:solidFill>
              <a:srgbClr val="E6DFD0"/>
            </a:solidFill>
            <a:prstDash val="solid"/>
          </a:ln>
        </p:spPr>
      </p:sp>
      <p:sp>
        <p:nvSpPr>
          <p:cNvPr id="5" name="Text 3"/>
          <p:cNvSpPr txBox="1"/>
          <p:nvPr/>
        </p:nvSpPr>
        <p:spPr>
          <a:xfrm>
            <a:off x="1054120"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1</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Second mention</a:t>
            </a:r>
            <a:endParaRPr lang="en-US" sz="1600" dirty="0"/>
          </a:p>
        </p:txBody>
      </p:sp>
      <p:sp>
        <p:nvSpPr>
          <p:cNvPr id="6" name="Text 4"/>
          <p:cNvSpPr txBox="1"/>
          <p:nvPr/>
        </p:nvSpPr>
        <p:spPr>
          <a:xfrm>
            <a:off x="1054120"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Now we know which one.</a:t>
            </a:r>
            <a:endParaRPr lang="en-US" sz="1200" dirty="0"/>
          </a:p>
        </p:txBody>
      </p:sp>
      <p:sp>
        <p:nvSpPr>
          <p:cNvPr id="7" name="Text 5"/>
          <p:cNvSpPr txBox="1"/>
          <p:nvPr/>
        </p:nvSpPr>
        <p:spPr>
          <a:xfrm>
            <a:off x="1054120"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saw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film.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film was great.</a:t>
            </a:r>
            <a:endParaRPr lang="en-US" sz="1600" dirty="0"/>
          </a:p>
        </p:txBody>
      </p:sp>
      <p:sp>
        <p:nvSpPr>
          <p:cNvPr id="8" name="Shape 6"/>
          <p:cNvSpPr/>
          <p:nvPr/>
        </p:nvSpPr>
        <p:spPr>
          <a:xfrm>
            <a:off x="4402653" y="1803288"/>
            <a:ext cx="3386663" cy="1386688"/>
          </a:xfrm>
          <a:prstGeom prst="roundRect">
            <a:avLst>
              <a:gd name="adj" fmla="val 7326"/>
            </a:avLst>
          </a:prstGeom>
          <a:solidFill>
            <a:srgbClr val="FFFDF9"/>
          </a:solidFill>
          <a:ln w="12700">
            <a:solidFill>
              <a:srgbClr val="E6DFD0"/>
            </a:solidFill>
            <a:prstDash val="solid"/>
          </a:ln>
        </p:spPr>
      </p:sp>
      <p:sp>
        <p:nvSpPr>
          <p:cNvPr id="9" name="Text 7"/>
          <p:cNvSpPr txBox="1"/>
          <p:nvPr/>
        </p:nvSpPr>
        <p:spPr>
          <a:xfrm>
            <a:off x="4643963"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2</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Only one exists</a:t>
            </a:r>
            <a:endParaRPr lang="en-US" sz="1600" dirty="0"/>
          </a:p>
        </p:txBody>
      </p:sp>
      <p:sp>
        <p:nvSpPr>
          <p:cNvPr id="10" name="Text 8"/>
          <p:cNvSpPr txBox="1"/>
          <p:nvPr/>
        </p:nvSpPr>
        <p:spPr>
          <a:xfrm>
            <a:off x="4643963"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There is only one in the world.</a:t>
            </a:r>
            <a:endParaRPr lang="en-US" sz="1200" dirty="0"/>
          </a:p>
        </p:txBody>
      </p:sp>
      <p:sp>
        <p:nvSpPr>
          <p:cNvPr id="11" name="Text 9"/>
          <p:cNvSpPr txBox="1"/>
          <p:nvPr/>
        </p:nvSpPr>
        <p:spPr>
          <a:xfrm>
            <a:off x="4643963" y="2659167"/>
            <a:ext cx="3000238"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sun ·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moon ·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internet</a:t>
            </a:r>
            <a:endParaRPr lang="en-US" sz="1600" dirty="0"/>
          </a:p>
        </p:txBody>
      </p:sp>
      <p:sp>
        <p:nvSpPr>
          <p:cNvPr id="12" name="Shape 10"/>
          <p:cNvSpPr/>
          <p:nvPr/>
        </p:nvSpPr>
        <p:spPr>
          <a:xfrm>
            <a:off x="7992496" y="1803288"/>
            <a:ext cx="3386663" cy="1386688"/>
          </a:xfrm>
          <a:prstGeom prst="roundRect">
            <a:avLst>
              <a:gd name="adj" fmla="val 7326"/>
            </a:avLst>
          </a:prstGeom>
          <a:solidFill>
            <a:srgbClr val="FFFDF9"/>
          </a:solidFill>
          <a:ln w="12700">
            <a:solidFill>
              <a:srgbClr val="E6DFD0"/>
            </a:solidFill>
            <a:prstDash val="solid"/>
          </a:ln>
        </p:spPr>
      </p:sp>
      <p:sp>
        <p:nvSpPr>
          <p:cNvPr id="13" name="Text 11"/>
          <p:cNvSpPr txBox="1"/>
          <p:nvPr/>
        </p:nvSpPr>
        <p:spPr>
          <a:xfrm>
            <a:off x="8233806"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3</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We both know</a:t>
            </a:r>
            <a:endParaRPr lang="en-US" sz="1600" dirty="0"/>
          </a:p>
        </p:txBody>
      </p:sp>
      <p:sp>
        <p:nvSpPr>
          <p:cNvPr id="14" name="Text 12"/>
          <p:cNvSpPr txBox="1"/>
          <p:nvPr/>
        </p:nvSpPr>
        <p:spPr>
          <a:xfrm>
            <a:off x="8233806"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The situation makes it clear.</a:t>
            </a:r>
            <a:endParaRPr lang="en-US" sz="1200" dirty="0"/>
          </a:p>
        </p:txBody>
      </p:sp>
      <p:sp>
        <p:nvSpPr>
          <p:cNvPr id="15" name="Text 13"/>
          <p:cNvSpPr txBox="1"/>
          <p:nvPr/>
        </p:nvSpPr>
        <p:spPr>
          <a:xfrm>
            <a:off x="8233806"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Please close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door.</a:t>
            </a:r>
            <a:endParaRPr lang="en-US" sz="1600" dirty="0"/>
          </a:p>
        </p:txBody>
      </p:sp>
      <p:sp>
        <p:nvSpPr>
          <p:cNvPr id="16" name="Shape 14"/>
          <p:cNvSpPr/>
          <p:nvPr/>
        </p:nvSpPr>
        <p:spPr>
          <a:xfrm>
            <a:off x="812810" y="3393156"/>
            <a:ext cx="3386663" cy="1386688"/>
          </a:xfrm>
          <a:prstGeom prst="roundRect">
            <a:avLst>
              <a:gd name="adj" fmla="val 7326"/>
            </a:avLst>
          </a:prstGeom>
          <a:solidFill>
            <a:srgbClr val="FFFDF9"/>
          </a:solidFill>
          <a:ln w="12700">
            <a:solidFill>
              <a:srgbClr val="E6DFD0"/>
            </a:solidFill>
            <a:prstDash val="solid"/>
          </a:ln>
        </p:spPr>
      </p:sp>
      <p:sp>
        <p:nvSpPr>
          <p:cNvPr id="17" name="Text 15"/>
          <p:cNvSpPr txBox="1"/>
          <p:nvPr/>
        </p:nvSpPr>
        <p:spPr>
          <a:xfrm>
            <a:off x="1054120"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4</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Made specific</a:t>
            </a:r>
            <a:endParaRPr lang="en-US" sz="1600" dirty="0"/>
          </a:p>
        </p:txBody>
      </p:sp>
      <p:sp>
        <p:nvSpPr>
          <p:cNvPr id="18" name="Text 16"/>
          <p:cNvSpPr txBox="1"/>
          <p:nvPr/>
        </p:nvSpPr>
        <p:spPr>
          <a:xfrm>
            <a:off x="1054120"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More words tell us which one.</a:t>
            </a:r>
            <a:endParaRPr lang="en-US" sz="1200" dirty="0"/>
          </a:p>
        </p:txBody>
      </p:sp>
      <p:sp>
        <p:nvSpPr>
          <p:cNvPr id="19" name="Text 17"/>
          <p:cNvSpPr txBox="1"/>
          <p:nvPr/>
        </p:nvSpPr>
        <p:spPr>
          <a:xfrm>
            <a:off x="1054120" y="4249125"/>
            <a:ext cx="3000238"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man who called you</a:t>
            </a:r>
            <a:endParaRPr lang="en-US" sz="1600" dirty="0"/>
          </a:p>
        </p:txBody>
      </p:sp>
      <p:sp>
        <p:nvSpPr>
          <p:cNvPr id="20" name="Shape 18"/>
          <p:cNvSpPr/>
          <p:nvPr/>
        </p:nvSpPr>
        <p:spPr>
          <a:xfrm>
            <a:off x="4402653" y="3393156"/>
            <a:ext cx="3386663" cy="1386688"/>
          </a:xfrm>
          <a:prstGeom prst="roundRect">
            <a:avLst>
              <a:gd name="adj" fmla="val 7326"/>
            </a:avLst>
          </a:prstGeom>
          <a:solidFill>
            <a:srgbClr val="FFFDF9"/>
          </a:solidFill>
          <a:ln w="12700">
            <a:solidFill>
              <a:srgbClr val="E6DFD0"/>
            </a:solidFill>
            <a:prstDash val="solid"/>
          </a:ln>
        </p:spPr>
      </p:sp>
      <p:sp>
        <p:nvSpPr>
          <p:cNvPr id="21" name="Text 19"/>
          <p:cNvSpPr txBox="1"/>
          <p:nvPr/>
        </p:nvSpPr>
        <p:spPr>
          <a:xfrm>
            <a:off x="4643963"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5</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Superlatives</a:t>
            </a:r>
            <a:endParaRPr lang="en-US" sz="1600" dirty="0"/>
          </a:p>
        </p:txBody>
      </p:sp>
      <p:sp>
        <p:nvSpPr>
          <p:cNvPr id="22" name="Text 20"/>
          <p:cNvSpPr txBox="1"/>
          <p:nvPr/>
        </p:nvSpPr>
        <p:spPr>
          <a:xfrm>
            <a:off x="4643963"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best, biggest, most important…</a:t>
            </a:r>
            <a:endParaRPr lang="en-US" sz="1200" dirty="0"/>
          </a:p>
        </p:txBody>
      </p:sp>
      <p:sp>
        <p:nvSpPr>
          <p:cNvPr id="23" name="Text 21"/>
          <p:cNvSpPr txBox="1"/>
          <p:nvPr/>
        </p:nvSpPr>
        <p:spPr>
          <a:xfrm>
            <a:off x="4643963"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She is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best player.</a:t>
            </a:r>
            <a:endParaRPr lang="en-US" sz="1600" dirty="0"/>
          </a:p>
        </p:txBody>
      </p:sp>
      <p:sp>
        <p:nvSpPr>
          <p:cNvPr id="24" name="Shape 22"/>
          <p:cNvSpPr/>
          <p:nvPr/>
        </p:nvSpPr>
        <p:spPr>
          <a:xfrm>
            <a:off x="7992496" y="3393156"/>
            <a:ext cx="3386663" cy="1386688"/>
          </a:xfrm>
          <a:prstGeom prst="roundRect">
            <a:avLst>
              <a:gd name="adj" fmla="val 7326"/>
            </a:avLst>
          </a:prstGeom>
          <a:solidFill>
            <a:srgbClr val="FFFDF9"/>
          </a:solidFill>
          <a:ln w="12700">
            <a:solidFill>
              <a:srgbClr val="E6DFD0"/>
            </a:solidFill>
            <a:prstDash val="solid"/>
          </a:ln>
        </p:spPr>
      </p:sp>
      <p:sp>
        <p:nvSpPr>
          <p:cNvPr id="25" name="Text 23"/>
          <p:cNvSpPr txBox="1"/>
          <p:nvPr/>
        </p:nvSpPr>
        <p:spPr>
          <a:xfrm>
            <a:off x="8233806"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6</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Order and “only”</a:t>
            </a:r>
            <a:endParaRPr lang="en-US" sz="1600" dirty="0"/>
          </a:p>
        </p:txBody>
      </p:sp>
      <p:sp>
        <p:nvSpPr>
          <p:cNvPr id="26" name="Text 24"/>
          <p:cNvSpPr txBox="1"/>
          <p:nvPr/>
        </p:nvSpPr>
        <p:spPr>
          <a:xfrm>
            <a:off x="8233806"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first, last, next, only, same</a:t>
            </a:r>
            <a:endParaRPr lang="en-US" sz="1200" dirty="0"/>
          </a:p>
        </p:txBody>
      </p:sp>
      <p:sp>
        <p:nvSpPr>
          <p:cNvPr id="27" name="Text 25"/>
          <p:cNvSpPr txBox="1"/>
          <p:nvPr/>
        </p:nvSpPr>
        <p:spPr>
          <a:xfrm>
            <a:off x="8233806" y="4249125"/>
            <a:ext cx="3000238"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first day ·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only way</a:t>
            </a:r>
            <a:endParaRPr lang="en-US" sz="1600" dirty="0"/>
          </a:p>
        </p:txBody>
      </p:sp>
      <p:sp>
        <p:nvSpPr>
          <p:cNvPr id="28" name="Text 26"/>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9" name="Text 27"/>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04 · USING THE</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Place names: the or no article?</a:t>
            </a:r>
            <a:endParaRPr lang="en-US" sz="3200" dirty="0"/>
          </a:p>
        </p:txBody>
      </p:sp>
      <p:sp>
        <p:nvSpPr>
          <p:cNvPr id="4" name="Shape 2"/>
          <p:cNvSpPr/>
          <p:nvPr/>
        </p:nvSpPr>
        <p:spPr>
          <a:xfrm>
            <a:off x="812810" y="1803288"/>
            <a:ext cx="5156210" cy="3121396"/>
          </a:xfrm>
          <a:prstGeom prst="roundRect">
            <a:avLst>
              <a:gd name="adj" fmla="val 4069"/>
            </a:avLst>
          </a:prstGeom>
          <a:solidFill>
            <a:srgbClr val="FBE8DA"/>
          </a:solidFill>
          <a:ln/>
        </p:spPr>
      </p:sp>
      <p:sp>
        <p:nvSpPr>
          <p:cNvPr id="5" name="Text 3"/>
          <p:cNvSpPr txBox="1"/>
          <p:nvPr/>
        </p:nvSpPr>
        <p:spPr>
          <a:xfrm>
            <a:off x="1066830" y="2057309"/>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2470F"/>
                </a:solidFill>
                <a:latin typeface="Calibri" pitchFamily="34" charset="0"/>
                <a:ea typeface="Calibri" pitchFamily="34" charset="-122"/>
                <a:cs typeface="Calibri" pitchFamily="34" charset="-120"/>
              </a:rPr>
              <a:t>Use the</a:t>
            </a:r>
            <a:endParaRPr lang="en-US" sz="2000" dirty="0"/>
          </a:p>
        </p:txBody>
      </p:sp>
      <p:sp>
        <p:nvSpPr>
          <p:cNvPr id="6" name="Text 4"/>
          <p:cNvSpPr txBox="1"/>
          <p:nvPr/>
        </p:nvSpPr>
        <p:spPr>
          <a:xfrm>
            <a:off x="1066830" y="2543678"/>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Rivers</a:t>
            </a:r>
            <a:endParaRPr lang="en-US" sz="1200" dirty="0"/>
          </a:p>
        </p:txBody>
      </p:sp>
      <p:sp>
        <p:nvSpPr>
          <p:cNvPr id="7" name="Text 5"/>
          <p:cNvSpPr txBox="1"/>
          <p:nvPr/>
        </p:nvSpPr>
        <p:spPr>
          <a:xfrm>
            <a:off x="2844790" y="2504359"/>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Nile,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Amazon</a:t>
            </a:r>
            <a:endParaRPr lang="en-US" sz="1600" dirty="0"/>
          </a:p>
        </p:txBody>
      </p:sp>
      <p:sp>
        <p:nvSpPr>
          <p:cNvPr id="8" name="Text 6"/>
          <p:cNvSpPr txBox="1"/>
          <p:nvPr/>
        </p:nvSpPr>
        <p:spPr>
          <a:xfrm>
            <a:off x="1066830" y="2922148"/>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Seas and oceans</a:t>
            </a:r>
            <a:endParaRPr lang="en-US" sz="1200" dirty="0"/>
          </a:p>
        </p:txBody>
      </p:sp>
      <p:sp>
        <p:nvSpPr>
          <p:cNvPr id="9" name="Text 7"/>
          <p:cNvSpPr txBox="1"/>
          <p:nvPr/>
        </p:nvSpPr>
        <p:spPr>
          <a:xfrm>
            <a:off x="2844790" y="2882737"/>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Aral Sea,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Pacific</a:t>
            </a:r>
            <a:endParaRPr lang="en-US" sz="1600" dirty="0"/>
          </a:p>
        </p:txBody>
      </p:sp>
      <p:sp>
        <p:nvSpPr>
          <p:cNvPr id="10" name="Text 8"/>
          <p:cNvSpPr txBox="1"/>
          <p:nvPr/>
        </p:nvSpPr>
        <p:spPr>
          <a:xfrm>
            <a:off x="1066830" y="3300527"/>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Mountain ranges</a:t>
            </a:r>
            <a:endParaRPr lang="en-US" sz="1200" dirty="0"/>
          </a:p>
        </p:txBody>
      </p:sp>
      <p:sp>
        <p:nvSpPr>
          <p:cNvPr id="11" name="Text 9"/>
          <p:cNvSpPr txBox="1"/>
          <p:nvPr/>
        </p:nvSpPr>
        <p:spPr>
          <a:xfrm>
            <a:off x="2844790" y="3261208"/>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Alps,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Himalayas</a:t>
            </a:r>
            <a:endParaRPr lang="en-US" sz="1600" dirty="0"/>
          </a:p>
        </p:txBody>
      </p:sp>
      <p:sp>
        <p:nvSpPr>
          <p:cNvPr id="12" name="Text 10"/>
          <p:cNvSpPr txBox="1"/>
          <p:nvPr/>
        </p:nvSpPr>
        <p:spPr>
          <a:xfrm>
            <a:off x="1066830" y="3678997"/>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Deserts</a:t>
            </a:r>
            <a:endParaRPr lang="en-US" sz="1200" dirty="0"/>
          </a:p>
        </p:txBody>
      </p:sp>
      <p:sp>
        <p:nvSpPr>
          <p:cNvPr id="13" name="Text 11"/>
          <p:cNvSpPr txBox="1"/>
          <p:nvPr/>
        </p:nvSpPr>
        <p:spPr>
          <a:xfrm>
            <a:off x="2844790" y="3639586"/>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Sahara,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Gobi</a:t>
            </a:r>
            <a:endParaRPr lang="en-US" sz="1600" dirty="0"/>
          </a:p>
        </p:txBody>
      </p:sp>
      <p:sp>
        <p:nvSpPr>
          <p:cNvPr id="14" name="Text 12"/>
          <p:cNvSpPr txBox="1"/>
          <p:nvPr/>
        </p:nvSpPr>
        <p:spPr>
          <a:xfrm>
            <a:off x="1066830" y="4057376"/>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States, Kingdom, Emirates</a:t>
            </a:r>
            <a:endParaRPr lang="en-US" sz="1200" dirty="0"/>
          </a:p>
        </p:txBody>
      </p:sp>
      <p:sp>
        <p:nvSpPr>
          <p:cNvPr id="15" name="Text 13"/>
          <p:cNvSpPr txBox="1"/>
          <p:nvPr/>
        </p:nvSpPr>
        <p:spPr>
          <a:xfrm>
            <a:off x="2844790" y="4018056"/>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USA,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UK, </a:t>
            </a:r>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UAE</a:t>
            </a:r>
            <a:endParaRPr lang="en-US" sz="1600" dirty="0"/>
          </a:p>
        </p:txBody>
      </p:sp>
      <p:sp>
        <p:nvSpPr>
          <p:cNvPr id="16" name="Text 14"/>
          <p:cNvSpPr txBox="1"/>
          <p:nvPr/>
        </p:nvSpPr>
        <p:spPr>
          <a:xfrm>
            <a:off x="1066830" y="4435846"/>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Plural names</a:t>
            </a:r>
            <a:endParaRPr lang="en-US" sz="1200" dirty="0"/>
          </a:p>
        </p:txBody>
      </p:sp>
      <p:sp>
        <p:nvSpPr>
          <p:cNvPr id="17" name="Text 15"/>
          <p:cNvSpPr txBox="1"/>
          <p:nvPr/>
        </p:nvSpPr>
        <p:spPr>
          <a:xfrm>
            <a:off x="2844790" y="4396435"/>
            <a:ext cx="296567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 Netherlands</a:t>
            </a:r>
            <a:endParaRPr lang="en-US" sz="1600" dirty="0"/>
          </a:p>
        </p:txBody>
      </p:sp>
      <p:sp>
        <p:nvSpPr>
          <p:cNvPr id="18" name="Shape 16"/>
          <p:cNvSpPr/>
          <p:nvPr/>
        </p:nvSpPr>
        <p:spPr>
          <a:xfrm>
            <a:off x="6223041" y="1803288"/>
            <a:ext cx="5156210" cy="3121396"/>
          </a:xfrm>
          <a:prstGeom prst="roundRect">
            <a:avLst>
              <a:gd name="adj" fmla="val 4069"/>
            </a:avLst>
          </a:prstGeom>
          <a:solidFill>
            <a:srgbClr val="ECEAE6"/>
          </a:solidFill>
          <a:ln/>
        </p:spPr>
      </p:sp>
      <p:sp>
        <p:nvSpPr>
          <p:cNvPr id="19" name="Text 17"/>
          <p:cNvSpPr txBox="1"/>
          <p:nvPr/>
        </p:nvSpPr>
        <p:spPr>
          <a:xfrm>
            <a:off x="6476970" y="2057309"/>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5E6675"/>
                </a:solidFill>
                <a:latin typeface="Calibri" pitchFamily="34" charset="0"/>
                <a:ea typeface="Calibri" pitchFamily="34" charset="-122"/>
                <a:cs typeface="Calibri" pitchFamily="34" charset="-120"/>
              </a:rPr>
              <a:t>No article (Ø)</a:t>
            </a:r>
            <a:endParaRPr lang="en-US" sz="2000" dirty="0"/>
          </a:p>
        </p:txBody>
      </p:sp>
      <p:sp>
        <p:nvSpPr>
          <p:cNvPr id="20" name="Text 18"/>
          <p:cNvSpPr txBox="1"/>
          <p:nvPr/>
        </p:nvSpPr>
        <p:spPr>
          <a:xfrm>
            <a:off x="6476970" y="2543678"/>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Most countries</a:t>
            </a:r>
            <a:endParaRPr lang="en-US" sz="1200" dirty="0"/>
          </a:p>
        </p:txBody>
      </p:sp>
      <p:sp>
        <p:nvSpPr>
          <p:cNvPr id="21" name="Text 19"/>
          <p:cNvSpPr txBox="1"/>
          <p:nvPr/>
        </p:nvSpPr>
        <p:spPr>
          <a:xfrm>
            <a:off x="8255020" y="2504359"/>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Uzbekistan, Japan, Brazil</a:t>
            </a:r>
            <a:endParaRPr lang="en-US" sz="1600" dirty="0"/>
          </a:p>
        </p:txBody>
      </p:sp>
      <p:sp>
        <p:nvSpPr>
          <p:cNvPr id="22" name="Text 20"/>
          <p:cNvSpPr txBox="1"/>
          <p:nvPr/>
        </p:nvSpPr>
        <p:spPr>
          <a:xfrm>
            <a:off x="6476970" y="2922148"/>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Cities</a:t>
            </a:r>
            <a:endParaRPr lang="en-US" sz="1200" dirty="0"/>
          </a:p>
        </p:txBody>
      </p:sp>
      <p:sp>
        <p:nvSpPr>
          <p:cNvPr id="23" name="Text 21"/>
          <p:cNvSpPr txBox="1"/>
          <p:nvPr/>
        </p:nvSpPr>
        <p:spPr>
          <a:xfrm>
            <a:off x="8255020" y="2882737"/>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Tashkent, London, Paris</a:t>
            </a:r>
            <a:endParaRPr lang="en-US" sz="1600" dirty="0"/>
          </a:p>
        </p:txBody>
      </p:sp>
      <p:sp>
        <p:nvSpPr>
          <p:cNvPr id="24" name="Text 22"/>
          <p:cNvSpPr txBox="1"/>
          <p:nvPr/>
        </p:nvSpPr>
        <p:spPr>
          <a:xfrm>
            <a:off x="6476970" y="3300527"/>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Continents</a:t>
            </a:r>
            <a:endParaRPr lang="en-US" sz="1200" dirty="0"/>
          </a:p>
        </p:txBody>
      </p:sp>
      <p:sp>
        <p:nvSpPr>
          <p:cNvPr id="25" name="Text 23"/>
          <p:cNvSpPr txBox="1"/>
          <p:nvPr/>
        </p:nvSpPr>
        <p:spPr>
          <a:xfrm>
            <a:off x="8255020" y="3261208"/>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Asia, Europe, Africa</a:t>
            </a:r>
            <a:endParaRPr lang="en-US" sz="1600" dirty="0"/>
          </a:p>
        </p:txBody>
      </p:sp>
      <p:sp>
        <p:nvSpPr>
          <p:cNvPr id="26" name="Text 24"/>
          <p:cNvSpPr txBox="1"/>
          <p:nvPr/>
        </p:nvSpPr>
        <p:spPr>
          <a:xfrm>
            <a:off x="6476970" y="3678997"/>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Single mountains</a:t>
            </a:r>
            <a:endParaRPr lang="en-US" sz="1200" dirty="0"/>
          </a:p>
        </p:txBody>
      </p:sp>
      <p:sp>
        <p:nvSpPr>
          <p:cNvPr id="27" name="Text 25"/>
          <p:cNvSpPr txBox="1"/>
          <p:nvPr/>
        </p:nvSpPr>
        <p:spPr>
          <a:xfrm>
            <a:off x="8255020" y="3639586"/>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Mount Everest</a:t>
            </a:r>
            <a:endParaRPr lang="en-US" sz="1600" dirty="0"/>
          </a:p>
        </p:txBody>
      </p:sp>
      <p:sp>
        <p:nvSpPr>
          <p:cNvPr id="28" name="Text 26"/>
          <p:cNvSpPr txBox="1"/>
          <p:nvPr/>
        </p:nvSpPr>
        <p:spPr>
          <a:xfrm>
            <a:off x="6476970" y="4057376"/>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Lakes</a:t>
            </a:r>
            <a:endParaRPr lang="en-US" sz="1200" dirty="0"/>
          </a:p>
        </p:txBody>
      </p:sp>
      <p:sp>
        <p:nvSpPr>
          <p:cNvPr id="29" name="Text 27"/>
          <p:cNvSpPr txBox="1"/>
          <p:nvPr/>
        </p:nvSpPr>
        <p:spPr>
          <a:xfrm>
            <a:off x="8255020" y="4018056"/>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Lake Baikal</a:t>
            </a:r>
            <a:endParaRPr lang="en-US" sz="1600" dirty="0"/>
          </a:p>
        </p:txBody>
      </p:sp>
      <p:sp>
        <p:nvSpPr>
          <p:cNvPr id="30" name="Text 28"/>
          <p:cNvSpPr txBox="1"/>
          <p:nvPr/>
        </p:nvSpPr>
        <p:spPr>
          <a:xfrm>
            <a:off x="6476970" y="4435846"/>
            <a:ext cx="1722090" cy="228600"/>
          </a:xfrm>
          <a:prstGeom prst="rect">
            <a:avLst/>
          </a:prstGeom>
          <a:noFill/>
          <a:ln/>
        </p:spPr>
        <p:txBody>
          <a:bodyPr wrap="square" lIns="0" tIns="0" rIns="0" bIns="0" rtlCol="0" anchor="t"/>
          <a:lstStyle/>
          <a:p>
            <a:pPr algn="l" indent="0" marL="0">
              <a:lnSpc>
                <a:spcPts val="1680"/>
              </a:lnSpc>
              <a:buNone/>
            </a:pPr>
            <a:r>
              <a:rPr lang="en-US" sz="1200" b="1" dirty="0">
                <a:solidFill>
                  <a:srgbClr val="3F4A5C"/>
                </a:solidFill>
                <a:latin typeface="Calibri" pitchFamily="34" charset="0"/>
                <a:ea typeface="Calibri" pitchFamily="34" charset="-122"/>
                <a:cs typeface="Calibri" pitchFamily="34" charset="-120"/>
              </a:rPr>
              <a:t>Streets</a:t>
            </a:r>
            <a:endParaRPr lang="en-US" sz="1200" dirty="0"/>
          </a:p>
        </p:txBody>
      </p:sp>
      <p:sp>
        <p:nvSpPr>
          <p:cNvPr id="31" name="Text 29"/>
          <p:cNvSpPr txBox="1"/>
          <p:nvPr/>
        </p:nvSpPr>
        <p:spPr>
          <a:xfrm>
            <a:off x="8255020" y="4396435"/>
            <a:ext cx="2965674" cy="274320"/>
          </a:xfrm>
          <a:prstGeom prst="rect">
            <a:avLst/>
          </a:prstGeom>
          <a:noFill/>
          <a:ln/>
        </p:spPr>
        <p:txBody>
          <a:bodyPr wrap="square" lIns="0" tIns="0" rIns="0" bIns="0" rtlCol="0" anchor="t"/>
          <a:lstStyle/>
          <a:p>
            <a:pPr algn="l" indent="0" marL="0">
              <a:lnSpc>
                <a:spcPts val="2080"/>
              </a:lnSpc>
              <a:buNone/>
            </a:pPr>
            <a:r>
              <a:rPr lang="en-US" sz="1600" dirty="0">
                <a:solidFill>
                  <a:srgbClr val="15233F"/>
                </a:solidFill>
                <a:latin typeface="Calibri" pitchFamily="34" charset="0"/>
                <a:ea typeface="Calibri" pitchFamily="34" charset="-122"/>
                <a:cs typeface="Calibri" pitchFamily="34" charset="-120"/>
              </a:rPr>
              <a:t>Oxford Street</a:t>
            </a:r>
            <a:endParaRPr lang="en-US" sz="1600" dirty="0"/>
          </a:p>
        </p:txBody>
      </p:sp>
      <p:sp>
        <p:nvSpPr>
          <p:cNvPr id="32" name="Text 30"/>
          <p:cNvSpPr txBox="1"/>
          <p:nvPr/>
        </p:nvSpPr>
        <p:spPr>
          <a:xfrm>
            <a:off x="812810" y="5158405"/>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Watch for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“of”</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Uzbekistan → </a:t>
            </a:r>
            <a:pPr algn="l" indent="0" marL="0">
              <a:lnSpc>
                <a:spcPts val="224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Republic of Uzbekistan</a:t>
            </a:r>
            <a:endParaRPr lang="en-US" sz="1600" dirty="0"/>
          </a:p>
        </p:txBody>
      </p:sp>
      <p:sp>
        <p:nvSpPr>
          <p:cNvPr id="33" name="Text 31"/>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34" name="Text 32"/>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04 · USING THE</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More fixed uses of the</a:t>
            </a:r>
            <a:endParaRPr lang="en-US" sz="3200" dirty="0"/>
          </a:p>
        </p:txBody>
      </p:sp>
      <p:sp>
        <p:nvSpPr>
          <p:cNvPr id="4" name="Shape 2"/>
          <p:cNvSpPr/>
          <p:nvPr/>
        </p:nvSpPr>
        <p:spPr>
          <a:xfrm>
            <a:off x="812810" y="1803288"/>
            <a:ext cx="10566441" cy="3187690"/>
          </a:xfrm>
          <a:prstGeom prst="roundRect">
            <a:avLst>
              <a:gd name="adj" fmla="val 3187"/>
            </a:avLst>
          </a:prstGeom>
          <a:ln w="12700">
            <a:solidFill>
              <a:srgbClr val="E6DFD0"/>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10" y="1803288"/>
          <a:ext cx="10566441" cy="914400"/>
        </p:xfrm>
        <a:graphic>
          <a:graphicData uri="http://schemas.openxmlformats.org/drawingml/2006/table">
            <a:tbl>
              <a:tblPr/>
              <a:tblGrid>
                <a:gridCol w="4427159"/>
                <a:gridCol w="6113861"/>
              </a:tblGrid>
              <a:tr h="396118">
                <a:tc>
                  <a:txBody>
                    <a:bodyPr/>
                    <a:lstStyle/>
                    <a:p>
                      <a:pPr indent="0" marL="0">
                        <a:lnSpc>
                          <a:spcPts val="1920"/>
                        </a:lnSpc>
                        <a:buNone/>
                      </a:pPr>
                      <a:r>
                        <a:rPr lang="en-US" sz="1600" b="1" dirty="0">
                          <a:solidFill>
                            <a:srgbClr val="F4EFE4"/>
                          </a:solidFill>
                          <a:latin typeface="Calibri" pitchFamily="34" charset="0"/>
                          <a:ea typeface="Calibri" pitchFamily="34" charset="-122"/>
                          <a:cs typeface="Calibri" pitchFamily="34" charset="-120"/>
                        </a:rPr>
                        <a:t>Group</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c>
                  <a:txBody>
                    <a:bodyPr/>
                    <a:lstStyle/>
                    <a:p>
                      <a:pPr indent="0" marL="0">
                        <a:lnSpc>
                          <a:spcPts val="1920"/>
                        </a:lnSpc>
                        <a:buNone/>
                      </a:pPr>
                      <a:r>
                        <a:rPr lang="en-US" sz="1600" b="1" dirty="0">
                          <a:solidFill>
                            <a:srgbClr val="F4A261"/>
                          </a:solidFill>
                          <a:latin typeface="Calibri" pitchFamily="34" charset="0"/>
                          <a:ea typeface="Calibri" pitchFamily="34" charset="-122"/>
                          <a:cs typeface="Calibri" pitchFamily="34" charset="-120"/>
                        </a:rPr>
                        <a:t>Examples with the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Musical instruments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play the piano, play the guitar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Groups of people (the + adjective)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rich, the young, the elderly</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Nationalities as a group</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British, the Chinese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Famous buildings and museums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Eiffel Tower, the Louvre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Newspapers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Times, the Guardian</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Decades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1990s, the 2020s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89717">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A whole family</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the Smiths, the Karimovs</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FFDF9"/>
                    </a:solidFill>
                  </a:tcPr>
                </a:tc>
              </a:tr>
            </a:tbl>
          </a:graphicData>
        </a:graphic>
      </p:graphicFrame>
      <p:sp>
        <p:nvSpPr>
          <p:cNvPr id="6" name="Shape 3"/>
          <p:cNvSpPr/>
          <p:nvPr/>
        </p:nvSpPr>
        <p:spPr>
          <a:xfrm>
            <a:off x="812810" y="1803288"/>
            <a:ext cx="10566441" cy="3187690"/>
          </a:xfrm>
          <a:prstGeom prst="rect">
            <a:avLst/>
          </a:prstGeom>
          <a:ln w="12700">
            <a:solidFill>
              <a:srgbClr val="E6DFD0"/>
            </a:solidFill>
            <a:prstDash val="solid"/>
          </a:ln>
        </p:spPr>
      </p:sp>
      <p:sp>
        <p:nvSpPr>
          <p:cNvPr id="7" name="Text 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8" name="Text 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05 · NO ARTICLE (Ø)</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No article: talking in general</a:t>
            </a:r>
            <a:endParaRPr lang="en-US" sz="3200" dirty="0"/>
          </a:p>
        </p:txBody>
      </p:sp>
      <p:sp>
        <p:nvSpPr>
          <p:cNvPr id="4" name="Text 2"/>
          <p:cNvSpPr txBox="1"/>
          <p:nvPr/>
        </p:nvSpPr>
        <p:spPr>
          <a:xfrm>
            <a:off x="812810" y="1782989"/>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When we talk about things </a:t>
            </a:r>
            <a:pPr algn="l" indent="0" marL="0">
              <a:lnSpc>
                <a:spcPts val="2240"/>
              </a:lnSpc>
              <a:buNone/>
            </a:pPr>
            <a:r>
              <a:rPr lang="en-US" sz="1600" b="1" dirty="0">
                <a:solidFill>
                  <a:srgbClr val="3F4A5C"/>
                </a:solidFill>
                <a:latin typeface="Calibri" pitchFamily="34" charset="0"/>
                <a:ea typeface="Calibri" pitchFamily="34" charset="-122"/>
                <a:cs typeface="Calibri" pitchFamily="34" charset="-120"/>
              </a:rPr>
              <a:t>in general</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(all of them, or the idea), we use plural or uncountable nouns with </a:t>
            </a:r>
            <a:pPr algn="l" indent="0" marL="0">
              <a:lnSpc>
                <a:spcPts val="2240"/>
              </a:lnSpc>
              <a:buNone/>
            </a:pPr>
            <a:r>
              <a:rPr lang="en-US" sz="1600" b="1" dirty="0">
                <a:solidFill>
                  <a:srgbClr val="3F4A5C"/>
                </a:solidFill>
                <a:latin typeface="Calibri" pitchFamily="34" charset="0"/>
                <a:ea typeface="Calibri" pitchFamily="34" charset="-122"/>
                <a:cs typeface="Calibri" pitchFamily="34" charset="-120"/>
              </a:rPr>
              <a:t>no article</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812810" y="2326508"/>
            <a:ext cx="536222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5E6675"/>
                </a:solidFill>
                <a:latin typeface="Calibri" pitchFamily="34" charset="0"/>
                <a:ea typeface="Calibri" pitchFamily="34" charset="-122"/>
                <a:cs typeface="Calibri" pitchFamily="34" charset="-120"/>
              </a:rPr>
              <a:t>GENERAL → NO ARTICLE (Ø)</a:t>
            </a:r>
            <a:endParaRPr lang="en-US" sz="1200" dirty="0"/>
          </a:p>
        </p:txBody>
      </p:sp>
      <p:sp>
        <p:nvSpPr>
          <p:cNvPr id="6" name="Text 4"/>
          <p:cNvSpPr txBox="1"/>
          <p:nvPr/>
        </p:nvSpPr>
        <p:spPr>
          <a:xfrm>
            <a:off x="6159490" y="2326508"/>
            <a:ext cx="536222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A2470F"/>
                </a:solidFill>
                <a:latin typeface="Calibri" pitchFamily="34" charset="0"/>
                <a:ea typeface="Calibri" pitchFamily="34" charset="-122"/>
                <a:cs typeface="Calibri" pitchFamily="34" charset="-120"/>
              </a:rPr>
              <a:t>SPECIFIC → THE</a:t>
            </a:r>
            <a:endParaRPr lang="en-US" sz="1200" dirty="0"/>
          </a:p>
        </p:txBody>
      </p:sp>
      <p:sp>
        <p:nvSpPr>
          <p:cNvPr id="7" name="Shape 5"/>
          <p:cNvSpPr/>
          <p:nvPr/>
        </p:nvSpPr>
        <p:spPr>
          <a:xfrm>
            <a:off x="812810" y="2682118"/>
            <a:ext cx="5219670" cy="578998"/>
          </a:xfrm>
          <a:prstGeom prst="roundRect">
            <a:avLst>
              <a:gd name="adj" fmla="val 15351"/>
            </a:avLst>
          </a:prstGeom>
          <a:solidFill>
            <a:srgbClr val="ECEAE6"/>
          </a:solidFill>
          <a:ln/>
        </p:spPr>
      </p:sp>
      <p:sp>
        <p:nvSpPr>
          <p:cNvPr id="8" name="Text 6"/>
          <p:cNvSpPr txBox="1"/>
          <p:nvPr/>
        </p:nvSpPr>
        <p:spPr>
          <a:xfrm>
            <a:off x="1015990" y="2819278"/>
            <a:ext cx="4947636" cy="289499"/>
          </a:xfrm>
          <a:prstGeom prst="rect">
            <a:avLst/>
          </a:prstGeom>
          <a:noFill/>
          <a:ln/>
        </p:spPr>
        <p:txBody>
          <a:bodyPr wrap="square" lIns="0" tIns="0" rIns="0" bIns="0" rtlCol="0" anchor="t"/>
          <a:lstStyle/>
          <a:p>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Dogs</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are loyal animals.</a:t>
            </a:r>
            <a:endParaRPr lang="en-US" sz="1600" dirty="0"/>
          </a:p>
        </p:txBody>
      </p:sp>
      <p:sp>
        <p:nvSpPr>
          <p:cNvPr id="9" name="Shape 7"/>
          <p:cNvSpPr/>
          <p:nvPr/>
        </p:nvSpPr>
        <p:spPr>
          <a:xfrm>
            <a:off x="6159490" y="2682118"/>
            <a:ext cx="5219670" cy="578998"/>
          </a:xfrm>
          <a:prstGeom prst="roundRect">
            <a:avLst>
              <a:gd name="adj" fmla="val 15351"/>
            </a:avLst>
          </a:prstGeom>
          <a:solidFill>
            <a:srgbClr val="FBE8DA"/>
          </a:solidFill>
          <a:ln/>
        </p:spPr>
      </p:sp>
      <p:sp>
        <p:nvSpPr>
          <p:cNvPr id="10" name="Text 8"/>
          <p:cNvSpPr txBox="1"/>
          <p:nvPr/>
        </p:nvSpPr>
        <p:spPr>
          <a:xfrm>
            <a:off x="6362670" y="2819278"/>
            <a:ext cx="4947636"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dogs next door are very loud.</a:t>
            </a:r>
            <a:endParaRPr lang="en-US" sz="1600" dirty="0"/>
          </a:p>
        </p:txBody>
      </p:sp>
      <p:sp>
        <p:nvSpPr>
          <p:cNvPr id="11" name="Shape 9"/>
          <p:cNvSpPr/>
          <p:nvPr/>
        </p:nvSpPr>
        <p:spPr>
          <a:xfrm>
            <a:off x="812810" y="3388126"/>
            <a:ext cx="5219670" cy="578998"/>
          </a:xfrm>
          <a:prstGeom prst="roundRect">
            <a:avLst>
              <a:gd name="adj" fmla="val 15351"/>
            </a:avLst>
          </a:prstGeom>
          <a:solidFill>
            <a:srgbClr val="ECEAE6"/>
          </a:solidFill>
          <a:ln/>
        </p:spPr>
      </p:sp>
      <p:sp>
        <p:nvSpPr>
          <p:cNvPr id="12" name="Text 10"/>
          <p:cNvSpPr txBox="1"/>
          <p:nvPr/>
        </p:nvSpPr>
        <p:spPr>
          <a:xfrm>
            <a:off x="1015990" y="352528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love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music</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159490" y="3388126"/>
            <a:ext cx="5219670" cy="578998"/>
          </a:xfrm>
          <a:prstGeom prst="roundRect">
            <a:avLst>
              <a:gd name="adj" fmla="val 15351"/>
            </a:avLst>
          </a:prstGeom>
          <a:solidFill>
            <a:srgbClr val="FBE8DA"/>
          </a:solidFill>
          <a:ln/>
        </p:spPr>
      </p:sp>
      <p:sp>
        <p:nvSpPr>
          <p:cNvPr id="14" name="Text 12"/>
          <p:cNvSpPr txBox="1"/>
          <p:nvPr/>
        </p:nvSpPr>
        <p:spPr>
          <a:xfrm>
            <a:off x="6362670" y="352528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love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music in this film.</a:t>
            </a:r>
            <a:endParaRPr lang="en-US" sz="1600" dirty="0"/>
          </a:p>
        </p:txBody>
      </p:sp>
      <p:sp>
        <p:nvSpPr>
          <p:cNvPr id="15" name="Shape 13"/>
          <p:cNvSpPr/>
          <p:nvPr/>
        </p:nvSpPr>
        <p:spPr>
          <a:xfrm>
            <a:off x="812810" y="4094135"/>
            <a:ext cx="5219670" cy="578998"/>
          </a:xfrm>
          <a:prstGeom prst="roundRect">
            <a:avLst>
              <a:gd name="adj" fmla="val 15351"/>
            </a:avLst>
          </a:prstGeom>
          <a:solidFill>
            <a:srgbClr val="ECEAE6"/>
          </a:solidFill>
          <a:ln/>
        </p:spPr>
      </p:sp>
      <p:sp>
        <p:nvSpPr>
          <p:cNvPr id="16" name="Text 14"/>
          <p:cNvSpPr txBox="1"/>
          <p:nvPr/>
        </p:nvSpPr>
        <p:spPr>
          <a:xfrm>
            <a:off x="1015990" y="4231295"/>
            <a:ext cx="4947636" cy="289499"/>
          </a:xfrm>
          <a:prstGeom prst="rect">
            <a:avLst/>
          </a:prstGeom>
          <a:noFill/>
          <a:ln/>
        </p:spPr>
        <p:txBody>
          <a:bodyPr wrap="square" lIns="0" tIns="0" rIns="0" bIns="0" rtlCol="0" anchor="t"/>
          <a:lstStyle/>
          <a:p>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Water</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is important for life.</a:t>
            </a:r>
            <a:endParaRPr lang="en-US" sz="1600" dirty="0"/>
          </a:p>
        </p:txBody>
      </p:sp>
      <p:sp>
        <p:nvSpPr>
          <p:cNvPr id="17" name="Shape 15"/>
          <p:cNvSpPr/>
          <p:nvPr/>
        </p:nvSpPr>
        <p:spPr>
          <a:xfrm>
            <a:off x="6159490" y="4094135"/>
            <a:ext cx="5219670" cy="578998"/>
          </a:xfrm>
          <a:prstGeom prst="roundRect">
            <a:avLst>
              <a:gd name="adj" fmla="val 15351"/>
            </a:avLst>
          </a:prstGeom>
          <a:solidFill>
            <a:srgbClr val="FBE8DA"/>
          </a:solidFill>
          <a:ln/>
        </p:spPr>
      </p:sp>
      <p:sp>
        <p:nvSpPr>
          <p:cNvPr id="18" name="Text 16"/>
          <p:cNvSpPr txBox="1"/>
          <p:nvPr/>
        </p:nvSpPr>
        <p:spPr>
          <a:xfrm>
            <a:off x="6362670" y="4231295"/>
            <a:ext cx="4947636"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water in this bottle is cold.</a:t>
            </a:r>
            <a:endParaRPr lang="en-US" sz="16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05 · NO ARTICLE (Ø)</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No article: common fixed groups</a:t>
            </a:r>
            <a:endParaRPr lang="en-US" sz="3200" dirty="0"/>
          </a:p>
        </p:txBody>
      </p:sp>
      <p:sp>
        <p:nvSpPr>
          <p:cNvPr id="4" name="Shape 2"/>
          <p:cNvSpPr/>
          <p:nvPr/>
        </p:nvSpPr>
        <p:spPr>
          <a:xfrm>
            <a:off x="812810" y="1803288"/>
            <a:ext cx="3386663" cy="1386688"/>
          </a:xfrm>
          <a:prstGeom prst="roundRect">
            <a:avLst>
              <a:gd name="adj" fmla="val 7326"/>
            </a:avLst>
          </a:prstGeom>
          <a:solidFill>
            <a:srgbClr val="FFFDF9"/>
          </a:solidFill>
          <a:ln w="12700">
            <a:solidFill>
              <a:srgbClr val="E6DFD0"/>
            </a:solidFill>
            <a:prstDash val="solid"/>
          </a:ln>
        </p:spPr>
      </p:sp>
      <p:sp>
        <p:nvSpPr>
          <p:cNvPr id="5" name="Text 3"/>
          <p:cNvSpPr txBox="1"/>
          <p:nvPr/>
        </p:nvSpPr>
        <p:spPr>
          <a:xfrm>
            <a:off x="1054120"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1</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Meals</a:t>
            </a:r>
            <a:endParaRPr lang="en-US" sz="1600" dirty="0"/>
          </a:p>
        </p:txBody>
      </p:sp>
      <p:sp>
        <p:nvSpPr>
          <p:cNvPr id="6" name="Text 4"/>
          <p:cNvSpPr txBox="1"/>
          <p:nvPr/>
        </p:nvSpPr>
        <p:spPr>
          <a:xfrm>
            <a:off x="1054120"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breakfast, lunch, dinner</a:t>
            </a:r>
            <a:endParaRPr lang="en-US" sz="1200" dirty="0"/>
          </a:p>
        </p:txBody>
      </p:sp>
      <p:sp>
        <p:nvSpPr>
          <p:cNvPr id="7" name="Text 5"/>
          <p:cNvSpPr txBox="1"/>
          <p:nvPr/>
        </p:nvSpPr>
        <p:spPr>
          <a:xfrm>
            <a:off x="1054120"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Let’s have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lunch</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together.</a:t>
            </a:r>
            <a:endParaRPr lang="en-US" sz="1600" dirty="0"/>
          </a:p>
        </p:txBody>
      </p:sp>
      <p:sp>
        <p:nvSpPr>
          <p:cNvPr id="8" name="Shape 6"/>
          <p:cNvSpPr/>
          <p:nvPr/>
        </p:nvSpPr>
        <p:spPr>
          <a:xfrm>
            <a:off x="4402653" y="1803288"/>
            <a:ext cx="3386663" cy="1386688"/>
          </a:xfrm>
          <a:prstGeom prst="roundRect">
            <a:avLst>
              <a:gd name="adj" fmla="val 7326"/>
            </a:avLst>
          </a:prstGeom>
          <a:solidFill>
            <a:srgbClr val="FFFDF9"/>
          </a:solidFill>
          <a:ln w="12700">
            <a:solidFill>
              <a:srgbClr val="E6DFD0"/>
            </a:solidFill>
            <a:prstDash val="solid"/>
          </a:ln>
        </p:spPr>
      </p:sp>
      <p:sp>
        <p:nvSpPr>
          <p:cNvPr id="9" name="Text 7"/>
          <p:cNvSpPr txBox="1"/>
          <p:nvPr/>
        </p:nvSpPr>
        <p:spPr>
          <a:xfrm>
            <a:off x="4643963"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2</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Sports and games</a:t>
            </a:r>
            <a:endParaRPr lang="en-US" sz="1600" dirty="0"/>
          </a:p>
        </p:txBody>
      </p:sp>
      <p:sp>
        <p:nvSpPr>
          <p:cNvPr id="10" name="Text 8"/>
          <p:cNvSpPr txBox="1"/>
          <p:nvPr/>
        </p:nvSpPr>
        <p:spPr>
          <a:xfrm>
            <a:off x="4643963"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football, tennis, chess</a:t>
            </a:r>
            <a:endParaRPr lang="en-US" sz="1200" dirty="0"/>
          </a:p>
        </p:txBody>
      </p:sp>
      <p:sp>
        <p:nvSpPr>
          <p:cNvPr id="11" name="Text 9"/>
          <p:cNvSpPr txBox="1"/>
          <p:nvPr/>
        </p:nvSpPr>
        <p:spPr>
          <a:xfrm>
            <a:off x="4643963"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We play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football</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on Sundays.</a:t>
            </a:r>
            <a:endParaRPr lang="en-US" sz="1600" dirty="0"/>
          </a:p>
        </p:txBody>
      </p:sp>
      <p:sp>
        <p:nvSpPr>
          <p:cNvPr id="12" name="Shape 10"/>
          <p:cNvSpPr/>
          <p:nvPr/>
        </p:nvSpPr>
        <p:spPr>
          <a:xfrm>
            <a:off x="7992496" y="1803288"/>
            <a:ext cx="3386663" cy="1386688"/>
          </a:xfrm>
          <a:prstGeom prst="roundRect">
            <a:avLst>
              <a:gd name="adj" fmla="val 7326"/>
            </a:avLst>
          </a:prstGeom>
          <a:solidFill>
            <a:srgbClr val="FFFDF9"/>
          </a:solidFill>
          <a:ln w="12700">
            <a:solidFill>
              <a:srgbClr val="E6DFD0"/>
            </a:solidFill>
            <a:prstDash val="solid"/>
          </a:ln>
        </p:spPr>
      </p:sp>
      <p:sp>
        <p:nvSpPr>
          <p:cNvPr id="13" name="Text 11"/>
          <p:cNvSpPr txBox="1"/>
          <p:nvPr/>
        </p:nvSpPr>
        <p:spPr>
          <a:xfrm>
            <a:off x="8233806" y="2034449"/>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3</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Languages, subjects</a:t>
            </a:r>
            <a:endParaRPr lang="en-US" sz="1600" dirty="0"/>
          </a:p>
        </p:txBody>
      </p:sp>
      <p:sp>
        <p:nvSpPr>
          <p:cNvPr id="14" name="Text 12"/>
          <p:cNvSpPr txBox="1"/>
          <p:nvPr/>
        </p:nvSpPr>
        <p:spPr>
          <a:xfrm>
            <a:off x="8233806" y="2369668"/>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English, math, history</a:t>
            </a:r>
            <a:endParaRPr lang="en-US" sz="1200" dirty="0"/>
          </a:p>
        </p:txBody>
      </p:sp>
      <p:sp>
        <p:nvSpPr>
          <p:cNvPr id="15" name="Text 13"/>
          <p:cNvSpPr txBox="1"/>
          <p:nvPr/>
        </p:nvSpPr>
        <p:spPr>
          <a:xfrm>
            <a:off x="8233806" y="2659167"/>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She speaks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English</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and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Uzbek</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12810" y="3393156"/>
            <a:ext cx="3386663" cy="1386688"/>
          </a:xfrm>
          <a:prstGeom prst="roundRect">
            <a:avLst>
              <a:gd name="adj" fmla="val 7326"/>
            </a:avLst>
          </a:prstGeom>
          <a:solidFill>
            <a:srgbClr val="FFFDF9"/>
          </a:solidFill>
          <a:ln w="12700">
            <a:solidFill>
              <a:srgbClr val="E6DFD0"/>
            </a:solidFill>
            <a:prstDash val="solid"/>
          </a:ln>
        </p:spPr>
      </p:sp>
      <p:sp>
        <p:nvSpPr>
          <p:cNvPr id="17" name="Text 15"/>
          <p:cNvSpPr txBox="1"/>
          <p:nvPr/>
        </p:nvSpPr>
        <p:spPr>
          <a:xfrm>
            <a:off x="1054120"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4</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Days and months</a:t>
            </a:r>
            <a:endParaRPr lang="en-US" sz="1600" dirty="0"/>
          </a:p>
        </p:txBody>
      </p:sp>
      <p:sp>
        <p:nvSpPr>
          <p:cNvPr id="18" name="Text 16"/>
          <p:cNvSpPr txBox="1"/>
          <p:nvPr/>
        </p:nvSpPr>
        <p:spPr>
          <a:xfrm>
            <a:off x="1054120"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Monday, July, 2026</a:t>
            </a:r>
            <a:endParaRPr lang="en-US" sz="1200" dirty="0"/>
          </a:p>
        </p:txBody>
      </p:sp>
      <p:sp>
        <p:nvSpPr>
          <p:cNvPr id="19" name="Text 17"/>
          <p:cNvSpPr txBox="1"/>
          <p:nvPr/>
        </p:nvSpPr>
        <p:spPr>
          <a:xfrm>
            <a:off x="1054120"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See you on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Monday</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4402653" y="3393156"/>
            <a:ext cx="3386663" cy="1386688"/>
          </a:xfrm>
          <a:prstGeom prst="roundRect">
            <a:avLst>
              <a:gd name="adj" fmla="val 7326"/>
            </a:avLst>
          </a:prstGeom>
          <a:solidFill>
            <a:srgbClr val="FFFDF9"/>
          </a:solidFill>
          <a:ln w="12700">
            <a:solidFill>
              <a:srgbClr val="E6DFD0"/>
            </a:solidFill>
            <a:prstDash val="solid"/>
          </a:ln>
        </p:spPr>
      </p:sp>
      <p:sp>
        <p:nvSpPr>
          <p:cNvPr id="21" name="Text 19"/>
          <p:cNvSpPr txBox="1"/>
          <p:nvPr/>
        </p:nvSpPr>
        <p:spPr>
          <a:xfrm>
            <a:off x="4643963"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5</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Names</a:t>
            </a:r>
            <a:endParaRPr lang="en-US" sz="1600" dirty="0"/>
          </a:p>
        </p:txBody>
      </p:sp>
      <p:sp>
        <p:nvSpPr>
          <p:cNvPr id="22" name="Text 20"/>
          <p:cNvSpPr txBox="1"/>
          <p:nvPr/>
        </p:nvSpPr>
        <p:spPr>
          <a:xfrm>
            <a:off x="4643963"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people, cities, most countries</a:t>
            </a:r>
            <a:endParaRPr lang="en-US" sz="1200" dirty="0"/>
          </a:p>
        </p:txBody>
      </p:sp>
      <p:sp>
        <p:nvSpPr>
          <p:cNvPr id="23" name="Text 21"/>
          <p:cNvSpPr txBox="1"/>
          <p:nvPr/>
        </p:nvSpPr>
        <p:spPr>
          <a:xfrm>
            <a:off x="4643963" y="4249125"/>
            <a:ext cx="3000238" cy="289499"/>
          </a:xfrm>
          <a:prstGeom prst="rect">
            <a:avLst/>
          </a:prstGeom>
          <a:noFill/>
          <a:ln/>
        </p:spPr>
        <p:txBody>
          <a:bodyPr wrap="square" lIns="0" tIns="0" rIns="0" bIns="0" rtlCol="0" anchor="t"/>
          <a:lstStyle/>
          <a:p>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Anna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lives in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Tashkent</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992496" y="3393156"/>
            <a:ext cx="3386663" cy="1386688"/>
          </a:xfrm>
          <a:prstGeom prst="roundRect">
            <a:avLst>
              <a:gd name="adj" fmla="val 7326"/>
            </a:avLst>
          </a:prstGeom>
          <a:solidFill>
            <a:srgbClr val="FFFDF9"/>
          </a:solidFill>
          <a:ln w="12700">
            <a:solidFill>
              <a:srgbClr val="E6DFD0"/>
            </a:solidFill>
            <a:prstDash val="solid"/>
          </a:ln>
        </p:spPr>
      </p:sp>
      <p:sp>
        <p:nvSpPr>
          <p:cNvPr id="25" name="Text 23"/>
          <p:cNvSpPr txBox="1"/>
          <p:nvPr/>
        </p:nvSpPr>
        <p:spPr>
          <a:xfrm>
            <a:off x="8233806" y="3624316"/>
            <a:ext cx="3000238"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6</a:t>
            </a:r>
            <a:pPr algn="l" indent="0" marL="0">
              <a:lnSpc>
                <a:spcPts val="2080"/>
              </a:lnSpc>
              <a:buNone/>
            </a:pPr>
            <a:r>
              <a:rPr lang="en-US" sz="1600" b="1" dirty="0">
                <a:solidFill>
                  <a:srgbClr val="15233F"/>
                </a:solidFill>
                <a:latin typeface="Calibri" pitchFamily="34" charset="0"/>
                <a:ea typeface="Calibri" pitchFamily="34" charset="-122"/>
                <a:cs typeface="Calibri" pitchFamily="34" charset="-120"/>
              </a:rPr>
              <a:t> “by” + transport</a:t>
            </a:r>
            <a:endParaRPr lang="en-US" sz="1600" dirty="0"/>
          </a:p>
        </p:txBody>
      </p:sp>
      <p:sp>
        <p:nvSpPr>
          <p:cNvPr id="26" name="Text 24"/>
          <p:cNvSpPr txBox="1"/>
          <p:nvPr/>
        </p:nvSpPr>
        <p:spPr>
          <a:xfrm>
            <a:off x="8233806" y="3959535"/>
            <a:ext cx="3000238"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bus, car, train, plane</a:t>
            </a:r>
            <a:endParaRPr lang="en-US" sz="1200" dirty="0"/>
          </a:p>
        </p:txBody>
      </p:sp>
      <p:sp>
        <p:nvSpPr>
          <p:cNvPr id="27" name="Text 25"/>
          <p:cNvSpPr txBox="1"/>
          <p:nvPr/>
        </p:nvSpPr>
        <p:spPr>
          <a:xfrm>
            <a:off x="8233806" y="4249125"/>
            <a:ext cx="3000238"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go to work by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bus</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28" name="Text 26"/>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9" name="Text 27"/>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05 · NO ARTICLE (Ø)</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“Go to school” or “go to the school”?</a:t>
            </a:r>
            <a:endParaRPr lang="en-US" sz="3200" dirty="0"/>
          </a:p>
        </p:txBody>
      </p:sp>
      <p:sp>
        <p:nvSpPr>
          <p:cNvPr id="4" name="Text 2"/>
          <p:cNvSpPr txBox="1"/>
          <p:nvPr/>
        </p:nvSpPr>
        <p:spPr>
          <a:xfrm>
            <a:off x="812810" y="1788018"/>
            <a:ext cx="536222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5E6675"/>
                </a:solidFill>
                <a:latin typeface="Calibri" pitchFamily="34" charset="0"/>
                <a:ea typeface="Calibri" pitchFamily="34" charset="-122"/>
                <a:cs typeface="Calibri" pitchFamily="34" charset="-120"/>
              </a:rPr>
              <a:t>NO ARTICLE → THE MAIN PURPOSE</a:t>
            </a:r>
            <a:endParaRPr lang="en-US" sz="1200" dirty="0"/>
          </a:p>
        </p:txBody>
      </p:sp>
      <p:sp>
        <p:nvSpPr>
          <p:cNvPr id="5" name="Text 3"/>
          <p:cNvSpPr txBox="1"/>
          <p:nvPr/>
        </p:nvSpPr>
        <p:spPr>
          <a:xfrm>
            <a:off x="6159490" y="1788018"/>
            <a:ext cx="536222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A2470F"/>
                </a:solidFill>
                <a:latin typeface="Calibri" pitchFamily="34" charset="0"/>
                <a:ea typeface="Calibri" pitchFamily="34" charset="-122"/>
                <a:cs typeface="Calibri" pitchFamily="34" charset="-120"/>
              </a:rPr>
              <a:t>THE → THE BUILDING OR THE OBJECT</a:t>
            </a:r>
            <a:endParaRPr lang="en-US" sz="1200" dirty="0"/>
          </a:p>
        </p:txBody>
      </p:sp>
      <p:sp>
        <p:nvSpPr>
          <p:cNvPr id="6" name="Shape 4"/>
          <p:cNvSpPr/>
          <p:nvPr/>
        </p:nvSpPr>
        <p:spPr>
          <a:xfrm>
            <a:off x="812810" y="2143628"/>
            <a:ext cx="5219670" cy="578998"/>
          </a:xfrm>
          <a:prstGeom prst="roundRect">
            <a:avLst>
              <a:gd name="adj" fmla="val 15351"/>
            </a:avLst>
          </a:prstGeom>
          <a:solidFill>
            <a:srgbClr val="ECEAE6"/>
          </a:solidFill>
          <a:ln/>
        </p:spPr>
      </p:sp>
      <p:sp>
        <p:nvSpPr>
          <p:cNvPr id="7" name="Text 5"/>
          <p:cNvSpPr txBox="1"/>
          <p:nvPr/>
        </p:nvSpPr>
        <p:spPr>
          <a:xfrm>
            <a:off x="1015990" y="2280788"/>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go to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school</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every day. (I study there.)</a:t>
            </a:r>
            <a:endParaRPr lang="en-US" sz="1600" dirty="0"/>
          </a:p>
        </p:txBody>
      </p:sp>
      <p:sp>
        <p:nvSpPr>
          <p:cNvPr id="8" name="Shape 6"/>
          <p:cNvSpPr/>
          <p:nvPr/>
        </p:nvSpPr>
        <p:spPr>
          <a:xfrm>
            <a:off x="6159490" y="2143628"/>
            <a:ext cx="5219670" cy="578998"/>
          </a:xfrm>
          <a:prstGeom prst="roundRect">
            <a:avLst>
              <a:gd name="adj" fmla="val 15351"/>
            </a:avLst>
          </a:prstGeom>
          <a:solidFill>
            <a:srgbClr val="FBE8DA"/>
          </a:solidFill>
          <a:ln/>
        </p:spPr>
      </p:sp>
      <p:sp>
        <p:nvSpPr>
          <p:cNvPr id="9" name="Text 7"/>
          <p:cNvSpPr txBox="1"/>
          <p:nvPr/>
        </p:nvSpPr>
        <p:spPr>
          <a:xfrm>
            <a:off x="6362670" y="2280788"/>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Parents came to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school for a meeting.</a:t>
            </a:r>
            <a:endParaRPr lang="en-US" sz="1600" dirty="0"/>
          </a:p>
        </p:txBody>
      </p:sp>
      <p:sp>
        <p:nvSpPr>
          <p:cNvPr id="10" name="Shape 8"/>
          <p:cNvSpPr/>
          <p:nvPr/>
        </p:nvSpPr>
        <p:spPr>
          <a:xfrm>
            <a:off x="812810" y="2849636"/>
            <a:ext cx="5219670" cy="578998"/>
          </a:xfrm>
          <a:prstGeom prst="roundRect">
            <a:avLst>
              <a:gd name="adj" fmla="val 15351"/>
            </a:avLst>
          </a:prstGeom>
          <a:solidFill>
            <a:srgbClr val="ECEAE6"/>
          </a:solidFill>
          <a:ln/>
        </p:spPr>
      </p:sp>
      <p:sp>
        <p:nvSpPr>
          <p:cNvPr id="11" name="Text 9"/>
          <p:cNvSpPr txBox="1"/>
          <p:nvPr/>
        </p:nvSpPr>
        <p:spPr>
          <a:xfrm>
            <a:off x="1015990" y="298679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It’s late. Time to go to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bed</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6159490" y="2849636"/>
            <a:ext cx="5219670" cy="578998"/>
          </a:xfrm>
          <a:prstGeom prst="roundRect">
            <a:avLst>
              <a:gd name="adj" fmla="val 15351"/>
            </a:avLst>
          </a:prstGeom>
          <a:solidFill>
            <a:srgbClr val="FBE8DA"/>
          </a:solidFill>
          <a:ln/>
        </p:spPr>
      </p:sp>
      <p:sp>
        <p:nvSpPr>
          <p:cNvPr id="13" name="Text 11"/>
          <p:cNvSpPr txBox="1"/>
          <p:nvPr/>
        </p:nvSpPr>
        <p:spPr>
          <a:xfrm>
            <a:off x="6362670" y="298679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Your phone is on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bed.</a:t>
            </a:r>
            <a:endParaRPr lang="en-US" sz="1600" dirty="0"/>
          </a:p>
        </p:txBody>
      </p:sp>
      <p:sp>
        <p:nvSpPr>
          <p:cNvPr id="14" name="Shape 12"/>
          <p:cNvSpPr/>
          <p:nvPr/>
        </p:nvSpPr>
        <p:spPr>
          <a:xfrm>
            <a:off x="812810" y="3555736"/>
            <a:ext cx="5219670" cy="578998"/>
          </a:xfrm>
          <a:prstGeom prst="roundRect">
            <a:avLst>
              <a:gd name="adj" fmla="val 15351"/>
            </a:avLst>
          </a:prstGeom>
          <a:solidFill>
            <a:srgbClr val="ECEAE6"/>
          </a:solidFill>
          <a:ln/>
        </p:spPr>
      </p:sp>
      <p:sp>
        <p:nvSpPr>
          <p:cNvPr id="15" name="Text 13"/>
          <p:cNvSpPr txBox="1"/>
          <p:nvPr/>
        </p:nvSpPr>
        <p:spPr>
          <a:xfrm>
            <a:off x="1015990" y="369289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He is in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hospital</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with a broken leg.</a:t>
            </a:r>
            <a:endParaRPr lang="en-US" sz="1600" dirty="0"/>
          </a:p>
        </p:txBody>
      </p:sp>
      <p:sp>
        <p:nvSpPr>
          <p:cNvPr id="16" name="Shape 14"/>
          <p:cNvSpPr/>
          <p:nvPr/>
        </p:nvSpPr>
        <p:spPr>
          <a:xfrm>
            <a:off x="6159490" y="3555736"/>
            <a:ext cx="5219670" cy="578998"/>
          </a:xfrm>
          <a:prstGeom prst="roundRect">
            <a:avLst>
              <a:gd name="adj" fmla="val 15351"/>
            </a:avLst>
          </a:prstGeom>
          <a:solidFill>
            <a:srgbClr val="FBE8DA"/>
          </a:solidFill>
          <a:ln/>
        </p:spPr>
      </p:sp>
      <p:sp>
        <p:nvSpPr>
          <p:cNvPr id="17" name="Text 15"/>
          <p:cNvSpPr txBox="1"/>
          <p:nvPr/>
        </p:nvSpPr>
        <p:spPr>
          <a:xfrm>
            <a:off x="6362670" y="3692896"/>
            <a:ext cx="4947636"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went to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hospital to visit him.</a:t>
            </a:r>
            <a:endParaRPr lang="en-US" sz="1600" dirty="0"/>
          </a:p>
        </p:txBody>
      </p:sp>
      <p:sp>
        <p:nvSpPr>
          <p:cNvPr id="18" name="Text 16"/>
          <p:cNvSpPr txBox="1"/>
          <p:nvPr/>
        </p:nvSpPr>
        <p:spPr>
          <a:xfrm>
            <a:off x="812810" y="4368455"/>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Also with no article: </a:t>
            </a:r>
            <a:pPr algn="l" indent="0" marL="0">
              <a:lnSpc>
                <a:spcPts val="2240"/>
              </a:lnSpc>
              <a:buNone/>
            </a:pPr>
            <a:r>
              <a:rPr lang="en-US" sz="1600" b="1" dirty="0">
                <a:solidFill>
                  <a:srgbClr val="3F4A5C"/>
                </a:solidFill>
                <a:latin typeface="Calibri" pitchFamily="34" charset="0"/>
                <a:ea typeface="Calibri" pitchFamily="34" charset="-122"/>
                <a:cs typeface="Calibri" pitchFamily="34" charset="-120"/>
              </a:rPr>
              <a:t>at home, at work, at night, go home.</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In American English, people usually say “in </a:t>
            </a:r>
            <a:pPr algn="l" indent="0" marL="0">
              <a:lnSpc>
                <a:spcPts val="2240"/>
              </a:lnSpc>
              <a:buNone/>
            </a:pPr>
            <a:r>
              <a:rPr lang="en-US" sz="1600" b="1" dirty="0">
                <a:solidFill>
                  <a:srgbClr val="3F4A5C"/>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 hospital”.</a:t>
            </a:r>
            <a:endParaRPr lang="en-US" sz="16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PUTTING IT TOGETHER</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One chart for every noun</a:t>
            </a:r>
            <a:endParaRPr lang="en-US" sz="3200" dirty="0"/>
          </a:p>
        </p:txBody>
      </p:sp>
      <p:sp>
        <p:nvSpPr>
          <p:cNvPr id="4" name="Text 2"/>
          <p:cNvSpPr txBox="1"/>
          <p:nvPr/>
        </p:nvSpPr>
        <p:spPr>
          <a:xfrm>
            <a:off x="3657600" y="1833738"/>
            <a:ext cx="3613434" cy="304770"/>
          </a:xfrm>
          <a:prstGeom prst="rect">
            <a:avLst/>
          </a:prstGeom>
          <a:noFill/>
          <a:ln/>
        </p:spPr>
        <p:txBody>
          <a:bodyPr wrap="square" lIns="0" tIns="0" rIns="0" bIns="0" rtlCol="0" anchor="t"/>
          <a:lstStyle/>
          <a:p>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Singular countable</a:t>
            </a:r>
            <a:endParaRPr lang="en-US" sz="1600" dirty="0"/>
          </a:p>
        </p:txBody>
      </p:sp>
      <p:sp>
        <p:nvSpPr>
          <p:cNvPr id="5" name="Text 3"/>
          <p:cNvSpPr txBox="1"/>
          <p:nvPr/>
        </p:nvSpPr>
        <p:spPr>
          <a:xfrm>
            <a:off x="3657600" y="2148749"/>
            <a:ext cx="361343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one book, one apple</a:t>
            </a:r>
            <a:endParaRPr lang="en-US" sz="1200" dirty="0"/>
          </a:p>
        </p:txBody>
      </p:sp>
      <p:sp>
        <p:nvSpPr>
          <p:cNvPr id="6" name="Text 4"/>
          <p:cNvSpPr txBox="1"/>
          <p:nvPr/>
        </p:nvSpPr>
        <p:spPr>
          <a:xfrm>
            <a:off x="7670810" y="1833738"/>
            <a:ext cx="3613434" cy="304770"/>
          </a:xfrm>
          <a:prstGeom prst="rect">
            <a:avLst/>
          </a:prstGeom>
          <a:noFill/>
          <a:ln/>
        </p:spPr>
        <p:txBody>
          <a:bodyPr wrap="square" lIns="0" tIns="0" rIns="0" bIns="0" rtlCol="0" anchor="t"/>
          <a:lstStyle/>
          <a:p>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Plural or uncountable</a:t>
            </a:r>
            <a:endParaRPr lang="en-US" sz="1600" dirty="0"/>
          </a:p>
        </p:txBody>
      </p:sp>
      <p:sp>
        <p:nvSpPr>
          <p:cNvPr id="7" name="Text 5"/>
          <p:cNvSpPr txBox="1"/>
          <p:nvPr/>
        </p:nvSpPr>
        <p:spPr>
          <a:xfrm>
            <a:off x="7670810" y="2148749"/>
            <a:ext cx="361343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books, water, music</a:t>
            </a:r>
            <a:endParaRPr lang="en-US" sz="1200" dirty="0"/>
          </a:p>
        </p:txBody>
      </p:sp>
      <p:sp>
        <p:nvSpPr>
          <p:cNvPr id="8" name="Shape 6"/>
          <p:cNvSpPr/>
          <p:nvPr/>
        </p:nvSpPr>
        <p:spPr>
          <a:xfrm>
            <a:off x="812810" y="2529688"/>
            <a:ext cx="2540020" cy="1188629"/>
          </a:xfrm>
          <a:prstGeom prst="roundRect">
            <a:avLst>
              <a:gd name="adj" fmla="val 8547"/>
            </a:avLst>
          </a:prstGeom>
          <a:solidFill>
            <a:srgbClr val="15233F"/>
          </a:solidFill>
          <a:ln/>
        </p:spPr>
      </p:sp>
      <p:sp>
        <p:nvSpPr>
          <p:cNvPr id="9" name="Text 7"/>
          <p:cNvSpPr txBox="1"/>
          <p:nvPr/>
        </p:nvSpPr>
        <p:spPr>
          <a:xfrm>
            <a:off x="1015990" y="2842047"/>
            <a:ext cx="2214402" cy="304770"/>
          </a:xfrm>
          <a:prstGeom prst="rect">
            <a:avLst/>
          </a:prstGeom>
          <a:noFill/>
          <a:ln/>
        </p:spPr>
        <p:txBody>
          <a:bodyPr wrap="square" lIns="0" tIns="0" rIns="0" bIns="0" rtlCol="0" anchor="t"/>
          <a:lstStyle/>
          <a:p>
            <a:pPr algn="l" indent="0" marL="0">
              <a:lnSpc>
                <a:spcPts val="2240"/>
              </a:lnSpc>
              <a:buNone/>
            </a:pPr>
            <a:r>
              <a:rPr lang="en-US" sz="1600" b="1" dirty="0">
                <a:solidFill>
                  <a:srgbClr val="F4EFE4"/>
                </a:solidFill>
                <a:latin typeface="Calibri" pitchFamily="34" charset="0"/>
                <a:ea typeface="Calibri" pitchFamily="34" charset="-122"/>
                <a:cs typeface="Calibri" pitchFamily="34" charset="-120"/>
              </a:rPr>
              <a:t>Specific</a:t>
            </a:r>
            <a:endParaRPr lang="en-US" sz="1600" dirty="0"/>
          </a:p>
        </p:txBody>
      </p:sp>
      <p:sp>
        <p:nvSpPr>
          <p:cNvPr id="10" name="Text 8"/>
          <p:cNvSpPr txBox="1"/>
          <p:nvPr/>
        </p:nvSpPr>
        <p:spPr>
          <a:xfrm>
            <a:off x="1015990" y="3156966"/>
            <a:ext cx="2214402" cy="228600"/>
          </a:xfrm>
          <a:prstGeom prst="rect">
            <a:avLst/>
          </a:prstGeom>
          <a:noFill/>
          <a:ln/>
        </p:spPr>
        <p:txBody>
          <a:bodyPr wrap="square" lIns="0" tIns="0" rIns="0" bIns="0" rtlCol="0" anchor="t"/>
          <a:lstStyle/>
          <a:p>
            <a:pPr algn="l" indent="0" marL="0">
              <a:lnSpc>
                <a:spcPts val="1680"/>
              </a:lnSpc>
              <a:buNone/>
            </a:pPr>
            <a:r>
              <a:rPr lang="en-US" sz="1200" dirty="0">
                <a:solidFill>
                  <a:srgbClr val="C9D1DE"/>
                </a:solidFill>
                <a:latin typeface="Calibri" pitchFamily="34" charset="0"/>
                <a:ea typeface="Calibri" pitchFamily="34" charset="-122"/>
                <a:cs typeface="Calibri" pitchFamily="34" charset="-120"/>
              </a:rPr>
              <a:t>We both know which one</a:t>
            </a:r>
            <a:endParaRPr lang="en-US" sz="1200" dirty="0"/>
          </a:p>
        </p:txBody>
      </p:sp>
      <p:sp>
        <p:nvSpPr>
          <p:cNvPr id="11" name="Shape 9"/>
          <p:cNvSpPr/>
          <p:nvPr/>
        </p:nvSpPr>
        <p:spPr>
          <a:xfrm>
            <a:off x="3454420" y="2529688"/>
            <a:ext cx="3911620" cy="1188629"/>
          </a:xfrm>
          <a:prstGeom prst="roundRect">
            <a:avLst>
              <a:gd name="adj" fmla="val 8547"/>
            </a:avLst>
          </a:prstGeom>
          <a:solidFill>
            <a:srgbClr val="FBE8DA"/>
          </a:solidFill>
          <a:ln/>
        </p:spPr>
      </p:sp>
      <p:sp>
        <p:nvSpPr>
          <p:cNvPr id="12" name="Text 10"/>
          <p:cNvSpPr txBox="1"/>
          <p:nvPr/>
        </p:nvSpPr>
        <p:spPr>
          <a:xfrm>
            <a:off x="3657600" y="2732867"/>
            <a:ext cx="3613434" cy="446959"/>
          </a:xfrm>
          <a:prstGeom prst="rect">
            <a:avLst/>
          </a:prstGeom>
          <a:noFill/>
          <a:ln/>
        </p:spPr>
        <p:txBody>
          <a:bodyPr wrap="square" lIns="0" tIns="0" rIns="0" bIns="0" rtlCol="0" anchor="t"/>
          <a:lstStyle/>
          <a:p>
            <a:pPr algn="l" indent="0" marL="0">
              <a:lnSpc>
                <a:spcPts val="3520"/>
              </a:lnSpc>
              <a:buNone/>
            </a:pPr>
            <a:r>
              <a:rPr lang="en-US" sz="3200" b="1" dirty="0">
                <a:solidFill>
                  <a:srgbClr val="A2470F"/>
                </a:solidFill>
                <a:latin typeface="Cambria" pitchFamily="34" charset="0"/>
                <a:ea typeface="Cambria" pitchFamily="34" charset="-122"/>
                <a:cs typeface="Cambria" pitchFamily="34" charset="-120"/>
              </a:rPr>
              <a:t>the</a:t>
            </a:r>
            <a:endParaRPr lang="en-US" sz="3200" dirty="0"/>
          </a:p>
        </p:txBody>
      </p:sp>
      <p:sp>
        <p:nvSpPr>
          <p:cNvPr id="13" name="Text 11"/>
          <p:cNvSpPr txBox="1"/>
          <p:nvPr/>
        </p:nvSpPr>
        <p:spPr>
          <a:xfrm>
            <a:off x="3657600" y="3210367"/>
            <a:ext cx="3613434" cy="304770"/>
          </a:xfrm>
          <a:prstGeom prst="rect">
            <a:avLst/>
          </a:prstGeom>
          <a:noFill/>
          <a:ln/>
        </p:spPr>
        <p:txBody>
          <a:bodyPr wrap="square" lIns="0" tIns="0" rIns="0" bIns="0" rtlCol="0" anchor="t"/>
          <a:lstStyle/>
          <a:p>
            <a:pPr algn="l" indent="0" marL="0">
              <a:lnSpc>
                <a:spcPts val="224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book · </a:t>
            </a:r>
            <a:pPr algn="l" indent="0" marL="0">
              <a:lnSpc>
                <a:spcPts val="224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apple</a:t>
            </a:r>
            <a:endParaRPr lang="en-US" sz="1600" dirty="0"/>
          </a:p>
        </p:txBody>
      </p:sp>
      <p:sp>
        <p:nvSpPr>
          <p:cNvPr id="14" name="Shape 12"/>
          <p:cNvSpPr/>
          <p:nvPr/>
        </p:nvSpPr>
        <p:spPr>
          <a:xfrm>
            <a:off x="7467630" y="2529688"/>
            <a:ext cx="3911620" cy="1188629"/>
          </a:xfrm>
          <a:prstGeom prst="roundRect">
            <a:avLst>
              <a:gd name="adj" fmla="val 8547"/>
            </a:avLst>
          </a:prstGeom>
          <a:solidFill>
            <a:srgbClr val="FBE8DA"/>
          </a:solidFill>
          <a:ln/>
        </p:spPr>
      </p:sp>
      <p:sp>
        <p:nvSpPr>
          <p:cNvPr id="15" name="Text 13"/>
          <p:cNvSpPr txBox="1"/>
          <p:nvPr/>
        </p:nvSpPr>
        <p:spPr>
          <a:xfrm>
            <a:off x="7670810" y="2732867"/>
            <a:ext cx="3613434" cy="446959"/>
          </a:xfrm>
          <a:prstGeom prst="rect">
            <a:avLst/>
          </a:prstGeom>
          <a:noFill/>
          <a:ln/>
        </p:spPr>
        <p:txBody>
          <a:bodyPr wrap="square" lIns="0" tIns="0" rIns="0" bIns="0" rtlCol="0" anchor="t"/>
          <a:lstStyle/>
          <a:p>
            <a:pPr algn="l" indent="0" marL="0">
              <a:lnSpc>
                <a:spcPts val="3520"/>
              </a:lnSpc>
              <a:buNone/>
            </a:pPr>
            <a:r>
              <a:rPr lang="en-US" sz="3200" b="1" dirty="0">
                <a:solidFill>
                  <a:srgbClr val="A2470F"/>
                </a:solidFill>
                <a:latin typeface="Cambria" pitchFamily="34" charset="0"/>
                <a:ea typeface="Cambria" pitchFamily="34" charset="-122"/>
                <a:cs typeface="Cambria" pitchFamily="34" charset="-120"/>
              </a:rPr>
              <a:t>the</a:t>
            </a:r>
            <a:endParaRPr lang="en-US" sz="3200" dirty="0"/>
          </a:p>
        </p:txBody>
      </p:sp>
      <p:sp>
        <p:nvSpPr>
          <p:cNvPr id="16" name="Text 14"/>
          <p:cNvSpPr txBox="1"/>
          <p:nvPr/>
        </p:nvSpPr>
        <p:spPr>
          <a:xfrm>
            <a:off x="7670810" y="3210367"/>
            <a:ext cx="3613434" cy="304770"/>
          </a:xfrm>
          <a:prstGeom prst="rect">
            <a:avLst/>
          </a:prstGeom>
          <a:noFill/>
          <a:ln/>
        </p:spPr>
        <p:txBody>
          <a:bodyPr wrap="square" lIns="0" tIns="0" rIns="0" bIns="0" rtlCol="0" anchor="t"/>
          <a:lstStyle/>
          <a:p>
            <a:pPr algn="l" indent="0" marL="0">
              <a:lnSpc>
                <a:spcPts val="224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books · </a:t>
            </a:r>
            <a:pPr algn="l" indent="0" marL="0">
              <a:lnSpc>
                <a:spcPts val="224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water</a:t>
            </a:r>
            <a:endParaRPr lang="en-US" sz="1600" dirty="0"/>
          </a:p>
        </p:txBody>
      </p:sp>
      <p:sp>
        <p:nvSpPr>
          <p:cNvPr id="17" name="Shape 15"/>
          <p:cNvSpPr/>
          <p:nvPr/>
        </p:nvSpPr>
        <p:spPr>
          <a:xfrm>
            <a:off x="812810" y="3819906"/>
            <a:ext cx="2540020" cy="1188629"/>
          </a:xfrm>
          <a:prstGeom prst="roundRect">
            <a:avLst>
              <a:gd name="adj" fmla="val 8547"/>
            </a:avLst>
          </a:prstGeom>
          <a:solidFill>
            <a:srgbClr val="15233F"/>
          </a:solidFill>
          <a:ln/>
        </p:spPr>
      </p:sp>
      <p:sp>
        <p:nvSpPr>
          <p:cNvPr id="18" name="Text 16"/>
          <p:cNvSpPr txBox="1"/>
          <p:nvPr/>
        </p:nvSpPr>
        <p:spPr>
          <a:xfrm>
            <a:off x="1015990" y="4132265"/>
            <a:ext cx="2214402" cy="304770"/>
          </a:xfrm>
          <a:prstGeom prst="rect">
            <a:avLst/>
          </a:prstGeom>
          <a:noFill/>
          <a:ln/>
        </p:spPr>
        <p:txBody>
          <a:bodyPr wrap="square" lIns="0" tIns="0" rIns="0" bIns="0" rtlCol="0" anchor="t"/>
          <a:lstStyle/>
          <a:p>
            <a:pPr algn="l" indent="0" marL="0">
              <a:lnSpc>
                <a:spcPts val="2240"/>
              </a:lnSpc>
              <a:buNone/>
            </a:pPr>
            <a:r>
              <a:rPr lang="en-US" sz="1600" b="1" dirty="0">
                <a:solidFill>
                  <a:srgbClr val="F4EFE4"/>
                </a:solidFill>
                <a:latin typeface="Calibri" pitchFamily="34" charset="0"/>
                <a:ea typeface="Calibri" pitchFamily="34" charset="-122"/>
                <a:cs typeface="Calibri" pitchFamily="34" charset="-120"/>
              </a:rPr>
              <a:t>General</a:t>
            </a:r>
            <a:endParaRPr lang="en-US" sz="1600" dirty="0"/>
          </a:p>
        </p:txBody>
      </p:sp>
      <p:sp>
        <p:nvSpPr>
          <p:cNvPr id="19" name="Text 17"/>
          <p:cNvSpPr txBox="1"/>
          <p:nvPr/>
        </p:nvSpPr>
        <p:spPr>
          <a:xfrm>
            <a:off x="1015990" y="4447184"/>
            <a:ext cx="2214402" cy="228600"/>
          </a:xfrm>
          <a:prstGeom prst="rect">
            <a:avLst/>
          </a:prstGeom>
          <a:noFill/>
          <a:ln/>
        </p:spPr>
        <p:txBody>
          <a:bodyPr wrap="square" lIns="0" tIns="0" rIns="0" bIns="0" rtlCol="0" anchor="t"/>
          <a:lstStyle/>
          <a:p>
            <a:pPr algn="l" indent="0" marL="0">
              <a:lnSpc>
                <a:spcPts val="1680"/>
              </a:lnSpc>
              <a:buNone/>
            </a:pPr>
            <a:r>
              <a:rPr lang="en-US" sz="1200" dirty="0">
                <a:solidFill>
                  <a:srgbClr val="C9D1DE"/>
                </a:solidFill>
                <a:latin typeface="Calibri" pitchFamily="34" charset="0"/>
                <a:ea typeface="Calibri" pitchFamily="34" charset="-122"/>
                <a:cs typeface="Calibri" pitchFamily="34" charset="-120"/>
              </a:rPr>
              <a:t>Any one, or things in general</a:t>
            </a:r>
            <a:endParaRPr lang="en-US" sz="1200" dirty="0"/>
          </a:p>
        </p:txBody>
      </p:sp>
      <p:sp>
        <p:nvSpPr>
          <p:cNvPr id="20" name="Shape 18"/>
          <p:cNvSpPr/>
          <p:nvPr/>
        </p:nvSpPr>
        <p:spPr>
          <a:xfrm>
            <a:off x="3454420" y="3819906"/>
            <a:ext cx="3911620" cy="1188629"/>
          </a:xfrm>
          <a:prstGeom prst="roundRect">
            <a:avLst>
              <a:gd name="adj" fmla="val 8547"/>
            </a:avLst>
          </a:prstGeom>
          <a:solidFill>
            <a:srgbClr val="E4EBFA"/>
          </a:solidFill>
          <a:ln/>
        </p:spPr>
      </p:sp>
      <p:sp>
        <p:nvSpPr>
          <p:cNvPr id="21" name="Text 19"/>
          <p:cNvSpPr txBox="1"/>
          <p:nvPr/>
        </p:nvSpPr>
        <p:spPr>
          <a:xfrm>
            <a:off x="3657600" y="4023086"/>
            <a:ext cx="3613434"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 / an</a:t>
            </a:r>
            <a:endParaRPr lang="en-US" sz="3200" dirty="0"/>
          </a:p>
        </p:txBody>
      </p:sp>
      <p:sp>
        <p:nvSpPr>
          <p:cNvPr id="22" name="Text 20"/>
          <p:cNvSpPr txBox="1"/>
          <p:nvPr/>
        </p:nvSpPr>
        <p:spPr>
          <a:xfrm>
            <a:off x="3657600" y="4500585"/>
            <a:ext cx="3613434" cy="304770"/>
          </a:xfrm>
          <a:prstGeom prst="rect">
            <a:avLst/>
          </a:prstGeom>
          <a:noFill/>
          <a:ln/>
        </p:spPr>
        <p:txBody>
          <a:bodyPr wrap="square" lIns="0" tIns="0" rIns="0" bIns="0" rtlCol="0" anchor="t"/>
          <a:lstStyle/>
          <a:p>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book · </a:t>
            </a:r>
            <a:pPr algn="l" indent="0" marL="0">
              <a:lnSpc>
                <a:spcPts val="224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apple</a:t>
            </a:r>
            <a:endParaRPr lang="en-US" sz="1600" dirty="0"/>
          </a:p>
        </p:txBody>
      </p:sp>
      <p:sp>
        <p:nvSpPr>
          <p:cNvPr id="23" name="Shape 21"/>
          <p:cNvSpPr/>
          <p:nvPr/>
        </p:nvSpPr>
        <p:spPr>
          <a:xfrm>
            <a:off x="7467630" y="3819906"/>
            <a:ext cx="3911620" cy="1188629"/>
          </a:xfrm>
          <a:prstGeom prst="roundRect">
            <a:avLst>
              <a:gd name="adj" fmla="val 8547"/>
            </a:avLst>
          </a:prstGeom>
          <a:solidFill>
            <a:srgbClr val="ECEAE6"/>
          </a:solidFill>
          <a:ln/>
        </p:spPr>
      </p:sp>
      <p:sp>
        <p:nvSpPr>
          <p:cNvPr id="24" name="Text 22"/>
          <p:cNvSpPr txBox="1"/>
          <p:nvPr/>
        </p:nvSpPr>
        <p:spPr>
          <a:xfrm>
            <a:off x="7670810" y="4023086"/>
            <a:ext cx="3613434" cy="446959"/>
          </a:xfrm>
          <a:prstGeom prst="rect">
            <a:avLst/>
          </a:prstGeom>
          <a:noFill/>
          <a:ln/>
        </p:spPr>
        <p:txBody>
          <a:bodyPr wrap="square" lIns="0" tIns="0" rIns="0" bIns="0" rtlCol="0" anchor="t"/>
          <a:lstStyle/>
          <a:p>
            <a:pPr algn="l" indent="0" marL="0">
              <a:lnSpc>
                <a:spcPts val="3520"/>
              </a:lnSpc>
              <a:buNone/>
            </a:pPr>
            <a:r>
              <a:rPr lang="en-US" sz="3200" b="1" dirty="0">
                <a:solidFill>
                  <a:srgbClr val="5E6675"/>
                </a:solidFill>
                <a:latin typeface="Cambria" pitchFamily="34" charset="0"/>
                <a:ea typeface="Cambria" pitchFamily="34" charset="-122"/>
                <a:cs typeface="Cambria" pitchFamily="34" charset="-120"/>
              </a:rPr>
              <a:t>Ø</a:t>
            </a:r>
            <a:endParaRPr lang="en-US" sz="3200" dirty="0"/>
          </a:p>
        </p:txBody>
      </p:sp>
      <p:sp>
        <p:nvSpPr>
          <p:cNvPr id="25" name="Text 23"/>
          <p:cNvSpPr txBox="1"/>
          <p:nvPr/>
        </p:nvSpPr>
        <p:spPr>
          <a:xfrm>
            <a:off x="7670810" y="4500585"/>
            <a:ext cx="3613434" cy="304770"/>
          </a:xfrm>
          <a:prstGeom prst="rect">
            <a:avLst/>
          </a:prstGeom>
          <a:noFill/>
          <a:ln/>
        </p:spPr>
        <p:txBody>
          <a:bodyPr wrap="square" lIns="0" tIns="0" rIns="0" bIns="0" rtlCol="0" anchor="t"/>
          <a:lstStyle/>
          <a:p>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books · water · music</a:t>
            </a:r>
            <a:endParaRPr lang="en-US" sz="1600" dirty="0"/>
          </a:p>
        </p:txBody>
      </p:sp>
      <p:sp>
        <p:nvSpPr>
          <p:cNvPr id="26" name="Text 24"/>
          <p:cNvSpPr txBox="1"/>
          <p:nvPr/>
        </p:nvSpPr>
        <p:spPr>
          <a:xfrm>
            <a:off x="812810" y="5242255"/>
            <a:ext cx="10815798" cy="304770"/>
          </a:xfrm>
          <a:prstGeom prst="rect">
            <a:avLst/>
          </a:prstGeom>
          <a:noFill/>
          <a:ln/>
        </p:spPr>
        <p:txBody>
          <a:bodyPr wrap="square" lIns="0" tIns="0" rIns="0" bIns="0" rtlCol="0" anchor="t"/>
          <a:lstStyle/>
          <a:p>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Then, for a / an:</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check the first </a:t>
            </a:r>
            <a:pPr algn="l" indent="0" marL="0">
              <a:lnSpc>
                <a:spcPts val="2240"/>
              </a:lnSpc>
              <a:buNone/>
            </a:pPr>
            <a:r>
              <a:rPr lang="en-US" sz="1600" b="1" dirty="0">
                <a:solidFill>
                  <a:srgbClr val="15233F"/>
                </a:solidFill>
                <a:latin typeface="Calibri" pitchFamily="34" charset="0"/>
                <a:ea typeface="Calibri" pitchFamily="34" charset="-122"/>
                <a:cs typeface="Calibri" pitchFamily="34" charset="-120"/>
              </a:rPr>
              <a:t>sound</a:t>
            </a:r>
            <a:pPr algn="l" indent="0" marL="0">
              <a:lnSpc>
                <a:spcPts val="2240"/>
              </a:lnSpc>
              <a:buNone/>
            </a:pPr>
            <a:r>
              <a:rPr lang="en-US" sz="1600" dirty="0">
                <a:solidFill>
                  <a:srgbClr val="15233F"/>
                </a:solidFill>
                <a:latin typeface="Calibri" pitchFamily="34" charset="0"/>
                <a:ea typeface="Calibri" pitchFamily="34" charset="-122"/>
                <a:cs typeface="Calibri" pitchFamily="34" charset="-120"/>
              </a:rPr>
              <a:t> of the next word.</a:t>
            </a:r>
            <a:endParaRPr lang="en-US" sz="1600" dirty="0"/>
          </a:p>
        </p:txBody>
      </p:sp>
      <p:sp>
        <p:nvSpPr>
          <p:cNvPr id="27" name="Text 25"/>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28" name="Text 26"/>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PUTTING IT TOGETHER</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Common mistakes and how to fix them</a:t>
            </a:r>
            <a:endParaRPr lang="en-US" sz="3200" dirty="0"/>
          </a:p>
        </p:txBody>
      </p:sp>
      <p:sp>
        <p:nvSpPr>
          <p:cNvPr id="4" name="Text 2"/>
          <p:cNvSpPr txBox="1"/>
          <p:nvPr/>
        </p:nvSpPr>
        <p:spPr>
          <a:xfrm>
            <a:off x="812810" y="1605138"/>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Uzbek and Russian have no articles, so these mistakes are very common, and easy to fix.</a:t>
            </a:r>
            <a:endParaRPr lang="en-US" sz="1600" dirty="0"/>
          </a:p>
        </p:txBody>
      </p:sp>
      <p:sp>
        <p:nvSpPr>
          <p:cNvPr id="5" name="Shape 3"/>
          <p:cNvSpPr/>
          <p:nvPr/>
        </p:nvSpPr>
        <p:spPr>
          <a:xfrm>
            <a:off x="812810" y="2163928"/>
            <a:ext cx="10566441" cy="3187690"/>
          </a:xfrm>
          <a:prstGeom prst="roundRect">
            <a:avLst>
              <a:gd name="adj" fmla="val 3187"/>
            </a:avLst>
          </a:prstGeom>
          <a:ln w="12700">
            <a:solidFill>
              <a:srgbClr val="E6DFD0"/>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10" y="2163928"/>
          <a:ext cx="10566441" cy="914400"/>
        </p:xfrm>
        <a:graphic>
          <a:graphicData uri="http://schemas.openxmlformats.org/drawingml/2006/table">
            <a:tbl>
              <a:tblPr/>
              <a:tblGrid>
                <a:gridCol w="3478469"/>
                <a:gridCol w="3900099"/>
                <a:gridCol w="3162361"/>
              </a:tblGrid>
              <a:tr h="396118">
                <a:tc>
                  <a:txBody>
                    <a:bodyPr/>
                    <a:lstStyle/>
                    <a:p>
                      <a:pPr indent="0" marL="0">
                        <a:lnSpc>
                          <a:spcPts val="1920"/>
                        </a:lnSpc>
                        <a:buNone/>
                      </a:pPr>
                      <a:r>
                        <a:rPr lang="en-US" sz="1600" b="1" dirty="0">
                          <a:solidFill>
                            <a:srgbClr val="FFB4A8"/>
                          </a:solidFill>
                          <a:latin typeface="Calibri" pitchFamily="34" charset="0"/>
                          <a:ea typeface="Calibri" pitchFamily="34" charset="-122"/>
                          <a:cs typeface="Calibri" pitchFamily="34" charset="-120"/>
                        </a:rPr>
                        <a:t>Wrong</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c>
                  <a:txBody>
                    <a:bodyPr/>
                    <a:lstStyle/>
                    <a:p>
                      <a:pPr indent="0" marL="0">
                        <a:lnSpc>
                          <a:spcPts val="1920"/>
                        </a:lnSpc>
                        <a:buNone/>
                      </a:pPr>
                      <a:r>
                        <a:rPr lang="en-US" sz="1600" b="1" dirty="0">
                          <a:solidFill>
                            <a:srgbClr val="A8E0C4"/>
                          </a:solidFill>
                          <a:latin typeface="Calibri" pitchFamily="34" charset="0"/>
                          <a:ea typeface="Calibri" pitchFamily="34" charset="-122"/>
                          <a:cs typeface="Calibri" pitchFamily="34" charset="-120"/>
                        </a:rPr>
                        <a:t>Right</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c>
                  <a:txBody>
                    <a:bodyPr/>
                    <a:lstStyle/>
                    <a:p>
                      <a:pPr indent="0" marL="0">
                        <a:lnSpc>
                          <a:spcPts val="1920"/>
                        </a:lnSpc>
                        <a:buNone/>
                      </a:pPr>
                      <a:r>
                        <a:rPr lang="en-US" sz="1600" b="1" dirty="0">
                          <a:solidFill>
                            <a:srgbClr val="F4EFE4"/>
                          </a:solidFill>
                          <a:latin typeface="Calibri" pitchFamily="34" charset="0"/>
                          <a:ea typeface="Calibri" pitchFamily="34" charset="-122"/>
                          <a:cs typeface="Calibri" pitchFamily="34" charset="-120"/>
                        </a:rPr>
                        <a:t>Why</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15233F"/>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She is doctor.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She is a doctor.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Jobs take a / an.</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I waited a hour.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I waited an hour.</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Silent h: vowel sound.</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The life is short.</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Life is short.</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General idea: Ø.</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Sun is hot today.</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The sun is hot today.</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Only one exists.</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I play the football.</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I play football.</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Sports: Ø.</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FFDF9"/>
                    </a:solidFill>
                  </a:tcPr>
                </a:tc>
              </a:tr>
              <a:tr h="396118">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Give me an advice.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Give me some advice.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Advice is uncountable.</a:t>
                      </a:r>
                      <a:endParaRPr lang="en-US" sz="1200" dirty="0"/>
                    </a:p>
                  </a:txBody>
                  <a:tcPr marL="121920" marR="121920" marT="71120" marB="71120" anchor="ctr">
                    <a:lnL w="0" cap="flat" cmpd="sng" algn="ctr">
                      <a:noFill/>
                    </a:lnL>
                    <a:lnR w="0" cap="flat" cmpd="sng" algn="ctr">
                      <a:noFill/>
                    </a:lnR>
                    <a:lnT w="0" cap="flat" cmpd="sng" algn="ctr">
                      <a:noFill/>
                    </a:lnT>
                    <a:lnB w="6350" cap="flat" cmpd="sng" algn="ctr">
                      <a:solidFill>
                        <a:srgbClr val="DFDEDB"/>
                      </a:solidFill>
                      <a:prstDash val="solid"/>
                      <a:round/>
                      <a:headEnd type="none" w="med" len="med"/>
                      <a:tailEnd type="none" w="med" len="med"/>
                    </a:lnB>
                    <a:solidFill>
                      <a:srgbClr val="F3EEE4"/>
                    </a:solidFill>
                  </a:tcPr>
                </a:tc>
              </a:tr>
              <a:tr h="389717">
                <a:tc>
                  <a:txBody>
                    <a:bodyPr/>
                    <a:lstStyle/>
                    <a:p>
                      <a:pPr indent="0" marL="0">
                        <a:lnSpc>
                          <a:spcPts val="1920"/>
                        </a:lnSpc>
                        <a:buNone/>
                      </a:pPr>
                      <a:r>
                        <a:rPr lang="en-US" sz="1600" dirty="0">
                          <a:solidFill>
                            <a:srgbClr val="A33A3A"/>
                          </a:solidFill>
                          <a:latin typeface="Calibri" pitchFamily="34" charset="0"/>
                          <a:ea typeface="Calibri" pitchFamily="34" charset="-122"/>
                          <a:cs typeface="Calibri" pitchFamily="34" charset="-120"/>
                        </a:rPr>
                        <a:t>He is a best student.</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FFDF9"/>
                    </a:solidFill>
                  </a:tcPr>
                </a:tc>
                <a:tc>
                  <a:txBody>
                    <a:bodyPr/>
                    <a:lstStyle/>
                    <a:p>
                      <a:pPr indent="0" marL="0">
                        <a:lnSpc>
                          <a:spcPts val="1920"/>
                        </a:lnSpc>
                        <a:buNone/>
                      </a:pPr>
                      <a:r>
                        <a:rPr lang="en-US" sz="1600" dirty="0">
                          <a:solidFill>
                            <a:srgbClr val="1F6B4A"/>
                          </a:solidFill>
                          <a:latin typeface="Calibri" pitchFamily="34" charset="0"/>
                          <a:ea typeface="Calibri" pitchFamily="34" charset="-122"/>
                          <a:cs typeface="Calibri" pitchFamily="34" charset="-120"/>
                        </a:rPr>
                        <a:t>He is the best student.</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FFDF9"/>
                    </a:solidFill>
                  </a:tcPr>
                </a:tc>
                <a:tc>
                  <a:txBody>
                    <a:bodyPr/>
                    <a:lstStyle/>
                    <a:p>
                      <a:pPr indent="0" marL="0">
                        <a:lnSpc>
                          <a:spcPts val="1920"/>
                        </a:lnSpc>
                        <a:buNone/>
                      </a:pPr>
                      <a:r>
                        <a:rPr lang="en-US" sz="1600" dirty="0">
                          <a:solidFill>
                            <a:srgbClr val="15233F"/>
                          </a:solidFill>
                          <a:latin typeface="Calibri" pitchFamily="34" charset="0"/>
                          <a:ea typeface="Calibri" pitchFamily="34" charset="-122"/>
                          <a:cs typeface="Calibri" pitchFamily="34" charset="-120"/>
                        </a:rPr>
                        <a:t>Superlatives take the.</a:t>
                      </a:r>
                      <a:endParaRPr lang="en-US" sz="1200" dirty="0"/>
                    </a:p>
                  </a:txBody>
                  <a:tcPr marL="121920" marR="121920" marT="71120" marB="71120" anchor="ctr">
                    <a:lnL w="0" cap="flat" cmpd="sng" algn="ctr">
                      <a:noFill/>
                    </a:lnL>
                    <a:lnR w="0" cap="flat" cmpd="sng" algn="ctr">
                      <a:noFill/>
                    </a:lnR>
                    <a:lnT w="0" cap="flat" cmpd="sng" algn="ctr">
                      <a:noFill/>
                    </a:lnT>
                    <a:lnB w="0" cap="flat" cmpd="sng" algn="ctr">
                      <a:noFill/>
                    </a:lnB>
                    <a:solidFill>
                      <a:srgbClr val="FFFDF9"/>
                    </a:solidFill>
                  </a:tcPr>
                </a:tc>
              </a:tr>
            </a:tbl>
          </a:graphicData>
        </a:graphic>
      </p:graphicFrame>
      <p:sp>
        <p:nvSpPr>
          <p:cNvPr id="7" name="Shape 4"/>
          <p:cNvSpPr/>
          <p:nvPr/>
        </p:nvSpPr>
        <p:spPr>
          <a:xfrm>
            <a:off x="812810" y="2163928"/>
            <a:ext cx="10566441" cy="3187690"/>
          </a:xfrm>
          <a:prstGeom prst="rect">
            <a:avLst/>
          </a:prstGeom>
          <a:ln w="12700">
            <a:solidFill>
              <a:srgbClr val="E6DFD0"/>
            </a:solidFill>
            <a:prstDash val="solid"/>
          </a:ln>
        </p:spPr>
      </p:sp>
      <p:sp>
        <p:nvSpPr>
          <p:cNvPr id="8" name="Text 5"/>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9" name="Text 6"/>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PUTTING IT TOGETHER</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See all three in a real story</a:t>
            </a:r>
            <a:endParaRPr lang="en-US" sz="3200" dirty="0"/>
          </a:p>
        </p:txBody>
      </p:sp>
      <p:sp>
        <p:nvSpPr>
          <p:cNvPr id="4" name="Shape 2"/>
          <p:cNvSpPr/>
          <p:nvPr/>
        </p:nvSpPr>
        <p:spPr>
          <a:xfrm>
            <a:off x="812810" y="1752539"/>
            <a:ext cx="10566441" cy="1574780"/>
          </a:xfrm>
          <a:prstGeom prst="roundRect">
            <a:avLst>
              <a:gd name="adj" fmla="val 8065"/>
            </a:avLst>
          </a:prstGeom>
          <a:solidFill>
            <a:srgbClr val="FFFDF9"/>
          </a:solidFill>
          <a:ln w="12700">
            <a:solidFill>
              <a:srgbClr val="E6DFD0"/>
            </a:solidFill>
            <a:prstDash val="solid"/>
          </a:ln>
        </p:spPr>
      </p:sp>
      <p:sp>
        <p:nvSpPr>
          <p:cNvPr id="5" name="Text 3"/>
          <p:cNvSpPr txBox="1"/>
          <p:nvPr/>
        </p:nvSpPr>
        <p:spPr>
          <a:xfrm>
            <a:off x="1130290" y="1930298"/>
            <a:ext cx="10168128" cy="1181130"/>
          </a:xfrm>
          <a:prstGeom prst="rect">
            <a:avLst/>
          </a:prstGeom>
          <a:noFill/>
          <a:ln/>
        </p:spPr>
        <p:txBody>
          <a:bodyPr wrap="square" lIns="0" tIns="0" rIns="0" bIns="0" rtlCol="0" anchor="t"/>
          <a:lstStyle/>
          <a:p>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Yesterday I bought </a:t>
            </a:r>
            <a:pPr algn="l" indent="0" marL="0">
              <a:lnSpc>
                <a:spcPts val="30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new phone and </a:t>
            </a:r>
            <a:pPr algn="l" indent="0" marL="0">
              <a:lnSpc>
                <a:spcPts val="3000"/>
              </a:lnSpc>
              <a:buNone/>
            </a:pPr>
            <a:r>
              <a:rPr lang="en-US" sz="2000" b="1" dirty="0">
                <a:solidFill>
                  <a:srgbClr val="2A5BC4"/>
                </a:solidFill>
                <a:latin typeface="Calibri" pitchFamily="34" charset="0"/>
                <a:ea typeface="Calibri" pitchFamily="34" charset="-122"/>
                <a:cs typeface="Calibri" pitchFamily="34" charset="-120"/>
              </a:rPr>
              <a:t>an</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umbrella. </a:t>
            </a:r>
            <a:pPr algn="l" indent="0" marL="0">
              <a:lnSpc>
                <a:spcPts val="30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phone is great, but </a:t>
            </a:r>
            <a:pPr algn="l" indent="0" marL="0">
              <a:lnSpc>
                <a:spcPts val="30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umbrella broke on </a:t>
            </a:r>
            <a:pPr algn="l" indent="0" marL="0">
              <a:lnSpc>
                <a:spcPts val="30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first day. I took it back to </a:t>
            </a:r>
            <a:pPr algn="l" indent="0" marL="0">
              <a:lnSpc>
                <a:spcPts val="30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shop near my house. </a:t>
            </a:r>
            <a:pPr algn="l" indent="0" marL="0">
              <a:lnSpc>
                <a:spcPts val="3000"/>
              </a:lnSpc>
              <a:buNone/>
            </a:pPr>
            <a:r>
              <a:rPr lang="en-US" sz="2000" b="1" dirty="0">
                <a:solidFill>
                  <a:srgbClr val="A2470F"/>
                </a:solidFill>
                <a:latin typeface="Calibri" pitchFamily="34" charset="0"/>
                <a:ea typeface="Calibri" pitchFamily="34" charset="-122"/>
                <a:cs typeface="Calibri" pitchFamily="34" charset="-120"/>
              </a:rPr>
              <a:t>The</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manager was very kind and gave me </a:t>
            </a:r>
            <a:pPr algn="l" indent="0" marL="0">
              <a:lnSpc>
                <a:spcPts val="3000"/>
              </a:lnSpc>
              <a:buNone/>
            </a:pPr>
            <a:r>
              <a:rPr lang="en-US" sz="2000" b="1" dirty="0">
                <a:solidFill>
                  <a:srgbClr val="2A5BC4"/>
                </a:solidFill>
                <a:latin typeface="Calibri" pitchFamily="34" charset="0"/>
                <a:ea typeface="Calibri" pitchFamily="34" charset="-122"/>
                <a:cs typeface="Calibri" pitchFamily="34" charset="-120"/>
              </a:rPr>
              <a:t>a</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new one. </a:t>
            </a:r>
            <a:pPr algn="l" indent="0" marL="0">
              <a:lnSpc>
                <a:spcPts val="3000"/>
              </a:lnSpc>
              <a:buNone/>
            </a:pPr>
            <a:r>
              <a:rPr lang="en-US" sz="2000" b="1" dirty="0">
                <a:solidFill>
                  <a:srgbClr val="5E6675"/>
                </a:solidFill>
                <a:latin typeface="Calibri" pitchFamily="34" charset="0"/>
                <a:ea typeface="Calibri" pitchFamily="34" charset="-122"/>
                <a:cs typeface="Calibri" pitchFamily="34" charset="-120"/>
              </a:rPr>
              <a:t>Ø</a:t>
            </a:r>
            <a:pPr algn="l" indent="0" marL="0">
              <a:lnSpc>
                <a:spcPts val="3000"/>
              </a:lnSpc>
              <a:buNone/>
            </a:pPr>
            <a:r>
              <a:rPr lang="en-US" sz="2000" dirty="0">
                <a:solidFill>
                  <a:srgbClr val="15233F"/>
                </a:solidFill>
                <a:latin typeface="Calibri" pitchFamily="34" charset="0"/>
                <a:ea typeface="Calibri" pitchFamily="34" charset="-122"/>
                <a:cs typeface="Calibri" pitchFamily="34" charset="-120"/>
              </a:rPr>
              <a:t> Good service is rare!</a:t>
            </a:r>
            <a:endParaRPr lang="en-US" sz="2000" dirty="0"/>
          </a:p>
        </p:txBody>
      </p:sp>
      <p:sp>
        <p:nvSpPr>
          <p:cNvPr id="6" name="Shape 4"/>
          <p:cNvSpPr/>
          <p:nvPr/>
        </p:nvSpPr>
        <p:spPr>
          <a:xfrm>
            <a:off x="812810" y="3530498"/>
            <a:ext cx="2527310" cy="1097189"/>
          </a:xfrm>
          <a:prstGeom prst="roundRect">
            <a:avLst>
              <a:gd name="adj" fmla="val 9259"/>
            </a:avLst>
          </a:prstGeom>
          <a:solidFill>
            <a:srgbClr val="E4EBFA"/>
          </a:solidFill>
          <a:ln/>
        </p:spPr>
      </p:sp>
      <p:sp>
        <p:nvSpPr>
          <p:cNvPr id="7" name="Text 5"/>
          <p:cNvSpPr txBox="1"/>
          <p:nvPr/>
        </p:nvSpPr>
        <p:spPr>
          <a:xfrm>
            <a:off x="990570" y="3698108"/>
            <a:ext cx="2253264" cy="274320"/>
          </a:xfrm>
          <a:prstGeom prst="rect">
            <a:avLst/>
          </a:prstGeom>
          <a:noFill/>
          <a:ln/>
        </p:spPr>
        <p:txBody>
          <a:bodyPr wrap="square" lIns="0" tIns="0" rIns="0" bIns="0" rtlCol="0" anchor="t"/>
          <a:lstStyle/>
          <a:p>
            <a:pPr algn="l" indent="0" marL="0">
              <a:lnSpc>
                <a:spcPts val="2080"/>
              </a:lnSpc>
              <a:buNone/>
            </a:pPr>
            <a:r>
              <a:rPr lang="en-US" sz="1600" b="1" dirty="0">
                <a:solidFill>
                  <a:srgbClr val="2A5BC4"/>
                </a:solidFill>
                <a:latin typeface="Calibri" pitchFamily="34" charset="0"/>
                <a:ea typeface="Calibri" pitchFamily="34" charset="-122"/>
                <a:cs typeface="Calibri" pitchFamily="34" charset="-120"/>
              </a:rPr>
              <a:t>a phone, an umbrella</a:t>
            </a:r>
            <a:endParaRPr lang="en-US" sz="1600" dirty="0"/>
          </a:p>
        </p:txBody>
      </p:sp>
      <p:sp>
        <p:nvSpPr>
          <p:cNvPr id="8" name="Text 6"/>
          <p:cNvSpPr txBox="1"/>
          <p:nvPr/>
        </p:nvSpPr>
        <p:spPr>
          <a:xfrm>
            <a:off x="990570" y="4007998"/>
            <a:ext cx="2253264" cy="228600"/>
          </a:xfrm>
          <a:prstGeom prst="rect">
            <a:avLst/>
          </a:prstGeom>
          <a:noFill/>
          <a:ln/>
        </p:spPr>
        <p:txBody>
          <a:bodyPr wrap="square" lIns="0" tIns="0" rIns="0" bIns="0" rtlCol="0" anchor="t"/>
          <a:lstStyle/>
          <a:p>
            <a:pPr algn="l" indent="0" marL="0">
              <a:lnSpc>
                <a:spcPts val="1680"/>
              </a:lnSpc>
              <a:buNone/>
            </a:pPr>
            <a:r>
              <a:rPr lang="en-US" sz="1200" dirty="0">
                <a:solidFill>
                  <a:srgbClr val="15233F"/>
                </a:solidFill>
                <a:latin typeface="Calibri" pitchFamily="34" charset="0"/>
                <a:ea typeface="Calibri" pitchFamily="34" charset="-122"/>
                <a:cs typeface="Calibri" pitchFamily="34" charset="-120"/>
              </a:rPr>
              <a:t>First mention: new information.</a:t>
            </a:r>
            <a:endParaRPr lang="en-US" sz="1200" dirty="0"/>
          </a:p>
        </p:txBody>
      </p:sp>
      <p:sp>
        <p:nvSpPr>
          <p:cNvPr id="9" name="Shape 7"/>
          <p:cNvSpPr/>
          <p:nvPr/>
        </p:nvSpPr>
        <p:spPr>
          <a:xfrm>
            <a:off x="3492459" y="3530498"/>
            <a:ext cx="2527310" cy="1097189"/>
          </a:xfrm>
          <a:prstGeom prst="roundRect">
            <a:avLst>
              <a:gd name="adj" fmla="val 9259"/>
            </a:avLst>
          </a:prstGeom>
          <a:solidFill>
            <a:srgbClr val="FBE8DA"/>
          </a:solidFill>
          <a:ln/>
        </p:spPr>
      </p:sp>
      <p:sp>
        <p:nvSpPr>
          <p:cNvPr id="10" name="Text 8"/>
          <p:cNvSpPr txBox="1"/>
          <p:nvPr/>
        </p:nvSpPr>
        <p:spPr>
          <a:xfrm>
            <a:off x="3670310" y="3698108"/>
            <a:ext cx="225326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 phone, the umbrella</a:t>
            </a:r>
            <a:endParaRPr lang="en-US" sz="1600" dirty="0"/>
          </a:p>
        </p:txBody>
      </p:sp>
      <p:sp>
        <p:nvSpPr>
          <p:cNvPr id="11" name="Text 9"/>
          <p:cNvSpPr txBox="1"/>
          <p:nvPr/>
        </p:nvSpPr>
        <p:spPr>
          <a:xfrm>
            <a:off x="3670310" y="4007998"/>
            <a:ext cx="2253264" cy="441838"/>
          </a:xfrm>
          <a:prstGeom prst="rect">
            <a:avLst/>
          </a:prstGeom>
          <a:noFill/>
          <a:ln/>
        </p:spPr>
        <p:txBody>
          <a:bodyPr wrap="square" lIns="0" tIns="0" rIns="0" bIns="0" rtlCol="0" anchor="t"/>
          <a:lstStyle/>
          <a:p>
            <a:pPr algn="l" indent="0" marL="0">
              <a:lnSpc>
                <a:spcPts val="1680"/>
              </a:lnSpc>
              <a:buNone/>
            </a:pPr>
            <a:r>
              <a:rPr lang="en-US" sz="1200" dirty="0">
                <a:solidFill>
                  <a:srgbClr val="15233F"/>
                </a:solidFill>
                <a:latin typeface="Calibri" pitchFamily="34" charset="0"/>
                <a:ea typeface="Calibri" pitchFamily="34" charset="-122"/>
                <a:cs typeface="Calibri" pitchFamily="34" charset="-120"/>
              </a:rPr>
              <a:t>Second mention: now we know which.</a:t>
            </a:r>
            <a:endParaRPr lang="en-US" sz="1200" dirty="0"/>
          </a:p>
        </p:txBody>
      </p:sp>
      <p:sp>
        <p:nvSpPr>
          <p:cNvPr id="12" name="Shape 10"/>
          <p:cNvSpPr/>
          <p:nvPr/>
        </p:nvSpPr>
        <p:spPr>
          <a:xfrm>
            <a:off x="6172200" y="3530498"/>
            <a:ext cx="2527310" cy="1097189"/>
          </a:xfrm>
          <a:prstGeom prst="roundRect">
            <a:avLst>
              <a:gd name="adj" fmla="val 9259"/>
            </a:avLst>
          </a:prstGeom>
          <a:solidFill>
            <a:srgbClr val="FBE8DA"/>
          </a:solidFill>
          <a:ln/>
        </p:spPr>
      </p:sp>
      <p:sp>
        <p:nvSpPr>
          <p:cNvPr id="13" name="Text 11"/>
          <p:cNvSpPr txBox="1"/>
          <p:nvPr/>
        </p:nvSpPr>
        <p:spPr>
          <a:xfrm>
            <a:off x="6349959" y="3698108"/>
            <a:ext cx="2253264" cy="274320"/>
          </a:xfrm>
          <a:prstGeom prst="rect">
            <a:avLst/>
          </a:prstGeom>
          <a:noFill/>
          <a:ln/>
        </p:spPr>
        <p:txBody>
          <a:bodyPr wrap="square" lIns="0" tIns="0" rIns="0" bIns="0" rtlCol="0" anchor="t"/>
          <a:lstStyle/>
          <a:p>
            <a:pPr algn="l" indent="0" marL="0">
              <a:lnSpc>
                <a:spcPts val="2080"/>
              </a:lnSpc>
              <a:buNone/>
            </a:pPr>
            <a:r>
              <a:rPr lang="en-US" sz="1600" b="1" dirty="0">
                <a:solidFill>
                  <a:srgbClr val="A2470F"/>
                </a:solidFill>
                <a:latin typeface="Calibri" pitchFamily="34" charset="0"/>
                <a:ea typeface="Calibri" pitchFamily="34" charset="-122"/>
                <a:cs typeface="Calibri" pitchFamily="34" charset="-120"/>
              </a:rPr>
              <a:t>the first day, the shop</a:t>
            </a:r>
            <a:endParaRPr lang="en-US" sz="1600" dirty="0"/>
          </a:p>
        </p:txBody>
      </p:sp>
      <p:sp>
        <p:nvSpPr>
          <p:cNvPr id="14" name="Text 12"/>
          <p:cNvSpPr txBox="1"/>
          <p:nvPr/>
        </p:nvSpPr>
        <p:spPr>
          <a:xfrm>
            <a:off x="6349959" y="4007998"/>
            <a:ext cx="2253264" cy="441838"/>
          </a:xfrm>
          <a:prstGeom prst="rect">
            <a:avLst/>
          </a:prstGeom>
          <a:noFill/>
          <a:ln/>
        </p:spPr>
        <p:txBody>
          <a:bodyPr wrap="square" lIns="0" tIns="0" rIns="0" bIns="0" rtlCol="0" anchor="t"/>
          <a:lstStyle/>
          <a:p>
            <a:pPr algn="l" indent="0" marL="0">
              <a:lnSpc>
                <a:spcPts val="1680"/>
              </a:lnSpc>
              <a:buNone/>
            </a:pPr>
            <a:r>
              <a:rPr lang="en-US" sz="1200" dirty="0">
                <a:solidFill>
                  <a:srgbClr val="15233F"/>
                </a:solidFill>
                <a:latin typeface="Calibri" pitchFamily="34" charset="0"/>
                <a:ea typeface="Calibri" pitchFamily="34" charset="-122"/>
                <a:cs typeface="Calibri" pitchFamily="34" charset="-120"/>
              </a:rPr>
              <a:t>“first” and “near my house” make them specific.</a:t>
            </a:r>
            <a:endParaRPr lang="en-US" sz="1200" dirty="0"/>
          </a:p>
        </p:txBody>
      </p:sp>
      <p:sp>
        <p:nvSpPr>
          <p:cNvPr id="15" name="Shape 13"/>
          <p:cNvSpPr/>
          <p:nvPr/>
        </p:nvSpPr>
        <p:spPr>
          <a:xfrm>
            <a:off x="8851941" y="3530498"/>
            <a:ext cx="2527310" cy="1097189"/>
          </a:xfrm>
          <a:prstGeom prst="roundRect">
            <a:avLst>
              <a:gd name="adj" fmla="val 9259"/>
            </a:avLst>
          </a:prstGeom>
          <a:solidFill>
            <a:srgbClr val="ECEAE6"/>
          </a:solidFill>
          <a:ln/>
        </p:spPr>
      </p:sp>
      <p:sp>
        <p:nvSpPr>
          <p:cNvPr id="16" name="Text 14"/>
          <p:cNvSpPr txBox="1"/>
          <p:nvPr/>
        </p:nvSpPr>
        <p:spPr>
          <a:xfrm>
            <a:off x="9029700" y="3698108"/>
            <a:ext cx="2253264" cy="274320"/>
          </a:xfrm>
          <a:prstGeom prst="rect">
            <a:avLst/>
          </a:prstGeom>
          <a:noFill/>
          <a:ln/>
        </p:spPr>
        <p:txBody>
          <a:bodyPr wrap="square" lIns="0" tIns="0" rIns="0" bIns="0" rtlCol="0" anchor="t"/>
          <a:lstStyle/>
          <a:p>
            <a:pPr algn="l" indent="0" marL="0">
              <a:lnSpc>
                <a:spcPts val="2080"/>
              </a:lnSpc>
              <a:buNone/>
            </a:pPr>
            <a:r>
              <a:rPr lang="en-US" sz="1600" b="1" dirty="0">
                <a:solidFill>
                  <a:srgbClr val="5E6675"/>
                </a:solidFill>
                <a:latin typeface="Calibri" pitchFamily="34" charset="0"/>
                <a:ea typeface="Calibri" pitchFamily="34" charset="-122"/>
                <a:cs typeface="Calibri" pitchFamily="34" charset="-120"/>
              </a:rPr>
              <a:t>Ø good service</a:t>
            </a:r>
            <a:endParaRPr lang="en-US" sz="1600" dirty="0"/>
          </a:p>
        </p:txBody>
      </p:sp>
      <p:sp>
        <p:nvSpPr>
          <p:cNvPr id="17" name="Text 15"/>
          <p:cNvSpPr txBox="1"/>
          <p:nvPr/>
        </p:nvSpPr>
        <p:spPr>
          <a:xfrm>
            <a:off x="9029700" y="4007998"/>
            <a:ext cx="2253264" cy="228600"/>
          </a:xfrm>
          <a:prstGeom prst="rect">
            <a:avLst/>
          </a:prstGeom>
          <a:noFill/>
          <a:ln/>
        </p:spPr>
        <p:txBody>
          <a:bodyPr wrap="square" lIns="0" tIns="0" rIns="0" bIns="0" rtlCol="0" anchor="t"/>
          <a:lstStyle/>
          <a:p>
            <a:pPr algn="l" indent="0" marL="0">
              <a:lnSpc>
                <a:spcPts val="1680"/>
              </a:lnSpc>
              <a:buNone/>
            </a:pPr>
            <a:r>
              <a:rPr lang="en-US" sz="1200" dirty="0">
                <a:solidFill>
                  <a:srgbClr val="15233F"/>
                </a:solidFill>
                <a:latin typeface="Calibri" pitchFamily="34" charset="0"/>
                <a:ea typeface="Calibri" pitchFamily="34" charset="-122"/>
                <a:cs typeface="Calibri" pitchFamily="34" charset="-120"/>
              </a:rPr>
              <a:t>A general idea: no article.</a:t>
            </a:r>
            <a:endParaRPr lang="en-US" sz="1200" dirty="0"/>
          </a:p>
        </p:txBody>
      </p:sp>
      <p:sp>
        <p:nvSpPr>
          <p:cNvPr id="18" name="Text 16"/>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19" name="Text 17"/>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PRACTICE</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Your turn: a, an, the or Ø?</a:t>
            </a:r>
            <a:endParaRPr lang="en-US" sz="3200" dirty="0"/>
          </a:p>
        </p:txBody>
      </p:sp>
      <p:sp>
        <p:nvSpPr>
          <p:cNvPr id="4" name="Text 2"/>
          <p:cNvSpPr txBox="1"/>
          <p:nvPr/>
        </p:nvSpPr>
        <p:spPr>
          <a:xfrm>
            <a:off x="812810" y="1605138"/>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F4A5C"/>
                </a:solidFill>
                <a:latin typeface="Calibri" pitchFamily="34" charset="0"/>
                <a:ea typeface="Calibri" pitchFamily="34" charset="-122"/>
                <a:cs typeface="Calibri" pitchFamily="34" charset="-120"/>
              </a:rPr>
              <a:t>Choose the right article for each gap. The answers are on the next slide.</a:t>
            </a:r>
            <a:endParaRPr lang="en-US" sz="1600" dirty="0"/>
          </a:p>
        </p:txBody>
      </p:sp>
      <p:sp>
        <p:nvSpPr>
          <p:cNvPr id="5" name="Shape 3"/>
          <p:cNvSpPr/>
          <p:nvPr/>
        </p:nvSpPr>
        <p:spPr>
          <a:xfrm>
            <a:off x="812810" y="2163928"/>
            <a:ext cx="5219670" cy="685800"/>
          </a:xfrm>
          <a:prstGeom prst="roundRect">
            <a:avLst>
              <a:gd name="adj" fmla="val 14813"/>
            </a:avLst>
          </a:prstGeom>
          <a:solidFill>
            <a:srgbClr val="FFFDF9"/>
          </a:solidFill>
          <a:ln w="12700">
            <a:solidFill>
              <a:srgbClr val="E6DFD0"/>
            </a:solidFill>
            <a:prstDash val="solid"/>
          </a:ln>
        </p:spPr>
      </p:sp>
      <p:sp>
        <p:nvSpPr>
          <p:cNvPr id="6" name="Shape 4"/>
          <p:cNvSpPr/>
          <p:nvPr/>
        </p:nvSpPr>
        <p:spPr>
          <a:xfrm>
            <a:off x="1003280" y="2329068"/>
            <a:ext cx="355610" cy="355610"/>
          </a:xfrm>
          <a:prstGeom prst="ellipse">
            <a:avLst/>
          </a:prstGeom>
          <a:solidFill>
            <a:srgbClr val="15233F"/>
          </a:solidFill>
          <a:ln/>
        </p:spPr>
      </p:sp>
      <p:sp>
        <p:nvSpPr>
          <p:cNvPr id="7" name="Text 5"/>
          <p:cNvSpPr txBox="1"/>
          <p:nvPr/>
        </p:nvSpPr>
        <p:spPr>
          <a:xfrm>
            <a:off x="980694" y="2329068"/>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11320" y="235448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need ______ umbrella.</a:t>
            </a:r>
            <a:endParaRPr lang="en-US" sz="1600" dirty="0"/>
          </a:p>
        </p:txBody>
      </p:sp>
      <p:sp>
        <p:nvSpPr>
          <p:cNvPr id="9" name="Shape 7"/>
          <p:cNvSpPr/>
          <p:nvPr/>
        </p:nvSpPr>
        <p:spPr>
          <a:xfrm>
            <a:off x="6159490" y="2163928"/>
            <a:ext cx="5219670" cy="685800"/>
          </a:xfrm>
          <a:prstGeom prst="roundRect">
            <a:avLst>
              <a:gd name="adj" fmla="val 14813"/>
            </a:avLst>
          </a:prstGeom>
          <a:solidFill>
            <a:srgbClr val="FFFDF9"/>
          </a:solidFill>
          <a:ln w="12700">
            <a:solidFill>
              <a:srgbClr val="E6DFD0"/>
            </a:solidFill>
            <a:prstDash val="solid"/>
          </a:ln>
        </p:spPr>
      </p:sp>
      <p:sp>
        <p:nvSpPr>
          <p:cNvPr id="10" name="Shape 8"/>
          <p:cNvSpPr/>
          <p:nvPr/>
        </p:nvSpPr>
        <p:spPr>
          <a:xfrm>
            <a:off x="6349959" y="2329068"/>
            <a:ext cx="355610" cy="355610"/>
          </a:xfrm>
          <a:prstGeom prst="ellipse">
            <a:avLst/>
          </a:prstGeom>
          <a:solidFill>
            <a:srgbClr val="15233F"/>
          </a:solidFill>
          <a:ln/>
        </p:spPr>
      </p:sp>
      <p:sp>
        <p:nvSpPr>
          <p:cNvPr id="11" name="Text 9"/>
          <p:cNvSpPr txBox="1"/>
          <p:nvPr/>
        </p:nvSpPr>
        <p:spPr>
          <a:xfrm>
            <a:off x="6327374" y="2329068"/>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5</a:t>
            </a:r>
            <a:endParaRPr lang="en-US" sz="1200" dirty="0"/>
          </a:p>
        </p:txBody>
      </p:sp>
      <p:sp>
        <p:nvSpPr>
          <p:cNvPr id="12" name="Text 10"/>
          <p:cNvSpPr txBox="1"/>
          <p:nvPr/>
        </p:nvSpPr>
        <p:spPr>
          <a:xfrm>
            <a:off x="6858000" y="235448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Could you open ______ window?</a:t>
            </a:r>
            <a:endParaRPr lang="en-US" sz="1600" dirty="0"/>
          </a:p>
        </p:txBody>
      </p:sp>
      <p:sp>
        <p:nvSpPr>
          <p:cNvPr id="13" name="Shape 11"/>
          <p:cNvSpPr/>
          <p:nvPr/>
        </p:nvSpPr>
        <p:spPr>
          <a:xfrm>
            <a:off x="812810" y="2976738"/>
            <a:ext cx="5219670" cy="685800"/>
          </a:xfrm>
          <a:prstGeom prst="roundRect">
            <a:avLst>
              <a:gd name="adj" fmla="val 14813"/>
            </a:avLst>
          </a:prstGeom>
          <a:solidFill>
            <a:srgbClr val="FFFDF9"/>
          </a:solidFill>
          <a:ln w="12700">
            <a:solidFill>
              <a:srgbClr val="E6DFD0"/>
            </a:solidFill>
            <a:prstDash val="solid"/>
          </a:ln>
        </p:spPr>
      </p:sp>
      <p:sp>
        <p:nvSpPr>
          <p:cNvPr id="14" name="Shape 12"/>
          <p:cNvSpPr/>
          <p:nvPr/>
        </p:nvSpPr>
        <p:spPr>
          <a:xfrm>
            <a:off x="1003280" y="3141878"/>
            <a:ext cx="355610" cy="355610"/>
          </a:xfrm>
          <a:prstGeom prst="ellipse">
            <a:avLst/>
          </a:prstGeom>
          <a:solidFill>
            <a:srgbClr val="15233F"/>
          </a:solidFill>
          <a:ln/>
        </p:spPr>
      </p:sp>
      <p:sp>
        <p:nvSpPr>
          <p:cNvPr id="15" name="Text 13"/>
          <p:cNvSpPr txBox="1"/>
          <p:nvPr/>
        </p:nvSpPr>
        <p:spPr>
          <a:xfrm>
            <a:off x="980694" y="3141878"/>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1511320" y="316729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______ moon is very bright tonight.</a:t>
            </a:r>
            <a:endParaRPr lang="en-US" sz="1600" dirty="0"/>
          </a:p>
        </p:txBody>
      </p:sp>
      <p:sp>
        <p:nvSpPr>
          <p:cNvPr id="17" name="Shape 15"/>
          <p:cNvSpPr/>
          <p:nvPr/>
        </p:nvSpPr>
        <p:spPr>
          <a:xfrm>
            <a:off x="6159490" y="2976738"/>
            <a:ext cx="5219670" cy="685800"/>
          </a:xfrm>
          <a:prstGeom prst="roundRect">
            <a:avLst>
              <a:gd name="adj" fmla="val 14813"/>
            </a:avLst>
          </a:prstGeom>
          <a:solidFill>
            <a:srgbClr val="FFFDF9"/>
          </a:solidFill>
          <a:ln w="12700">
            <a:solidFill>
              <a:srgbClr val="E6DFD0"/>
            </a:solidFill>
            <a:prstDash val="solid"/>
          </a:ln>
        </p:spPr>
      </p:sp>
      <p:sp>
        <p:nvSpPr>
          <p:cNvPr id="18" name="Shape 16"/>
          <p:cNvSpPr/>
          <p:nvPr/>
        </p:nvSpPr>
        <p:spPr>
          <a:xfrm>
            <a:off x="6349959" y="3141878"/>
            <a:ext cx="355610" cy="355610"/>
          </a:xfrm>
          <a:prstGeom prst="ellipse">
            <a:avLst/>
          </a:prstGeom>
          <a:solidFill>
            <a:srgbClr val="15233F"/>
          </a:solidFill>
          <a:ln/>
        </p:spPr>
      </p:sp>
      <p:sp>
        <p:nvSpPr>
          <p:cNvPr id="19" name="Text 17"/>
          <p:cNvSpPr txBox="1"/>
          <p:nvPr/>
        </p:nvSpPr>
        <p:spPr>
          <a:xfrm>
            <a:off x="6327374" y="3141878"/>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6</a:t>
            </a:r>
            <a:endParaRPr lang="en-US" sz="1200" dirty="0"/>
          </a:p>
        </p:txBody>
      </p:sp>
      <p:sp>
        <p:nvSpPr>
          <p:cNvPr id="20" name="Text 18"/>
          <p:cNvSpPr txBox="1"/>
          <p:nvPr/>
        </p:nvSpPr>
        <p:spPr>
          <a:xfrm>
            <a:off x="6858000" y="316729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We waited for ______ hour.</a:t>
            </a:r>
            <a:endParaRPr lang="en-US" sz="1600" dirty="0"/>
          </a:p>
        </p:txBody>
      </p:sp>
      <p:sp>
        <p:nvSpPr>
          <p:cNvPr id="21" name="Shape 19"/>
          <p:cNvSpPr/>
          <p:nvPr/>
        </p:nvSpPr>
        <p:spPr>
          <a:xfrm>
            <a:off x="812810" y="3789548"/>
            <a:ext cx="5219670" cy="685800"/>
          </a:xfrm>
          <a:prstGeom prst="roundRect">
            <a:avLst>
              <a:gd name="adj" fmla="val 14813"/>
            </a:avLst>
          </a:prstGeom>
          <a:solidFill>
            <a:srgbClr val="FFFDF9"/>
          </a:solidFill>
          <a:ln w="12700">
            <a:solidFill>
              <a:srgbClr val="E6DFD0"/>
            </a:solidFill>
            <a:prstDash val="solid"/>
          </a:ln>
        </p:spPr>
      </p:sp>
      <p:sp>
        <p:nvSpPr>
          <p:cNvPr id="22" name="Shape 20"/>
          <p:cNvSpPr/>
          <p:nvPr/>
        </p:nvSpPr>
        <p:spPr>
          <a:xfrm>
            <a:off x="1003280" y="3954689"/>
            <a:ext cx="355610" cy="355610"/>
          </a:xfrm>
          <a:prstGeom prst="ellipse">
            <a:avLst/>
          </a:prstGeom>
          <a:solidFill>
            <a:srgbClr val="15233F"/>
          </a:solidFill>
          <a:ln/>
        </p:spPr>
      </p:sp>
      <p:sp>
        <p:nvSpPr>
          <p:cNvPr id="23" name="Text 21"/>
          <p:cNvSpPr txBox="1"/>
          <p:nvPr/>
        </p:nvSpPr>
        <p:spPr>
          <a:xfrm>
            <a:off x="980694" y="3954689"/>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511320" y="398010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She is ______ university student.</a:t>
            </a:r>
            <a:endParaRPr lang="en-US" sz="1600" dirty="0"/>
          </a:p>
        </p:txBody>
      </p:sp>
      <p:sp>
        <p:nvSpPr>
          <p:cNvPr id="25" name="Shape 23"/>
          <p:cNvSpPr/>
          <p:nvPr/>
        </p:nvSpPr>
        <p:spPr>
          <a:xfrm>
            <a:off x="6159490" y="3789548"/>
            <a:ext cx="5219670" cy="685800"/>
          </a:xfrm>
          <a:prstGeom prst="roundRect">
            <a:avLst>
              <a:gd name="adj" fmla="val 14813"/>
            </a:avLst>
          </a:prstGeom>
          <a:solidFill>
            <a:srgbClr val="FFFDF9"/>
          </a:solidFill>
          <a:ln w="12700">
            <a:solidFill>
              <a:srgbClr val="E6DFD0"/>
            </a:solidFill>
            <a:prstDash val="solid"/>
          </a:ln>
        </p:spPr>
      </p:sp>
      <p:sp>
        <p:nvSpPr>
          <p:cNvPr id="26" name="Shape 24"/>
          <p:cNvSpPr/>
          <p:nvPr/>
        </p:nvSpPr>
        <p:spPr>
          <a:xfrm>
            <a:off x="6349959" y="3954689"/>
            <a:ext cx="355610" cy="355610"/>
          </a:xfrm>
          <a:prstGeom prst="ellipse">
            <a:avLst/>
          </a:prstGeom>
          <a:solidFill>
            <a:srgbClr val="15233F"/>
          </a:solidFill>
          <a:ln/>
        </p:spPr>
      </p:sp>
      <p:sp>
        <p:nvSpPr>
          <p:cNvPr id="27" name="Text 25"/>
          <p:cNvSpPr txBox="1"/>
          <p:nvPr/>
        </p:nvSpPr>
        <p:spPr>
          <a:xfrm>
            <a:off x="6327374" y="3954689"/>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7</a:t>
            </a:r>
            <a:endParaRPr lang="en-US" sz="1200" dirty="0"/>
          </a:p>
        </p:txBody>
      </p:sp>
      <p:sp>
        <p:nvSpPr>
          <p:cNvPr id="28" name="Text 26"/>
          <p:cNvSpPr txBox="1"/>
          <p:nvPr/>
        </p:nvSpPr>
        <p:spPr>
          <a:xfrm>
            <a:off x="6858000" y="398010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My brother plays ______ guitar.</a:t>
            </a:r>
            <a:endParaRPr lang="en-US" sz="1600" dirty="0"/>
          </a:p>
        </p:txBody>
      </p:sp>
      <p:sp>
        <p:nvSpPr>
          <p:cNvPr id="29" name="Shape 27"/>
          <p:cNvSpPr/>
          <p:nvPr/>
        </p:nvSpPr>
        <p:spPr>
          <a:xfrm>
            <a:off x="812810" y="4602358"/>
            <a:ext cx="5219670" cy="685800"/>
          </a:xfrm>
          <a:prstGeom prst="roundRect">
            <a:avLst>
              <a:gd name="adj" fmla="val 14813"/>
            </a:avLst>
          </a:prstGeom>
          <a:solidFill>
            <a:srgbClr val="FFFDF9"/>
          </a:solidFill>
          <a:ln w="12700">
            <a:solidFill>
              <a:srgbClr val="E6DFD0"/>
            </a:solidFill>
            <a:prstDash val="solid"/>
          </a:ln>
        </p:spPr>
      </p:sp>
      <p:sp>
        <p:nvSpPr>
          <p:cNvPr id="30" name="Shape 28"/>
          <p:cNvSpPr/>
          <p:nvPr/>
        </p:nvSpPr>
        <p:spPr>
          <a:xfrm>
            <a:off x="1003280" y="4767499"/>
            <a:ext cx="355610" cy="355610"/>
          </a:xfrm>
          <a:prstGeom prst="ellipse">
            <a:avLst/>
          </a:prstGeom>
          <a:solidFill>
            <a:srgbClr val="15233F"/>
          </a:solidFill>
          <a:ln/>
        </p:spPr>
      </p:sp>
      <p:sp>
        <p:nvSpPr>
          <p:cNvPr id="31" name="Text 29"/>
          <p:cNvSpPr txBox="1"/>
          <p:nvPr/>
        </p:nvSpPr>
        <p:spPr>
          <a:xfrm>
            <a:off x="980694" y="4767499"/>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4</a:t>
            </a:r>
            <a:endParaRPr lang="en-US" sz="1200" dirty="0"/>
          </a:p>
        </p:txBody>
      </p:sp>
      <p:sp>
        <p:nvSpPr>
          <p:cNvPr id="32" name="Text 30"/>
          <p:cNvSpPr txBox="1"/>
          <p:nvPr/>
        </p:nvSpPr>
        <p:spPr>
          <a:xfrm>
            <a:off x="1511320" y="479291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usually have ______ breakfast at 8.</a:t>
            </a:r>
            <a:endParaRPr lang="en-US" sz="1600" dirty="0"/>
          </a:p>
        </p:txBody>
      </p:sp>
      <p:sp>
        <p:nvSpPr>
          <p:cNvPr id="33" name="Shape 31"/>
          <p:cNvSpPr/>
          <p:nvPr/>
        </p:nvSpPr>
        <p:spPr>
          <a:xfrm>
            <a:off x="6159490" y="4602358"/>
            <a:ext cx="5219670" cy="685800"/>
          </a:xfrm>
          <a:prstGeom prst="roundRect">
            <a:avLst>
              <a:gd name="adj" fmla="val 14813"/>
            </a:avLst>
          </a:prstGeom>
          <a:solidFill>
            <a:srgbClr val="FFFDF9"/>
          </a:solidFill>
          <a:ln w="12700">
            <a:solidFill>
              <a:srgbClr val="E6DFD0"/>
            </a:solidFill>
            <a:prstDash val="solid"/>
          </a:ln>
        </p:spPr>
      </p:sp>
      <p:sp>
        <p:nvSpPr>
          <p:cNvPr id="34" name="Shape 32"/>
          <p:cNvSpPr/>
          <p:nvPr/>
        </p:nvSpPr>
        <p:spPr>
          <a:xfrm>
            <a:off x="6349959" y="4767499"/>
            <a:ext cx="355610" cy="355610"/>
          </a:xfrm>
          <a:prstGeom prst="ellipse">
            <a:avLst/>
          </a:prstGeom>
          <a:solidFill>
            <a:srgbClr val="15233F"/>
          </a:solidFill>
          <a:ln/>
        </p:spPr>
      </p:sp>
      <p:sp>
        <p:nvSpPr>
          <p:cNvPr id="35" name="Text 33"/>
          <p:cNvSpPr txBox="1"/>
          <p:nvPr/>
        </p:nvSpPr>
        <p:spPr>
          <a:xfrm>
            <a:off x="6327374" y="4767499"/>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8</a:t>
            </a:r>
            <a:endParaRPr lang="en-US" sz="1200" dirty="0"/>
          </a:p>
        </p:txBody>
      </p:sp>
      <p:sp>
        <p:nvSpPr>
          <p:cNvPr id="36" name="Text 34"/>
          <p:cNvSpPr txBox="1"/>
          <p:nvPr/>
        </p:nvSpPr>
        <p:spPr>
          <a:xfrm>
            <a:off x="6858000" y="4792919"/>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______ honesty is very important.</a:t>
            </a:r>
            <a:endParaRPr lang="en-US" sz="1600" dirty="0"/>
          </a:p>
        </p:txBody>
      </p:sp>
      <p:sp>
        <p:nvSpPr>
          <p:cNvPr id="37" name="Text 35"/>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38" name="Text 36"/>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PRACTICE</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Answers, with the reason</a:t>
            </a:r>
            <a:endParaRPr lang="en-US" sz="3200" dirty="0"/>
          </a:p>
        </p:txBody>
      </p:sp>
      <p:sp>
        <p:nvSpPr>
          <p:cNvPr id="4" name="Shape 2"/>
          <p:cNvSpPr/>
          <p:nvPr/>
        </p:nvSpPr>
        <p:spPr>
          <a:xfrm>
            <a:off x="812810" y="1803288"/>
            <a:ext cx="5219670" cy="792328"/>
          </a:xfrm>
          <a:prstGeom prst="roundRect">
            <a:avLst>
              <a:gd name="adj" fmla="val 12822"/>
            </a:avLst>
          </a:prstGeom>
          <a:solidFill>
            <a:srgbClr val="FFFDF9"/>
          </a:solidFill>
          <a:ln w="12700">
            <a:solidFill>
              <a:srgbClr val="E6DFD0"/>
            </a:solidFill>
            <a:prstDash val="solid"/>
          </a:ln>
        </p:spPr>
      </p:sp>
      <p:sp>
        <p:nvSpPr>
          <p:cNvPr id="5" name="Shape 3"/>
          <p:cNvSpPr/>
          <p:nvPr/>
        </p:nvSpPr>
        <p:spPr>
          <a:xfrm>
            <a:off x="1003280" y="2021647"/>
            <a:ext cx="355610" cy="355610"/>
          </a:xfrm>
          <a:prstGeom prst="ellipse">
            <a:avLst/>
          </a:prstGeom>
          <a:solidFill>
            <a:srgbClr val="15233F"/>
          </a:solidFill>
          <a:ln/>
        </p:spPr>
      </p:sp>
      <p:sp>
        <p:nvSpPr>
          <p:cNvPr id="6" name="Text 4"/>
          <p:cNvSpPr txBox="1"/>
          <p:nvPr/>
        </p:nvSpPr>
        <p:spPr>
          <a:xfrm>
            <a:off x="980694" y="2021647"/>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511320" y="1927738"/>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need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umbrella.</a:t>
            </a:r>
            <a:endParaRPr lang="en-US" sz="1600" dirty="0"/>
          </a:p>
        </p:txBody>
      </p:sp>
      <p:sp>
        <p:nvSpPr>
          <p:cNvPr id="8" name="Text 6"/>
          <p:cNvSpPr txBox="1"/>
          <p:nvPr/>
        </p:nvSpPr>
        <p:spPr>
          <a:xfrm>
            <a:off x="1511320" y="2227387"/>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“umbrella” starts with a vowel sound.</a:t>
            </a:r>
            <a:endParaRPr lang="en-US" sz="1200" dirty="0"/>
          </a:p>
        </p:txBody>
      </p:sp>
      <p:sp>
        <p:nvSpPr>
          <p:cNvPr id="9" name="Shape 7"/>
          <p:cNvSpPr/>
          <p:nvPr/>
        </p:nvSpPr>
        <p:spPr>
          <a:xfrm>
            <a:off x="6159490" y="1803288"/>
            <a:ext cx="5219670" cy="792328"/>
          </a:xfrm>
          <a:prstGeom prst="roundRect">
            <a:avLst>
              <a:gd name="adj" fmla="val 12822"/>
            </a:avLst>
          </a:prstGeom>
          <a:solidFill>
            <a:srgbClr val="FFFDF9"/>
          </a:solidFill>
          <a:ln w="12700">
            <a:solidFill>
              <a:srgbClr val="E6DFD0"/>
            </a:solidFill>
            <a:prstDash val="solid"/>
          </a:ln>
        </p:spPr>
      </p:sp>
      <p:sp>
        <p:nvSpPr>
          <p:cNvPr id="10" name="Shape 8"/>
          <p:cNvSpPr/>
          <p:nvPr/>
        </p:nvSpPr>
        <p:spPr>
          <a:xfrm>
            <a:off x="6349959" y="2021647"/>
            <a:ext cx="355610" cy="355610"/>
          </a:xfrm>
          <a:prstGeom prst="ellipse">
            <a:avLst/>
          </a:prstGeom>
          <a:solidFill>
            <a:srgbClr val="15233F"/>
          </a:solidFill>
          <a:ln/>
        </p:spPr>
      </p:sp>
      <p:sp>
        <p:nvSpPr>
          <p:cNvPr id="11" name="Text 9"/>
          <p:cNvSpPr txBox="1"/>
          <p:nvPr/>
        </p:nvSpPr>
        <p:spPr>
          <a:xfrm>
            <a:off x="6327374" y="2021647"/>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5</a:t>
            </a:r>
            <a:endParaRPr lang="en-US" sz="1200" dirty="0"/>
          </a:p>
        </p:txBody>
      </p:sp>
      <p:sp>
        <p:nvSpPr>
          <p:cNvPr id="12" name="Text 10"/>
          <p:cNvSpPr txBox="1"/>
          <p:nvPr/>
        </p:nvSpPr>
        <p:spPr>
          <a:xfrm>
            <a:off x="6858000" y="1927738"/>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Could you open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window?</a:t>
            </a:r>
            <a:endParaRPr lang="en-US" sz="1600" dirty="0"/>
          </a:p>
        </p:txBody>
      </p:sp>
      <p:sp>
        <p:nvSpPr>
          <p:cNvPr id="13" name="Text 11"/>
          <p:cNvSpPr txBox="1"/>
          <p:nvPr/>
        </p:nvSpPr>
        <p:spPr>
          <a:xfrm>
            <a:off x="6858000" y="2227387"/>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We both know which window.</a:t>
            </a:r>
            <a:endParaRPr lang="en-US" sz="1200" dirty="0"/>
          </a:p>
        </p:txBody>
      </p:sp>
      <p:sp>
        <p:nvSpPr>
          <p:cNvPr id="14" name="Shape 12"/>
          <p:cNvSpPr/>
          <p:nvPr/>
        </p:nvSpPr>
        <p:spPr>
          <a:xfrm>
            <a:off x="812810" y="2722626"/>
            <a:ext cx="5219670" cy="792328"/>
          </a:xfrm>
          <a:prstGeom prst="roundRect">
            <a:avLst>
              <a:gd name="adj" fmla="val 12822"/>
            </a:avLst>
          </a:prstGeom>
          <a:solidFill>
            <a:srgbClr val="FFFDF9"/>
          </a:solidFill>
          <a:ln w="12700">
            <a:solidFill>
              <a:srgbClr val="E6DFD0"/>
            </a:solidFill>
            <a:prstDash val="solid"/>
          </a:ln>
        </p:spPr>
      </p:sp>
      <p:sp>
        <p:nvSpPr>
          <p:cNvPr id="15" name="Shape 13"/>
          <p:cNvSpPr/>
          <p:nvPr/>
        </p:nvSpPr>
        <p:spPr>
          <a:xfrm>
            <a:off x="1003280" y="2941076"/>
            <a:ext cx="355610" cy="355610"/>
          </a:xfrm>
          <a:prstGeom prst="ellipse">
            <a:avLst/>
          </a:prstGeom>
          <a:solidFill>
            <a:srgbClr val="15233F"/>
          </a:solidFill>
          <a:ln/>
        </p:spPr>
      </p:sp>
      <p:sp>
        <p:nvSpPr>
          <p:cNvPr id="16" name="Text 14"/>
          <p:cNvSpPr txBox="1"/>
          <p:nvPr/>
        </p:nvSpPr>
        <p:spPr>
          <a:xfrm>
            <a:off x="980694" y="2941076"/>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1511320" y="2847167"/>
            <a:ext cx="4455414" cy="289499"/>
          </a:xfrm>
          <a:prstGeom prst="rect">
            <a:avLst/>
          </a:prstGeom>
          <a:noFill/>
          <a:ln/>
        </p:spPr>
        <p:txBody>
          <a:bodyPr wrap="square" lIns="0" tIns="0" rIns="0" bIns="0" rtlCol="0" anchor="t"/>
          <a:lstStyle/>
          <a:p>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moon is very bright tonight.</a:t>
            </a:r>
            <a:endParaRPr lang="en-US" sz="1600" dirty="0"/>
          </a:p>
        </p:txBody>
      </p:sp>
      <p:sp>
        <p:nvSpPr>
          <p:cNvPr id="18" name="Text 16"/>
          <p:cNvSpPr txBox="1"/>
          <p:nvPr/>
        </p:nvSpPr>
        <p:spPr>
          <a:xfrm>
            <a:off x="1511320" y="3146725"/>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There is only one moon.</a:t>
            </a:r>
            <a:endParaRPr lang="en-US" sz="1200" dirty="0"/>
          </a:p>
        </p:txBody>
      </p:sp>
      <p:sp>
        <p:nvSpPr>
          <p:cNvPr id="19" name="Shape 17"/>
          <p:cNvSpPr/>
          <p:nvPr/>
        </p:nvSpPr>
        <p:spPr>
          <a:xfrm>
            <a:off x="6159490" y="2722626"/>
            <a:ext cx="5219670" cy="792328"/>
          </a:xfrm>
          <a:prstGeom prst="roundRect">
            <a:avLst>
              <a:gd name="adj" fmla="val 12822"/>
            </a:avLst>
          </a:prstGeom>
          <a:solidFill>
            <a:srgbClr val="FFFDF9"/>
          </a:solidFill>
          <a:ln w="12700">
            <a:solidFill>
              <a:srgbClr val="E6DFD0"/>
            </a:solidFill>
            <a:prstDash val="solid"/>
          </a:ln>
        </p:spPr>
      </p:sp>
      <p:sp>
        <p:nvSpPr>
          <p:cNvPr id="20" name="Shape 18"/>
          <p:cNvSpPr/>
          <p:nvPr/>
        </p:nvSpPr>
        <p:spPr>
          <a:xfrm>
            <a:off x="6349959" y="2941076"/>
            <a:ext cx="355610" cy="355610"/>
          </a:xfrm>
          <a:prstGeom prst="ellipse">
            <a:avLst/>
          </a:prstGeom>
          <a:solidFill>
            <a:srgbClr val="15233F"/>
          </a:solidFill>
          <a:ln/>
        </p:spPr>
      </p:sp>
      <p:sp>
        <p:nvSpPr>
          <p:cNvPr id="21" name="Text 19"/>
          <p:cNvSpPr txBox="1"/>
          <p:nvPr/>
        </p:nvSpPr>
        <p:spPr>
          <a:xfrm>
            <a:off x="6327374" y="2941076"/>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6</a:t>
            </a:r>
            <a:endParaRPr lang="en-US" sz="1200" dirty="0"/>
          </a:p>
        </p:txBody>
      </p:sp>
      <p:sp>
        <p:nvSpPr>
          <p:cNvPr id="22" name="Text 20"/>
          <p:cNvSpPr txBox="1"/>
          <p:nvPr/>
        </p:nvSpPr>
        <p:spPr>
          <a:xfrm>
            <a:off x="6858000" y="2847167"/>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We waited for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an</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hour.</a:t>
            </a:r>
            <a:endParaRPr lang="en-US" sz="1600" dirty="0"/>
          </a:p>
        </p:txBody>
      </p:sp>
      <p:sp>
        <p:nvSpPr>
          <p:cNvPr id="23" name="Text 21"/>
          <p:cNvSpPr txBox="1"/>
          <p:nvPr/>
        </p:nvSpPr>
        <p:spPr>
          <a:xfrm>
            <a:off x="6858000" y="3146725"/>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Silent h, so a vowel sound.</a:t>
            </a:r>
            <a:endParaRPr lang="en-US" sz="1200" dirty="0"/>
          </a:p>
        </p:txBody>
      </p:sp>
      <p:sp>
        <p:nvSpPr>
          <p:cNvPr id="24" name="Shape 22"/>
          <p:cNvSpPr/>
          <p:nvPr/>
        </p:nvSpPr>
        <p:spPr>
          <a:xfrm>
            <a:off x="812810" y="3642055"/>
            <a:ext cx="5219670" cy="792328"/>
          </a:xfrm>
          <a:prstGeom prst="roundRect">
            <a:avLst>
              <a:gd name="adj" fmla="val 12822"/>
            </a:avLst>
          </a:prstGeom>
          <a:solidFill>
            <a:srgbClr val="FFFDF9"/>
          </a:solidFill>
          <a:ln w="12700">
            <a:solidFill>
              <a:srgbClr val="E6DFD0"/>
            </a:solidFill>
            <a:prstDash val="solid"/>
          </a:ln>
        </p:spPr>
      </p:sp>
      <p:sp>
        <p:nvSpPr>
          <p:cNvPr id="25" name="Shape 23"/>
          <p:cNvSpPr/>
          <p:nvPr/>
        </p:nvSpPr>
        <p:spPr>
          <a:xfrm>
            <a:off x="1003280" y="3860414"/>
            <a:ext cx="355610" cy="355610"/>
          </a:xfrm>
          <a:prstGeom prst="ellipse">
            <a:avLst/>
          </a:prstGeom>
          <a:solidFill>
            <a:srgbClr val="15233F"/>
          </a:solidFill>
          <a:ln/>
        </p:spPr>
      </p:sp>
      <p:sp>
        <p:nvSpPr>
          <p:cNvPr id="26" name="Text 24"/>
          <p:cNvSpPr txBox="1"/>
          <p:nvPr/>
        </p:nvSpPr>
        <p:spPr>
          <a:xfrm>
            <a:off x="980694" y="3860414"/>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1511320" y="3766505"/>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She is </a:t>
            </a:r>
            <a:pPr algn="l" indent="0" marL="0">
              <a:lnSpc>
                <a:spcPts val="2160"/>
              </a:lnSpc>
              <a:buNone/>
            </a:pPr>
            <a:r>
              <a:rPr lang="en-US" sz="1600" b="1" dirty="0">
                <a:solidFill>
                  <a:srgbClr val="2A5BC4"/>
                </a:solidFill>
                <a:latin typeface="Calibri" pitchFamily="34" charset="0"/>
                <a:ea typeface="Calibri" pitchFamily="34" charset="-122"/>
                <a:cs typeface="Calibri" pitchFamily="34" charset="-120"/>
              </a:rPr>
              <a:t>a</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university student.</a:t>
            </a:r>
            <a:endParaRPr lang="en-US" sz="1600" dirty="0"/>
          </a:p>
        </p:txBody>
      </p:sp>
      <p:sp>
        <p:nvSpPr>
          <p:cNvPr id="28" name="Text 26"/>
          <p:cNvSpPr txBox="1"/>
          <p:nvPr/>
        </p:nvSpPr>
        <p:spPr>
          <a:xfrm>
            <a:off x="1511320" y="4066154"/>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“university” starts with a “you” sound.</a:t>
            </a:r>
            <a:endParaRPr lang="en-US" sz="1200" dirty="0"/>
          </a:p>
        </p:txBody>
      </p:sp>
      <p:sp>
        <p:nvSpPr>
          <p:cNvPr id="29" name="Shape 27"/>
          <p:cNvSpPr/>
          <p:nvPr/>
        </p:nvSpPr>
        <p:spPr>
          <a:xfrm>
            <a:off x="6159490" y="3642055"/>
            <a:ext cx="5219670" cy="792328"/>
          </a:xfrm>
          <a:prstGeom prst="roundRect">
            <a:avLst>
              <a:gd name="adj" fmla="val 12822"/>
            </a:avLst>
          </a:prstGeom>
          <a:solidFill>
            <a:srgbClr val="FFFDF9"/>
          </a:solidFill>
          <a:ln w="12700">
            <a:solidFill>
              <a:srgbClr val="E6DFD0"/>
            </a:solidFill>
            <a:prstDash val="solid"/>
          </a:ln>
        </p:spPr>
      </p:sp>
      <p:sp>
        <p:nvSpPr>
          <p:cNvPr id="30" name="Shape 28"/>
          <p:cNvSpPr/>
          <p:nvPr/>
        </p:nvSpPr>
        <p:spPr>
          <a:xfrm>
            <a:off x="6349959" y="3860414"/>
            <a:ext cx="355610" cy="355610"/>
          </a:xfrm>
          <a:prstGeom prst="ellipse">
            <a:avLst/>
          </a:prstGeom>
          <a:solidFill>
            <a:srgbClr val="15233F"/>
          </a:solidFill>
          <a:ln/>
        </p:spPr>
      </p:sp>
      <p:sp>
        <p:nvSpPr>
          <p:cNvPr id="31" name="Text 29"/>
          <p:cNvSpPr txBox="1"/>
          <p:nvPr/>
        </p:nvSpPr>
        <p:spPr>
          <a:xfrm>
            <a:off x="6327374" y="3860414"/>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7</a:t>
            </a:r>
            <a:endParaRPr lang="en-US" sz="1200" dirty="0"/>
          </a:p>
        </p:txBody>
      </p:sp>
      <p:sp>
        <p:nvSpPr>
          <p:cNvPr id="32" name="Text 30"/>
          <p:cNvSpPr txBox="1"/>
          <p:nvPr/>
        </p:nvSpPr>
        <p:spPr>
          <a:xfrm>
            <a:off x="6858000" y="3766505"/>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My brother plays </a:t>
            </a:r>
            <a:pPr algn="l" indent="0" marL="0">
              <a:lnSpc>
                <a:spcPts val="2160"/>
              </a:lnSpc>
              <a:buNone/>
            </a:pPr>
            <a:r>
              <a:rPr lang="en-US" sz="1600" b="1" dirty="0">
                <a:solidFill>
                  <a:srgbClr val="A2470F"/>
                </a:solidFill>
                <a:latin typeface="Calibri" pitchFamily="34" charset="0"/>
                <a:ea typeface="Calibri" pitchFamily="34" charset="-122"/>
                <a:cs typeface="Calibri" pitchFamily="34" charset="-120"/>
              </a:rPr>
              <a:t>the</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guitar.</a:t>
            </a:r>
            <a:endParaRPr lang="en-US" sz="1600" dirty="0"/>
          </a:p>
        </p:txBody>
      </p:sp>
      <p:sp>
        <p:nvSpPr>
          <p:cNvPr id="33" name="Text 31"/>
          <p:cNvSpPr txBox="1"/>
          <p:nvPr/>
        </p:nvSpPr>
        <p:spPr>
          <a:xfrm>
            <a:off x="6858000" y="4066154"/>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Musical instruments take the.</a:t>
            </a:r>
            <a:endParaRPr lang="en-US" sz="1200" dirty="0"/>
          </a:p>
        </p:txBody>
      </p:sp>
      <p:sp>
        <p:nvSpPr>
          <p:cNvPr id="34" name="Shape 32"/>
          <p:cNvSpPr/>
          <p:nvPr/>
        </p:nvSpPr>
        <p:spPr>
          <a:xfrm>
            <a:off x="812810" y="4561393"/>
            <a:ext cx="5219670" cy="792328"/>
          </a:xfrm>
          <a:prstGeom prst="roundRect">
            <a:avLst>
              <a:gd name="adj" fmla="val 12822"/>
            </a:avLst>
          </a:prstGeom>
          <a:solidFill>
            <a:srgbClr val="FFFDF9"/>
          </a:solidFill>
          <a:ln w="12700">
            <a:solidFill>
              <a:srgbClr val="E6DFD0"/>
            </a:solidFill>
            <a:prstDash val="solid"/>
          </a:ln>
        </p:spPr>
      </p:sp>
      <p:sp>
        <p:nvSpPr>
          <p:cNvPr id="35" name="Shape 33"/>
          <p:cNvSpPr/>
          <p:nvPr/>
        </p:nvSpPr>
        <p:spPr>
          <a:xfrm>
            <a:off x="1003280" y="4779752"/>
            <a:ext cx="355610" cy="355610"/>
          </a:xfrm>
          <a:prstGeom prst="ellipse">
            <a:avLst/>
          </a:prstGeom>
          <a:solidFill>
            <a:srgbClr val="15233F"/>
          </a:solidFill>
          <a:ln/>
        </p:spPr>
      </p:sp>
      <p:sp>
        <p:nvSpPr>
          <p:cNvPr id="36" name="Text 34"/>
          <p:cNvSpPr txBox="1"/>
          <p:nvPr/>
        </p:nvSpPr>
        <p:spPr>
          <a:xfrm>
            <a:off x="980694" y="4779752"/>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1511320" y="4685843"/>
            <a:ext cx="4455414" cy="289499"/>
          </a:xfrm>
          <a:prstGeom prst="rect">
            <a:avLst/>
          </a:prstGeom>
          <a:noFill/>
          <a:ln/>
        </p:spPr>
        <p:txBody>
          <a:bodyPr wrap="square" lIns="0" tIns="0" rIns="0" bIns="0" rtlCol="0" anchor="t"/>
          <a:lstStyle/>
          <a:p>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I usually have </a:t>
            </a:r>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Ø</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breakfast at 8.</a:t>
            </a:r>
            <a:endParaRPr lang="en-US" sz="1600" dirty="0"/>
          </a:p>
        </p:txBody>
      </p:sp>
      <p:sp>
        <p:nvSpPr>
          <p:cNvPr id="38" name="Text 36"/>
          <p:cNvSpPr txBox="1"/>
          <p:nvPr/>
        </p:nvSpPr>
        <p:spPr>
          <a:xfrm>
            <a:off x="1511320" y="4985492"/>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Meals take no article.</a:t>
            </a:r>
            <a:endParaRPr lang="en-US" sz="1200" dirty="0"/>
          </a:p>
        </p:txBody>
      </p:sp>
      <p:sp>
        <p:nvSpPr>
          <p:cNvPr id="39" name="Shape 37"/>
          <p:cNvSpPr/>
          <p:nvPr/>
        </p:nvSpPr>
        <p:spPr>
          <a:xfrm>
            <a:off x="6159490" y="4561393"/>
            <a:ext cx="5219670" cy="792328"/>
          </a:xfrm>
          <a:prstGeom prst="roundRect">
            <a:avLst>
              <a:gd name="adj" fmla="val 12822"/>
            </a:avLst>
          </a:prstGeom>
          <a:solidFill>
            <a:srgbClr val="FFFDF9"/>
          </a:solidFill>
          <a:ln w="12700">
            <a:solidFill>
              <a:srgbClr val="E6DFD0"/>
            </a:solidFill>
            <a:prstDash val="solid"/>
          </a:ln>
        </p:spPr>
      </p:sp>
      <p:sp>
        <p:nvSpPr>
          <p:cNvPr id="40" name="Shape 38"/>
          <p:cNvSpPr/>
          <p:nvPr/>
        </p:nvSpPr>
        <p:spPr>
          <a:xfrm>
            <a:off x="6349959" y="4779752"/>
            <a:ext cx="355610" cy="355610"/>
          </a:xfrm>
          <a:prstGeom prst="ellipse">
            <a:avLst/>
          </a:prstGeom>
          <a:solidFill>
            <a:srgbClr val="15233F"/>
          </a:solidFill>
          <a:ln/>
        </p:spPr>
      </p:sp>
      <p:sp>
        <p:nvSpPr>
          <p:cNvPr id="41" name="Text 39"/>
          <p:cNvSpPr txBox="1"/>
          <p:nvPr/>
        </p:nvSpPr>
        <p:spPr>
          <a:xfrm>
            <a:off x="6327374" y="4779752"/>
            <a:ext cx="400782" cy="355610"/>
          </a:xfrm>
          <a:prstGeom prst="rect">
            <a:avLst/>
          </a:prstGeom>
          <a:noFill/>
          <a:ln/>
        </p:spPr>
        <p:txBody>
          <a:bodyPr wrap="square" lIns="0" tIns="0" rIns="0" bIns="0" rtlCol="0" anchor="ctr"/>
          <a:lstStyle/>
          <a:p>
            <a:pPr algn="ctr" indent="0" marL="0">
              <a:buNone/>
            </a:pPr>
            <a:r>
              <a:rPr lang="en-US" sz="1200" b="1" dirty="0">
                <a:solidFill>
                  <a:srgbClr val="F4EFE4"/>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6858000" y="4685843"/>
            <a:ext cx="4455414" cy="289499"/>
          </a:xfrm>
          <a:prstGeom prst="rect">
            <a:avLst/>
          </a:prstGeom>
          <a:noFill/>
          <a:ln/>
        </p:spPr>
        <p:txBody>
          <a:bodyPr wrap="square" lIns="0" tIns="0" rIns="0" bIns="0" rtlCol="0" anchor="t"/>
          <a:lstStyle/>
          <a:p>
            <a:pPr algn="l" indent="0" marL="0">
              <a:lnSpc>
                <a:spcPts val="2160"/>
              </a:lnSpc>
              <a:buNone/>
            </a:pPr>
            <a:r>
              <a:rPr lang="en-US" sz="1600" b="1" dirty="0">
                <a:solidFill>
                  <a:srgbClr val="5E6675"/>
                </a:solidFill>
                <a:latin typeface="Calibri" pitchFamily="34" charset="0"/>
                <a:ea typeface="Calibri" pitchFamily="34" charset="-122"/>
                <a:cs typeface="Calibri" pitchFamily="34" charset="-120"/>
              </a:rPr>
              <a:t>Ø</a:t>
            </a:r>
            <a:pPr algn="l" indent="0" marL="0">
              <a:lnSpc>
                <a:spcPts val="2160"/>
              </a:lnSpc>
              <a:buNone/>
            </a:pPr>
            <a:r>
              <a:rPr lang="en-US" sz="1600" dirty="0">
                <a:solidFill>
                  <a:srgbClr val="15233F"/>
                </a:solidFill>
                <a:latin typeface="Calibri" pitchFamily="34" charset="0"/>
                <a:ea typeface="Calibri" pitchFamily="34" charset="-122"/>
                <a:cs typeface="Calibri" pitchFamily="34" charset="-120"/>
              </a:rPr>
              <a:t> Honesty is very important.</a:t>
            </a:r>
            <a:endParaRPr lang="en-US" sz="1600" dirty="0"/>
          </a:p>
        </p:txBody>
      </p:sp>
      <p:sp>
        <p:nvSpPr>
          <p:cNvPr id="43" name="Text 41"/>
          <p:cNvSpPr txBox="1"/>
          <p:nvPr/>
        </p:nvSpPr>
        <p:spPr>
          <a:xfrm>
            <a:off x="6858000" y="4985492"/>
            <a:ext cx="4455414" cy="228600"/>
          </a:xfrm>
          <a:prstGeom prst="rect">
            <a:avLst/>
          </a:prstGeom>
          <a:noFill/>
          <a:ln/>
        </p:spPr>
        <p:txBody>
          <a:bodyPr wrap="square" lIns="0" tIns="0" rIns="0" bIns="0" rtlCol="0" anchor="t"/>
          <a:lstStyle/>
          <a:p>
            <a:pPr algn="l" indent="0" marL="0">
              <a:lnSpc>
                <a:spcPts val="1680"/>
              </a:lnSpc>
              <a:buNone/>
            </a:pPr>
            <a:r>
              <a:rPr lang="en-US" sz="1200" dirty="0">
                <a:solidFill>
                  <a:srgbClr val="3F4A5C"/>
                </a:solidFill>
                <a:latin typeface="Calibri" pitchFamily="34" charset="0"/>
                <a:ea typeface="Calibri" pitchFamily="34" charset="-122"/>
                <a:cs typeface="Calibri" pitchFamily="34" charset="-120"/>
              </a:rPr>
              <a:t>A general idea (uncountable).</a:t>
            </a:r>
            <a:endParaRPr lang="en-US" sz="1200" dirty="0"/>
          </a:p>
        </p:txBody>
      </p:sp>
      <p:sp>
        <p:nvSpPr>
          <p:cNvPr id="44" name="Text 42"/>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45" name="Text 43"/>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636B78"/>
                </a:solidFill>
                <a:latin typeface="Calibri" pitchFamily="34" charset="0"/>
                <a:ea typeface="Calibri" pitchFamily="34" charset="-122"/>
                <a:cs typeface="Calibri" pitchFamily="34" charset="-120"/>
              </a:rPr>
              <a:t>06 · SUMMARY</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5233F"/>
                </a:solidFill>
                <a:latin typeface="Cambria" pitchFamily="34" charset="0"/>
                <a:ea typeface="Cambria" pitchFamily="34" charset="-122"/>
                <a:cs typeface="Cambria" pitchFamily="34" charset="-120"/>
              </a:rPr>
              <a:t>Cheat sheet</a:t>
            </a:r>
            <a:endParaRPr lang="en-US" sz="3200" dirty="0"/>
          </a:p>
        </p:txBody>
      </p:sp>
      <p:sp>
        <p:nvSpPr>
          <p:cNvPr id="4" name="Shape 2"/>
          <p:cNvSpPr/>
          <p:nvPr/>
        </p:nvSpPr>
        <p:spPr>
          <a:xfrm>
            <a:off x="812810" y="1803288"/>
            <a:ext cx="3386663" cy="2743017"/>
          </a:xfrm>
          <a:prstGeom prst="roundRect">
            <a:avLst>
              <a:gd name="adj" fmla="val 4630"/>
            </a:avLst>
          </a:prstGeom>
          <a:solidFill>
            <a:srgbClr val="E4EBFA"/>
          </a:solidFill>
          <a:ln/>
        </p:spPr>
      </p:sp>
      <p:sp>
        <p:nvSpPr>
          <p:cNvPr id="5" name="Text 3"/>
          <p:cNvSpPr txBox="1"/>
          <p:nvPr/>
        </p:nvSpPr>
        <p:spPr>
          <a:xfrm>
            <a:off x="1066830" y="2057309"/>
            <a:ext cx="2974269" cy="446959"/>
          </a:xfrm>
          <a:prstGeom prst="rect">
            <a:avLst/>
          </a:prstGeom>
          <a:noFill/>
          <a:ln/>
        </p:spPr>
        <p:txBody>
          <a:bodyPr wrap="square" lIns="0" tIns="0" rIns="0" bIns="0" rtlCol="0" anchor="t"/>
          <a:lstStyle/>
          <a:p>
            <a:pPr algn="l" indent="0" marL="0">
              <a:lnSpc>
                <a:spcPts val="3520"/>
              </a:lnSpc>
              <a:buNone/>
            </a:pPr>
            <a:r>
              <a:rPr lang="en-US" sz="3200" b="1" dirty="0">
                <a:solidFill>
                  <a:srgbClr val="2A5BC4"/>
                </a:solidFill>
                <a:latin typeface="Cambria" pitchFamily="34" charset="0"/>
                <a:ea typeface="Cambria" pitchFamily="34" charset="-122"/>
                <a:cs typeface="Cambria" pitchFamily="34" charset="-120"/>
              </a:rPr>
              <a:t>a / an</a:t>
            </a:r>
            <a:endParaRPr lang="en-US" sz="3200" dirty="0"/>
          </a:p>
        </p:txBody>
      </p:sp>
      <p:sp>
        <p:nvSpPr>
          <p:cNvPr id="6" name="Text 4"/>
          <p:cNvSpPr txBox="1"/>
          <p:nvPr/>
        </p:nvSpPr>
        <p:spPr>
          <a:xfrm>
            <a:off x="1066830" y="2565258"/>
            <a:ext cx="29742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A5BC4"/>
                </a:solidFill>
                <a:latin typeface="Calibri" pitchFamily="34" charset="0"/>
                <a:ea typeface="Calibri" pitchFamily="34" charset="-122"/>
                <a:cs typeface="Calibri" pitchFamily="34" charset="-120"/>
              </a:rPr>
              <a:t>ANY ONE</a:t>
            </a:r>
            <a:endParaRPr lang="en-US" sz="1200" dirty="0"/>
          </a:p>
        </p:txBody>
      </p:sp>
      <p:sp>
        <p:nvSpPr>
          <p:cNvPr id="7" name="Text 5"/>
          <p:cNvSpPr txBox="1"/>
          <p:nvPr/>
        </p:nvSpPr>
        <p:spPr>
          <a:xfrm>
            <a:off x="1066830" y="2829336"/>
            <a:ext cx="2929463" cy="1462949"/>
          </a:xfrm>
          <a:prstGeom prst="rect">
            <a:avLst/>
          </a:prstGeom>
          <a:noFill/>
          <a:ln/>
        </p:spPr>
        <p:txBody>
          <a:bodyPr wrap="square" lIns="0" tIns="0" rIns="0" bIns="0" rtlCol="0" anchor="t"/>
          <a:lstStyle/>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one countable thing</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first mention</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jobs: a teacher</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“one” and “per”</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an + vowel sound</a:t>
            </a:r>
            <a:endParaRPr lang="en-US" sz="1600" dirty="0"/>
          </a:p>
        </p:txBody>
      </p:sp>
      <p:sp>
        <p:nvSpPr>
          <p:cNvPr id="8" name="Shape 6"/>
          <p:cNvSpPr/>
          <p:nvPr/>
        </p:nvSpPr>
        <p:spPr>
          <a:xfrm>
            <a:off x="4402653" y="1803288"/>
            <a:ext cx="3386663" cy="2743017"/>
          </a:xfrm>
          <a:prstGeom prst="roundRect">
            <a:avLst>
              <a:gd name="adj" fmla="val 4630"/>
            </a:avLst>
          </a:prstGeom>
          <a:solidFill>
            <a:srgbClr val="FBE8DA"/>
          </a:solidFill>
          <a:ln/>
        </p:spPr>
      </p:sp>
      <p:sp>
        <p:nvSpPr>
          <p:cNvPr id="9" name="Text 7"/>
          <p:cNvSpPr txBox="1"/>
          <p:nvPr/>
        </p:nvSpPr>
        <p:spPr>
          <a:xfrm>
            <a:off x="4656673" y="2057309"/>
            <a:ext cx="2974269" cy="446959"/>
          </a:xfrm>
          <a:prstGeom prst="rect">
            <a:avLst/>
          </a:prstGeom>
          <a:noFill/>
          <a:ln/>
        </p:spPr>
        <p:txBody>
          <a:bodyPr wrap="square" lIns="0" tIns="0" rIns="0" bIns="0" rtlCol="0" anchor="t"/>
          <a:lstStyle/>
          <a:p>
            <a:pPr algn="l" indent="0" marL="0">
              <a:lnSpc>
                <a:spcPts val="3520"/>
              </a:lnSpc>
              <a:buNone/>
            </a:pPr>
            <a:r>
              <a:rPr lang="en-US" sz="3200" b="1" dirty="0">
                <a:solidFill>
                  <a:srgbClr val="A2470F"/>
                </a:solidFill>
                <a:latin typeface="Cambria" pitchFamily="34" charset="0"/>
                <a:ea typeface="Cambria" pitchFamily="34" charset="-122"/>
                <a:cs typeface="Cambria" pitchFamily="34" charset="-120"/>
              </a:rPr>
              <a:t>the</a:t>
            </a:r>
            <a:endParaRPr lang="en-US" sz="3200" dirty="0"/>
          </a:p>
        </p:txBody>
      </p:sp>
      <p:sp>
        <p:nvSpPr>
          <p:cNvPr id="10" name="Text 8"/>
          <p:cNvSpPr txBox="1"/>
          <p:nvPr/>
        </p:nvSpPr>
        <p:spPr>
          <a:xfrm>
            <a:off x="4656673" y="2565258"/>
            <a:ext cx="29742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A2470F"/>
                </a:solidFill>
                <a:latin typeface="Calibri" pitchFamily="34" charset="0"/>
                <a:ea typeface="Calibri" pitchFamily="34" charset="-122"/>
                <a:cs typeface="Calibri" pitchFamily="34" charset="-120"/>
              </a:rPr>
              <a:t>THE SPECIFIC ONE</a:t>
            </a:r>
            <a:endParaRPr lang="en-US" sz="1200" dirty="0"/>
          </a:p>
        </p:txBody>
      </p:sp>
      <p:sp>
        <p:nvSpPr>
          <p:cNvPr id="11" name="Text 9"/>
          <p:cNvSpPr txBox="1"/>
          <p:nvPr/>
        </p:nvSpPr>
        <p:spPr>
          <a:xfrm>
            <a:off x="4656673" y="2829336"/>
            <a:ext cx="2929463" cy="1462949"/>
          </a:xfrm>
          <a:prstGeom prst="rect">
            <a:avLst/>
          </a:prstGeom>
          <a:noFill/>
          <a:ln/>
        </p:spPr>
        <p:txBody>
          <a:bodyPr wrap="square" lIns="0" tIns="0" rIns="0" bIns="0" rtlCol="0" anchor="t"/>
          <a:lstStyle/>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second mention</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only one: the sun</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we both know which</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superlatives: the best</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rivers, seas, the USA</a:t>
            </a:r>
            <a:endParaRPr lang="en-US" sz="1600" dirty="0"/>
          </a:p>
        </p:txBody>
      </p:sp>
      <p:sp>
        <p:nvSpPr>
          <p:cNvPr id="12" name="Shape 10"/>
          <p:cNvSpPr/>
          <p:nvPr/>
        </p:nvSpPr>
        <p:spPr>
          <a:xfrm>
            <a:off x="7992496" y="1803288"/>
            <a:ext cx="3386663" cy="2743017"/>
          </a:xfrm>
          <a:prstGeom prst="roundRect">
            <a:avLst>
              <a:gd name="adj" fmla="val 4630"/>
            </a:avLst>
          </a:prstGeom>
          <a:solidFill>
            <a:srgbClr val="ECEAE6"/>
          </a:solidFill>
          <a:ln/>
        </p:spPr>
      </p:sp>
      <p:sp>
        <p:nvSpPr>
          <p:cNvPr id="13" name="Text 11"/>
          <p:cNvSpPr txBox="1"/>
          <p:nvPr/>
        </p:nvSpPr>
        <p:spPr>
          <a:xfrm>
            <a:off x="8246425" y="2057309"/>
            <a:ext cx="2974269" cy="446959"/>
          </a:xfrm>
          <a:prstGeom prst="rect">
            <a:avLst/>
          </a:prstGeom>
          <a:noFill/>
          <a:ln/>
        </p:spPr>
        <p:txBody>
          <a:bodyPr wrap="square" lIns="0" tIns="0" rIns="0" bIns="0" rtlCol="0" anchor="t"/>
          <a:lstStyle/>
          <a:p>
            <a:pPr algn="l" indent="0" marL="0">
              <a:lnSpc>
                <a:spcPts val="3520"/>
              </a:lnSpc>
              <a:buNone/>
            </a:pPr>
            <a:r>
              <a:rPr lang="en-US" sz="3200" b="1" dirty="0">
                <a:solidFill>
                  <a:srgbClr val="5E6675"/>
                </a:solidFill>
                <a:latin typeface="Cambria" pitchFamily="34" charset="0"/>
                <a:ea typeface="Cambria" pitchFamily="34" charset="-122"/>
                <a:cs typeface="Cambria" pitchFamily="34" charset="-120"/>
              </a:rPr>
              <a:t>Ø</a:t>
            </a:r>
            <a:endParaRPr lang="en-US" sz="3200" dirty="0"/>
          </a:p>
        </p:txBody>
      </p:sp>
      <p:sp>
        <p:nvSpPr>
          <p:cNvPr id="14" name="Text 12"/>
          <p:cNvSpPr txBox="1"/>
          <p:nvPr/>
        </p:nvSpPr>
        <p:spPr>
          <a:xfrm>
            <a:off x="8246425" y="2565258"/>
            <a:ext cx="29742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5E6675"/>
                </a:solidFill>
                <a:latin typeface="Calibri" pitchFamily="34" charset="0"/>
                <a:ea typeface="Calibri" pitchFamily="34" charset="-122"/>
                <a:cs typeface="Calibri" pitchFamily="34" charset="-120"/>
              </a:rPr>
              <a:t>NO ARTICLE</a:t>
            </a:r>
            <a:endParaRPr lang="en-US" sz="1200" dirty="0"/>
          </a:p>
        </p:txBody>
      </p:sp>
      <p:sp>
        <p:nvSpPr>
          <p:cNvPr id="15" name="Text 13"/>
          <p:cNvSpPr txBox="1"/>
          <p:nvPr/>
        </p:nvSpPr>
        <p:spPr>
          <a:xfrm>
            <a:off x="8246425" y="2829336"/>
            <a:ext cx="2929463" cy="1462949"/>
          </a:xfrm>
          <a:prstGeom prst="rect">
            <a:avLst/>
          </a:prstGeom>
          <a:noFill/>
          <a:ln/>
        </p:spPr>
        <p:txBody>
          <a:bodyPr wrap="square" lIns="0" tIns="0" rIns="0" bIns="0" rtlCol="0" anchor="t"/>
          <a:lstStyle/>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general plurals: dogs</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general ideas: music</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meals, sports, languages</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most countries, cities</a:t>
            </a:r>
            <a:endParaRPr lang="en-US" sz="1600" dirty="0"/>
          </a:p>
          <a:p>
            <a:pPr marL="223520" indent="-223520">
              <a:lnSpc>
                <a:spcPts val="2560"/>
              </a:lnSpc>
              <a:buSzPct val="100000"/>
              <a:buChar char="•"/>
            </a:pPr>
            <a:r>
              <a:rPr lang="en-US" sz="1600" dirty="0">
                <a:solidFill>
                  <a:srgbClr val="15233F"/>
                </a:solidFill>
                <a:latin typeface="Calibri" pitchFamily="34" charset="0"/>
                <a:ea typeface="Calibri" pitchFamily="34" charset="-122"/>
                <a:cs typeface="Calibri" pitchFamily="34" charset="-120"/>
              </a:rPr>
              <a:t>go to school, by bus</a:t>
            </a:r>
            <a:endParaRPr lang="en-US" sz="1600" dirty="0"/>
          </a:p>
        </p:txBody>
      </p:sp>
      <p:sp>
        <p:nvSpPr>
          <p:cNvPr id="16" name="Text 1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636B78"/>
                </a:solidFill>
                <a:latin typeface="Calibri" pitchFamily="34" charset="0"/>
                <a:ea typeface="Calibri" pitchFamily="34" charset="-122"/>
                <a:cs typeface="Calibri" pitchFamily="34" charset="-120"/>
              </a:rPr>
              <a:t>English Articles · A, An &amp; The</a:t>
            </a:r>
            <a:endParaRPr lang="en-US" sz="1200" dirty="0"/>
          </a:p>
        </p:txBody>
      </p:sp>
      <p:sp>
        <p:nvSpPr>
          <p:cNvPr id="17" name="Text 1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636B78"/>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33F"/>
        </a:solidFill>
      </p:bgPr>
    </p:bg>
    <p:spTree>
      <p:nvGrpSpPr>
        <p:cNvPr id="1" name=""/>
        <p:cNvGrpSpPr/>
        <p:nvPr/>
      </p:nvGrpSpPr>
      <p:grpSpPr>
        <a:xfrm>
          <a:off x="0" y="0"/>
          <a:ext cx="0" cy="0"/>
          <a:chOff x="0" y="0"/>
          <a:chExt cx="0" cy="0"/>
        </a:xfrm>
      </p:grpSpPr>
      <p:sp>
        <p:nvSpPr>
          <p:cNvPr id="2" name="Text 0"/>
          <p:cNvSpPr txBox="1"/>
          <p:nvPr/>
        </p:nvSpPr>
        <p:spPr>
          <a:xfrm>
            <a:off x="812810" y="1237732"/>
            <a:ext cx="10815798" cy="228600"/>
          </a:xfrm>
          <a:prstGeom prst="rect">
            <a:avLst/>
          </a:prstGeom>
          <a:noFill/>
          <a:ln/>
        </p:spPr>
        <p:txBody>
          <a:bodyPr wrap="square" lIns="0" tIns="0" rIns="0" bIns="0" rtlCol="0" anchor="t"/>
          <a:lstStyle/>
          <a:p>
            <a:pPr algn="l" indent="0" marL="0">
              <a:lnSpc>
                <a:spcPts val="1680"/>
              </a:lnSpc>
              <a:buNone/>
            </a:pPr>
            <a:r>
              <a:rPr lang="en-US" sz="1200" b="1" spc="200" kern="0" dirty="0">
                <a:solidFill>
                  <a:srgbClr val="F4A261"/>
                </a:solidFill>
                <a:latin typeface="Calibri" pitchFamily="34" charset="0"/>
                <a:ea typeface="Calibri" pitchFamily="34" charset="-122"/>
                <a:cs typeface="Calibri" pitchFamily="34" charset="-120"/>
              </a:rPr>
              <a:t>REMEMBER</a:t>
            </a:r>
            <a:endParaRPr lang="en-US" sz="1200" dirty="0"/>
          </a:p>
        </p:txBody>
      </p:sp>
      <p:sp>
        <p:nvSpPr>
          <p:cNvPr id="3" name="Text 1"/>
          <p:cNvSpPr txBox="1"/>
          <p:nvPr/>
        </p:nvSpPr>
        <p:spPr>
          <a:xfrm>
            <a:off x="812810" y="1542410"/>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F4EFE4"/>
                </a:solidFill>
                <a:latin typeface="Cambria" pitchFamily="34" charset="0"/>
                <a:ea typeface="Cambria" pitchFamily="34" charset="-122"/>
                <a:cs typeface="Cambria" pitchFamily="34" charset="-120"/>
              </a:rPr>
              <a:t>Three questions, every time</a:t>
            </a:r>
            <a:endParaRPr lang="en-US" sz="3200" dirty="0"/>
          </a:p>
        </p:txBody>
      </p:sp>
      <p:sp>
        <p:nvSpPr>
          <p:cNvPr id="4" name="Text 2"/>
          <p:cNvSpPr txBox="1"/>
          <p:nvPr/>
        </p:nvSpPr>
        <p:spPr>
          <a:xfrm>
            <a:off x="812810" y="2294230"/>
            <a:ext cx="556230" cy="446959"/>
          </a:xfrm>
          <a:prstGeom prst="rect">
            <a:avLst/>
          </a:prstGeom>
          <a:noFill/>
          <a:ln/>
        </p:spPr>
        <p:txBody>
          <a:bodyPr wrap="square" lIns="0" tIns="0" rIns="0" bIns="0" rtlCol="0" anchor="t"/>
          <a:lstStyle/>
          <a:p>
            <a:pPr algn="l" indent="0" marL="0">
              <a:lnSpc>
                <a:spcPts val="3520"/>
              </a:lnSpc>
              <a:buNone/>
            </a:pPr>
            <a:r>
              <a:rPr lang="en-US" sz="3200" b="1" dirty="0">
                <a:solidFill>
                  <a:srgbClr val="F4A261"/>
                </a:solidFill>
                <a:latin typeface="Cambria" pitchFamily="34" charset="0"/>
                <a:ea typeface="Cambria" pitchFamily="34" charset="-122"/>
                <a:cs typeface="Cambria" pitchFamily="34" charset="-120"/>
              </a:rPr>
              <a:t>1</a:t>
            </a:r>
            <a:endParaRPr lang="en-US" sz="3200" dirty="0"/>
          </a:p>
        </p:txBody>
      </p:sp>
      <p:sp>
        <p:nvSpPr>
          <p:cNvPr id="5" name="Text 3"/>
          <p:cNvSpPr txBox="1"/>
          <p:nvPr/>
        </p:nvSpPr>
        <p:spPr>
          <a:xfrm>
            <a:off x="1524030" y="2389510"/>
            <a:ext cx="10090404" cy="342900"/>
          </a:xfrm>
          <a:prstGeom prst="rect">
            <a:avLst/>
          </a:prstGeom>
          <a:noFill/>
          <a:ln/>
        </p:spPr>
        <p:txBody>
          <a:bodyPr wrap="square" lIns="0" tIns="0" rIns="0" bIns="0" rtlCol="0" anchor="t"/>
          <a:lstStyle/>
          <a:p>
            <a:pPr algn="l" indent="0" marL="0">
              <a:lnSpc>
                <a:spcPts val="2600"/>
              </a:lnSpc>
              <a:buNone/>
            </a:pPr>
            <a:r>
              <a:rPr lang="en-US" sz="2000" b="1" dirty="0">
                <a:solidFill>
                  <a:srgbClr val="F4EFE4"/>
                </a:solidFill>
                <a:latin typeface="Calibri" pitchFamily="34" charset="0"/>
                <a:ea typeface="Calibri" pitchFamily="34" charset="-122"/>
                <a:cs typeface="Calibri" pitchFamily="34" charset="-120"/>
              </a:rPr>
              <a:t>Is it one countable thing, or plural / uncountable?</a:t>
            </a:r>
            <a:endParaRPr lang="en-US" sz="2000" dirty="0"/>
          </a:p>
        </p:txBody>
      </p:sp>
      <p:sp>
        <p:nvSpPr>
          <p:cNvPr id="6" name="Text 4"/>
          <p:cNvSpPr txBox="1"/>
          <p:nvPr/>
        </p:nvSpPr>
        <p:spPr>
          <a:xfrm>
            <a:off x="1524030" y="2737439"/>
            <a:ext cx="10090404" cy="304770"/>
          </a:xfrm>
          <a:prstGeom prst="rect">
            <a:avLst/>
          </a:prstGeom>
          <a:noFill/>
          <a:ln/>
        </p:spPr>
        <p:txBody>
          <a:bodyPr wrap="square" lIns="0" tIns="0" rIns="0" bIns="0" rtlCol="0" anchor="t"/>
          <a:lstStyle/>
          <a:p>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Plural or uncountable nouns never take a / an.</a:t>
            </a:r>
            <a:endParaRPr lang="en-US" sz="1600" dirty="0"/>
          </a:p>
        </p:txBody>
      </p:sp>
      <p:sp>
        <p:nvSpPr>
          <p:cNvPr id="7" name="Text 5"/>
          <p:cNvSpPr txBox="1"/>
          <p:nvPr/>
        </p:nvSpPr>
        <p:spPr>
          <a:xfrm>
            <a:off x="812810" y="3245480"/>
            <a:ext cx="556230" cy="446959"/>
          </a:xfrm>
          <a:prstGeom prst="rect">
            <a:avLst/>
          </a:prstGeom>
          <a:noFill/>
          <a:ln/>
        </p:spPr>
        <p:txBody>
          <a:bodyPr wrap="square" lIns="0" tIns="0" rIns="0" bIns="0" rtlCol="0" anchor="t"/>
          <a:lstStyle/>
          <a:p>
            <a:pPr algn="l" indent="0" marL="0">
              <a:lnSpc>
                <a:spcPts val="3520"/>
              </a:lnSpc>
              <a:buNone/>
            </a:pPr>
            <a:r>
              <a:rPr lang="en-US" sz="3200" b="1" dirty="0">
                <a:solidFill>
                  <a:srgbClr val="F4A261"/>
                </a:solidFill>
                <a:latin typeface="Cambria" pitchFamily="34" charset="0"/>
                <a:ea typeface="Cambria" pitchFamily="34" charset="-122"/>
                <a:cs typeface="Cambria" pitchFamily="34" charset="-120"/>
              </a:rPr>
              <a:t>2</a:t>
            </a:r>
            <a:endParaRPr lang="en-US" sz="3200" dirty="0"/>
          </a:p>
        </p:txBody>
      </p:sp>
      <p:sp>
        <p:nvSpPr>
          <p:cNvPr id="8" name="Text 6"/>
          <p:cNvSpPr txBox="1"/>
          <p:nvPr/>
        </p:nvSpPr>
        <p:spPr>
          <a:xfrm>
            <a:off x="1524030" y="3340669"/>
            <a:ext cx="10090404" cy="342900"/>
          </a:xfrm>
          <a:prstGeom prst="rect">
            <a:avLst/>
          </a:prstGeom>
          <a:noFill/>
          <a:ln/>
        </p:spPr>
        <p:txBody>
          <a:bodyPr wrap="square" lIns="0" tIns="0" rIns="0" bIns="0" rtlCol="0" anchor="t"/>
          <a:lstStyle/>
          <a:p>
            <a:pPr algn="l" indent="0" marL="0">
              <a:lnSpc>
                <a:spcPts val="2600"/>
              </a:lnSpc>
              <a:buNone/>
            </a:pPr>
            <a:r>
              <a:rPr lang="en-US" sz="2000" b="1" dirty="0">
                <a:solidFill>
                  <a:srgbClr val="F4EFE4"/>
                </a:solidFill>
                <a:latin typeface="Calibri" pitchFamily="34" charset="0"/>
                <a:ea typeface="Calibri" pitchFamily="34" charset="-122"/>
                <a:cs typeface="Calibri" pitchFamily="34" charset="-120"/>
              </a:rPr>
              <a:t>Do we both know which one?</a:t>
            </a:r>
            <a:endParaRPr lang="en-US" sz="2000" dirty="0"/>
          </a:p>
        </p:txBody>
      </p:sp>
      <p:sp>
        <p:nvSpPr>
          <p:cNvPr id="9" name="Text 7"/>
          <p:cNvSpPr txBox="1"/>
          <p:nvPr/>
        </p:nvSpPr>
        <p:spPr>
          <a:xfrm>
            <a:off x="1524030" y="3688690"/>
            <a:ext cx="10090404" cy="304770"/>
          </a:xfrm>
          <a:prstGeom prst="rect">
            <a:avLst/>
          </a:prstGeom>
          <a:noFill/>
          <a:ln/>
        </p:spPr>
        <p:txBody>
          <a:bodyPr wrap="square" lIns="0" tIns="0" rIns="0" bIns="0" rtlCol="0" anchor="t"/>
          <a:lstStyle/>
          <a:p>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Yes → </a:t>
            </a:r>
            <a:pPr algn="l" indent="0" marL="0">
              <a:lnSpc>
                <a:spcPts val="2240"/>
              </a:lnSpc>
              <a:buNone/>
            </a:pPr>
            <a:r>
              <a:rPr lang="en-US" sz="1600" b="1" dirty="0">
                <a:solidFill>
                  <a:srgbClr val="F4A261"/>
                </a:solidFill>
                <a:latin typeface="Calibri" pitchFamily="34" charset="0"/>
                <a:ea typeface="Calibri" pitchFamily="34" charset="-122"/>
                <a:cs typeface="Calibri" pitchFamily="34" charset="-120"/>
              </a:rPr>
              <a:t>the</a:t>
            </a:r>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 No → </a:t>
            </a:r>
            <a:pPr algn="l" indent="0" marL="0">
              <a:lnSpc>
                <a:spcPts val="2240"/>
              </a:lnSpc>
              <a:buNone/>
            </a:pPr>
            <a:r>
              <a:rPr lang="en-US" sz="1600" b="1" dirty="0">
                <a:solidFill>
                  <a:srgbClr val="8DB0F5"/>
                </a:solidFill>
                <a:latin typeface="Calibri" pitchFamily="34" charset="0"/>
                <a:ea typeface="Calibri" pitchFamily="34" charset="-122"/>
                <a:cs typeface="Calibri" pitchFamily="34" charset="-120"/>
              </a:rPr>
              <a:t>a / an</a:t>
            </a:r>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 or </a:t>
            </a:r>
            <a:pPr algn="l" indent="0" marL="0">
              <a:lnSpc>
                <a:spcPts val="2240"/>
              </a:lnSpc>
              <a:buNone/>
            </a:pPr>
            <a:r>
              <a:rPr lang="en-US" sz="1600" b="1" dirty="0">
                <a:solidFill>
                  <a:srgbClr val="B9C2D0"/>
                </a:solidFill>
                <a:latin typeface="Calibri" pitchFamily="34" charset="0"/>
                <a:ea typeface="Calibri" pitchFamily="34" charset="-122"/>
                <a:cs typeface="Calibri" pitchFamily="34" charset="-120"/>
              </a:rPr>
              <a:t>Ø</a:t>
            </a:r>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 for things in general.</a:t>
            </a:r>
            <a:endParaRPr lang="en-US" sz="1600" dirty="0"/>
          </a:p>
        </p:txBody>
      </p:sp>
      <p:sp>
        <p:nvSpPr>
          <p:cNvPr id="10" name="Text 8"/>
          <p:cNvSpPr txBox="1"/>
          <p:nvPr/>
        </p:nvSpPr>
        <p:spPr>
          <a:xfrm>
            <a:off x="812810" y="4196639"/>
            <a:ext cx="556230" cy="446959"/>
          </a:xfrm>
          <a:prstGeom prst="rect">
            <a:avLst/>
          </a:prstGeom>
          <a:noFill/>
          <a:ln/>
        </p:spPr>
        <p:txBody>
          <a:bodyPr wrap="square" lIns="0" tIns="0" rIns="0" bIns="0" rtlCol="0" anchor="t"/>
          <a:lstStyle/>
          <a:p>
            <a:pPr algn="l" indent="0" marL="0">
              <a:lnSpc>
                <a:spcPts val="3520"/>
              </a:lnSpc>
              <a:buNone/>
            </a:pPr>
            <a:r>
              <a:rPr lang="en-US" sz="3200" b="1" dirty="0">
                <a:solidFill>
                  <a:srgbClr val="F4A261"/>
                </a:solidFill>
                <a:latin typeface="Cambria" pitchFamily="34" charset="0"/>
                <a:ea typeface="Cambria" pitchFamily="34" charset="-122"/>
                <a:cs typeface="Cambria" pitchFamily="34" charset="-120"/>
              </a:rPr>
              <a:t>3</a:t>
            </a:r>
            <a:endParaRPr lang="en-US" sz="3200" dirty="0"/>
          </a:p>
        </p:txBody>
      </p:sp>
      <p:sp>
        <p:nvSpPr>
          <p:cNvPr id="11" name="Text 9"/>
          <p:cNvSpPr txBox="1"/>
          <p:nvPr/>
        </p:nvSpPr>
        <p:spPr>
          <a:xfrm>
            <a:off x="1524030" y="4291919"/>
            <a:ext cx="10090404" cy="342900"/>
          </a:xfrm>
          <a:prstGeom prst="rect">
            <a:avLst/>
          </a:prstGeom>
          <a:noFill/>
          <a:ln/>
        </p:spPr>
        <p:txBody>
          <a:bodyPr wrap="square" lIns="0" tIns="0" rIns="0" bIns="0" rtlCol="0" anchor="t"/>
          <a:lstStyle/>
          <a:p>
            <a:pPr algn="l" indent="0" marL="0">
              <a:lnSpc>
                <a:spcPts val="2600"/>
              </a:lnSpc>
              <a:buNone/>
            </a:pPr>
            <a:r>
              <a:rPr lang="en-US" sz="2000" b="1" dirty="0">
                <a:solidFill>
                  <a:srgbClr val="F4EFE4"/>
                </a:solidFill>
                <a:latin typeface="Calibri" pitchFamily="34" charset="0"/>
                <a:ea typeface="Calibri" pitchFamily="34" charset="-122"/>
                <a:cs typeface="Calibri" pitchFamily="34" charset="-120"/>
              </a:rPr>
              <a:t>What is the first sound of the next word?</a:t>
            </a:r>
            <a:endParaRPr lang="en-US" sz="2000" dirty="0"/>
          </a:p>
        </p:txBody>
      </p:sp>
      <p:sp>
        <p:nvSpPr>
          <p:cNvPr id="12" name="Text 10"/>
          <p:cNvSpPr txBox="1"/>
          <p:nvPr/>
        </p:nvSpPr>
        <p:spPr>
          <a:xfrm>
            <a:off x="1524030" y="4639848"/>
            <a:ext cx="10090404" cy="304770"/>
          </a:xfrm>
          <a:prstGeom prst="rect">
            <a:avLst/>
          </a:prstGeom>
          <a:noFill/>
          <a:ln/>
        </p:spPr>
        <p:txBody>
          <a:bodyPr wrap="square" lIns="0" tIns="0" rIns="0" bIns="0" rtlCol="0" anchor="t"/>
          <a:lstStyle/>
          <a:p>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Vowel sound → </a:t>
            </a:r>
            <a:pPr algn="l" indent="0" marL="0">
              <a:lnSpc>
                <a:spcPts val="2240"/>
              </a:lnSpc>
              <a:buNone/>
            </a:pPr>
            <a:r>
              <a:rPr lang="en-US" sz="1600" b="1" dirty="0">
                <a:solidFill>
                  <a:srgbClr val="8DB0F5"/>
                </a:solidFill>
                <a:latin typeface="Calibri" pitchFamily="34" charset="0"/>
                <a:ea typeface="Calibri" pitchFamily="34" charset="-122"/>
                <a:cs typeface="Calibri" pitchFamily="34" charset="-120"/>
              </a:rPr>
              <a:t>an</a:t>
            </a:r>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 Consonant sound → </a:t>
            </a:r>
            <a:pPr algn="l" indent="0" marL="0">
              <a:lnSpc>
                <a:spcPts val="2240"/>
              </a:lnSpc>
              <a:buNone/>
            </a:pPr>
            <a:r>
              <a:rPr lang="en-US" sz="1600" b="1" dirty="0">
                <a:solidFill>
                  <a:srgbClr val="8DB0F5"/>
                </a:solidFill>
                <a:latin typeface="Calibri" pitchFamily="34" charset="0"/>
                <a:ea typeface="Calibri" pitchFamily="34" charset="-122"/>
                <a:cs typeface="Calibri" pitchFamily="34" charset="-120"/>
              </a:rPr>
              <a:t>a</a:t>
            </a:r>
            <a:pPr algn="l" indent="0" marL="0">
              <a:lnSpc>
                <a:spcPts val="2240"/>
              </a:lnSpc>
              <a:buNone/>
            </a:pPr>
            <a:r>
              <a:rPr lang="en-US" sz="1600" dirty="0">
                <a:solidFill>
                  <a:srgbClr val="C9D1DE"/>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812810" y="5224059"/>
            <a:ext cx="10815798" cy="381030"/>
          </a:xfrm>
          <a:prstGeom prst="rect">
            <a:avLst/>
          </a:prstGeom>
          <a:noFill/>
          <a:ln/>
        </p:spPr>
        <p:txBody>
          <a:bodyPr wrap="square" lIns="0" tIns="0" rIns="0" bIns="0" rtlCol="0" anchor="t"/>
          <a:lstStyle/>
          <a:p>
            <a:pPr algn="l" indent="0" marL="0">
              <a:lnSpc>
                <a:spcPts val="2800"/>
              </a:lnSpc>
              <a:buNone/>
            </a:pPr>
            <a:r>
              <a:rPr lang="en-US" sz="2000" b="1" dirty="0">
                <a:solidFill>
                  <a:srgbClr val="F4A261"/>
                </a:solidFill>
                <a:latin typeface="Cambria" pitchFamily="34" charset="0"/>
                <a:ea typeface="Cambria" pitchFamily="34" charset="-122"/>
                <a:cs typeface="Cambria" pitchFamily="34" charset="-120"/>
              </a:rPr>
              <a:t>Thank you! Any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Articles: A, An &amp; The</dc:title>
  <dc:subject>English grammar: the articles a, an, the and no article</dc:subject>
  <dc:creator>PptxGenJS</dc:creator>
  <cp:lastModifiedBy>PptxGenJS</cp:lastModifiedBy>
  <cp:revision>1</cp:revision>
  <dcterms:created xsi:type="dcterms:W3CDTF">2026-09-28T15:51:14Z</dcterms:created>
  <dcterms:modified xsi:type="dcterms:W3CDTF">2026-09-28T15:51:14Z</dcterms:modified>
</cp:coreProperties>
</file>