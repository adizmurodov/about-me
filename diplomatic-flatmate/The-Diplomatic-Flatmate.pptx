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sharing a flat with another person, and how to talk about problems politely, or "diplomatically". We will learn some useful language and then play five team games. Divide the class into three teams now: Team 1, The Diplomats; Team 2, The Negotiators; Team 3, The Peacemakers. Every game gives points, and the team with the most points at the end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We start with a short warm-up, then five games. Between the games we learn the language we need: question tags, diplomatic key phrases and "be supposed to". The last game is a role-play tournament, which uses everything from the lesson. The whole lesson takes about 65 minutes. Keep the score on the board, or use the scoreboard in the offline version of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students into three teams of similar size and level. Each team chooses a captain. The captain writes the team's answers in the writing games and makes sure a different player speaks each turn. Read the four fair-play rules aloud. If a team uses another language during a game, you can take away one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ask the class the questions on the left and let two or three students answer. Read the situation together: this is the main task of the lesson. Then play Problem Storm. Each team has 60 seconds to write a list of problems people can have when they share a flat. Teams read their lists aloud one by one. If two or three teams have the same problem, nobody gets a point for it. Every problem that only one team has gives that team 1 point. Write useful problems on the board, because the teams will need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talk about a problem, we must listen and react to the other person. First, show that you understand their feelings with phrases like "Oh dear", "Oh, I'm sorry" and "I didn't realise". Second, use question tags to invite the other person to agree with you. They make a statement softer and more friendly. Ask a few students to repeat the example sentences with good intonation.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tag uses the same auxiliary verb as the sentence: be, do, have, can, will and so on. If the sentence has no auxiliary, we use do, does or did. A positive sentence takes a negative tag, and a negative sentence takes a positive tag. Words like never and nobody make the sentence negative, so the tag is positive. Remember the special cases: I'm becomes "aren't I", Let's becomes "shall we", and a request like "Close the door" becomes "will you". Finally, practise the intonation: when the voice goes down, we expect agreement; when the voice goes up, it is a real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1, Tag Tennis. There are three rounds and 18 sentences in total. Teams answer in turn: Team 1 takes sentence 1, Team 2 sentence 2, Team 3 sentence 3, and so on. A team must say the whole sentence, not just the tag. Count ten seconds aloud. If the answer is wrong or too slow, the next team can steal it for one point. Give one bonus point when the voice clearly goes down on the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sentences are from exercise 2 in the book. Team 1 answers sentence 1, Team 2 sentence 2, Team 3 sentence 3, then Team 1 again. The player must say the whole sentence with the tag. Count to ten. A wrong or slow answer can be stolen by the next team for one point. Do not show the answers until all six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and the reasons. Ask the whole class to repeat each sentence with the voice going down on the tag. Pay attention to number 6: "I'm…" takes "aren't I?", not "am not I?". Add up the points for Round 1 before you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is harder: it uses the special cases from the grammar slide. Continue the turn order from Round 1. If no team can answer, give a hint by pointing to the special cases: nobody, let's, there and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answers. Point out sentence 9: "nobody" makes the sentence negative, so the tag is positive, and we use "they" for "nobody". Sentence 12 is a request, so "will you?" makes it softer and more polite. Add up the Round 2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round: teams now have only five seconds per sentence, so it is fast and exciting. Steals are still allowed. Sentence 13 uses "be supposed to", which we will study later in the lesson. After this round, add up the totals for Game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last six answers. Sentence 15: "never" makes the sentence negative, so the tag is positive: "does he?". Sentence 17: "everyone" takes "they" in the tag. Announce the total score after Game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2 uses the key phrases from exercise 4. In Round 1, all teams work at the same time. They have three minutes to complete the eight phrases on paper. When a team thinks it has finished, the captain raises a hand and you check. The first team with all eight correct gets three bonus points. Then check all teams' answers: one point per correct phrase. In Round 2, teams take turns to finish a phrase with a real flat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three-minute timer. Teams write the numbers 1 to 8 and the missing word for each phrase. Remind them that one word in the box is not needed. Walk around and check, but do not give answers. When time is up,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answers: 1 word, 2 just, 3 mind, 4 perhaps, 5 feel, 6 bring, 7 should, 8 on. The word "resolve" was not needed. Give one point per correct phrase and the bonus to the fastest team. The phrases are grouped by what they do in a conversation. This is the toolkit the teams will use in Games 3 and 5, so leave this slide on the screen for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out a letter, A to H. The team whose turn it is has about ten seconds to say the phrase and finish it with a real flat-sharing problem, like the example. A natural and grammatically correct ending gets one point. If the ending is wrong, the next team can try for the point. Go around all three teams twice, so every team gets two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3 practises exercise 5: introducing a topic and talking about it diplomatically. All teams play at the same time. Show one rude sentence and start a 60-second timer. Each team writes a polite version. Then each team reads its version aloud, and you give points: one for each phrase from the toolkit, up to two; one for empathy or a question tag; and one for the most diplomatic version. Play as many of the eight cards as you have time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model before the game starts. Read the rude sentence in an angry voice, then the diplomatic version in a calm, friendly voice. Point out the green parts: two or more toolkit phrases give the maximum of two points, and the question tag "doesn't it?" gives one more. If this version were the most diplomatic in the round, it would get four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one card at a time and start the 60-second timer. All three teams write a diplomatic version at the same time. Then each team reads its version aloud. Give up to two points for toolkit phrases, one point for empathy or a question tag, and one point for the most diplomatic version. Topics 1 to 4 come from exercise 5 in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Cards 5 and 6 are from exercise 5. Cards 7 and 8, visitors and noise, prepare the teams for the final role-play in exercise 8. Play the cards in the same way: 60 seconds, then each team reads aloud. Add up the Game 3 points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 this!" box from the book. "Be supposed to" shows obligation: something you are expected to do, often because of a rule. The two examples from the book are "We're supposed to pay the bills on time" and "I'm not supposed to stay out late on weekdays". The most common mistake is to forget the verb "be". Ask students for one more example about their own home or school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4 practises "be supposed to". Round 1 works like the warm-up: teams write as many rules as they can in three minutes, for example "We're supposed to wash our dishes after dinner". Teams read their rules one by one. If two or three teams have the same rule, nobody gets points for it. A unique rule with correct grammar gets two points. In Round 2, teams take turns to react to a situation with a sentence using "supposed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situation aloud. The team whose turn it is has fifteen seconds to say a correct sentence with "be supposed to" about the rule that was broken. Correct sentences get two points; if the team fails, the next team can steal for one point. There is more than one correct answer for each situation. Check the form carefully: be + supposed to +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model answers. Accept any sentence that is logical and uses the correct form, for example "Tom isn't supposed to play video games when it's his turn to clean". Add up the Game 4 points and announce the scores before the final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game is the role-play from exercise 8. It uses everything from the lesson: the toolkit phrases, empathy, question tags and "be supposed to". There are three matches, and every team plays every role once: Diplomat, Difficult flatmate and Jury. The Difficult flatmate makes excuses but must stay polite. The Diplomat must solve the problem and reach an agreement. This game gives the most points, so the final scores can still change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rotation is fair: every team is the Diplomat once, the Difficult flatmate once and the Jury once. Before each match, the two players come to the front. Their teams have one minute to help them prepare ideas. Then the Diplomat picks a topic number from the next slides and the three-minute timer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scorecard with the class before the first match, so everyone knows how to win points. The jury team listens and ticks each point on paper. After the match, the jury captain explains their points, for example: "She used a question tag: the kitchen is messy, isn't it?". The teacher checks the jury's decision and adds the points to the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Topics 1 to 6 come from exercise 5, and topics 7 and 8 come from the role-play in exercise 8. The Diplomat chooses a number. Each card shows a typical excuse that the Difficult flatmate can start with. Use a topic only once, so each match has a different problem. Start the three-minute timer, and stop the match when time is up or when the players reach a clear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points for each game, either here (type in the table in PowerPoint) or on the board, and add up the totals. Announce the winning team and give them a round of applause. Then thank all three teams: everyone practised a lot of English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lesson by reviewing the four language points on the screen. Ask one student from each team to give an example of each. For homework, students write a cleaning rota for an imaginary shared flat with five rules using "be supposed to" or "not supposed to". Thank the class for playing.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2A"/>
        </a:solidFill>
      </p:bgPr>
    </p:bg>
    <p:spTree>
      <p:nvGrpSpPr>
        <p:cNvPr id="1" name=""/>
        <p:cNvGrpSpPr/>
        <p:nvPr/>
      </p:nvGrpSpPr>
      <p:grpSpPr>
        <a:xfrm>
          <a:off x="0" y="0"/>
          <a:ext cx="0" cy="0"/>
          <a:chOff x="0" y="0"/>
          <a:chExt cx="0" cy="0"/>
        </a:xfrm>
      </p:grpSpPr>
      <p:sp>
        <p:nvSpPr>
          <p:cNvPr id="2" name="Shape 0"/>
          <p:cNvSpPr/>
          <p:nvPr/>
        </p:nvSpPr>
        <p:spPr>
          <a:xfrm>
            <a:off x="812810" y="1539301"/>
            <a:ext cx="1039398" cy="340340"/>
          </a:xfrm>
          <a:prstGeom prst="roundRect">
            <a:avLst>
              <a:gd name="adj" fmla="val 50000"/>
            </a:avLst>
          </a:prstGeom>
          <a:solidFill>
            <a:srgbClr val="8FD3B0"/>
          </a:solidFill>
          <a:ln/>
        </p:spPr>
      </p:sp>
      <p:sp>
        <p:nvSpPr>
          <p:cNvPr id="3" name="Text 1"/>
          <p:cNvSpPr txBox="1"/>
          <p:nvPr/>
        </p:nvSpPr>
        <p:spPr>
          <a:xfrm>
            <a:off x="965241" y="1587581"/>
            <a:ext cx="787390"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14302A"/>
                </a:solidFill>
                <a:latin typeface="Arial" pitchFamily="34" charset="0"/>
                <a:ea typeface="Arial" pitchFamily="34" charset="-122"/>
                <a:cs typeface="Arial" pitchFamily="34" charset="-120"/>
              </a:rPr>
              <a:t>UNIT 2G</a:t>
            </a:r>
            <a:endParaRPr lang="en-US" sz="1200" dirty="0"/>
          </a:p>
        </p:txBody>
      </p:sp>
      <p:sp>
        <p:nvSpPr>
          <p:cNvPr id="4" name="Shape 2"/>
          <p:cNvSpPr/>
          <p:nvPr/>
        </p:nvSpPr>
        <p:spPr>
          <a:xfrm>
            <a:off x="1953798" y="1539301"/>
            <a:ext cx="2483876" cy="340340"/>
          </a:xfrm>
          <a:prstGeom prst="roundRect">
            <a:avLst>
              <a:gd name="adj" fmla="val 50000"/>
            </a:avLst>
          </a:prstGeom>
          <a:ln w="12700">
            <a:solidFill>
              <a:srgbClr val="8FD3B0"/>
            </a:solidFill>
            <a:prstDash val="solid"/>
          </a:ln>
        </p:spPr>
      </p:sp>
      <p:sp>
        <p:nvSpPr>
          <p:cNvPr id="5" name="Text 3"/>
          <p:cNvSpPr txBox="1"/>
          <p:nvPr/>
        </p:nvSpPr>
        <p:spPr>
          <a:xfrm>
            <a:off x="2106229" y="1587581"/>
            <a:ext cx="2260763"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FD3B0"/>
                </a:solidFill>
                <a:latin typeface="Arial" pitchFamily="34" charset="0"/>
                <a:ea typeface="Arial" pitchFamily="34" charset="-122"/>
                <a:cs typeface="Arial" pitchFamily="34" charset="-120"/>
              </a:rPr>
              <a:t>SPEAKING · ROLE-PLAY</a:t>
            </a:r>
            <a:endParaRPr lang="en-US" sz="1200" dirty="0"/>
          </a:p>
        </p:txBody>
      </p:sp>
      <p:sp>
        <p:nvSpPr>
          <p:cNvPr id="6" name="Text 4"/>
          <p:cNvSpPr txBox="1"/>
          <p:nvPr/>
        </p:nvSpPr>
        <p:spPr>
          <a:xfrm>
            <a:off x="812810" y="2133570"/>
            <a:ext cx="10815798" cy="1600200"/>
          </a:xfrm>
          <a:prstGeom prst="rect">
            <a:avLst/>
          </a:prstGeom>
          <a:noFill/>
          <a:ln/>
        </p:spPr>
        <p:txBody>
          <a:bodyPr wrap="square" lIns="0" tIns="0" rIns="0" bIns="0" rtlCol="0" anchor="t"/>
          <a:lstStyle/>
          <a:p>
            <a:pPr algn="l" indent="0" marL="0">
              <a:lnSpc>
                <a:spcPts val="6300"/>
              </a:lnSpc>
              <a:buNone/>
            </a:pPr>
            <a:r>
              <a:rPr lang="en-US" sz="6000" b="1" dirty="0">
                <a:solidFill>
                  <a:srgbClr val="F3F0E6"/>
                </a:solidFill>
                <a:latin typeface="Arial" pitchFamily="34" charset="0"/>
                <a:ea typeface="Arial" pitchFamily="34" charset="-122"/>
                <a:cs typeface="Arial" pitchFamily="34" charset="-120"/>
              </a:rPr>
              <a:t>The Diplomatic</a:t>
            </a:r>
            <a:endParaRPr lang="en-US" sz="6000" dirty="0"/>
          </a:p>
          <a:p>
            <a:pPr algn="l" indent="0" marL="0">
              <a:lnSpc>
                <a:spcPts val="6300"/>
              </a:lnSpc>
              <a:buNone/>
            </a:pPr>
            <a:r>
              <a:rPr lang="en-US" sz="6000" b="1" dirty="0">
                <a:solidFill>
                  <a:srgbClr val="8FD3B0"/>
                </a:solidFill>
                <a:latin typeface="Arial" pitchFamily="34" charset="0"/>
                <a:ea typeface="Arial" pitchFamily="34" charset="-122"/>
                <a:cs typeface="Arial" pitchFamily="34" charset="-120"/>
              </a:rPr>
              <a:t>Flatmate</a:t>
            </a:r>
            <a:endParaRPr lang="en-US" sz="6000" dirty="0"/>
          </a:p>
        </p:txBody>
      </p:sp>
      <p:sp>
        <p:nvSpPr>
          <p:cNvPr id="7" name="Text 5"/>
          <p:cNvSpPr txBox="1"/>
          <p:nvPr/>
        </p:nvSpPr>
        <p:spPr>
          <a:xfrm>
            <a:off x="812810" y="3962370"/>
            <a:ext cx="8069580" cy="736641"/>
          </a:xfrm>
          <a:prstGeom prst="rect">
            <a:avLst/>
          </a:prstGeom>
          <a:noFill/>
          <a:ln/>
        </p:spPr>
        <p:txBody>
          <a:bodyPr wrap="square" lIns="0" tIns="0" rIns="0" bIns="0" rtlCol="0" anchor="t"/>
          <a:lstStyle/>
          <a:p>
            <a:pPr algn="l" indent="0" marL="0">
              <a:lnSpc>
                <a:spcPts val="2800"/>
              </a:lnSpc>
              <a:buNone/>
            </a:pPr>
            <a:r>
              <a:rPr lang="en-US" sz="2000" dirty="0">
                <a:solidFill>
                  <a:srgbClr val="BFD0C8"/>
                </a:solidFill>
                <a:latin typeface="Arial" pitchFamily="34" charset="0"/>
                <a:ea typeface="Arial" pitchFamily="34" charset="-122"/>
                <a:cs typeface="Arial" pitchFamily="34" charset="-120"/>
              </a:rPr>
              <a:t>I can use diplomatic language in a discussion: solve flat-sharing problems politely, and win points for my team.</a:t>
            </a:r>
            <a:endParaRPr lang="en-US" sz="2000" dirty="0"/>
          </a:p>
        </p:txBody>
      </p:sp>
      <p:sp>
        <p:nvSpPr>
          <p:cNvPr id="8" name="Shape 6"/>
          <p:cNvSpPr/>
          <p:nvPr/>
        </p:nvSpPr>
        <p:spPr>
          <a:xfrm>
            <a:off x="812810" y="4953030"/>
            <a:ext cx="2054931" cy="365760"/>
          </a:xfrm>
          <a:prstGeom prst="roundRect">
            <a:avLst>
              <a:gd name="adj" fmla="val 50000"/>
            </a:avLst>
          </a:prstGeom>
          <a:solidFill>
            <a:srgbClr val="E3EAFA"/>
          </a:solidFill>
          <a:ln/>
        </p:spPr>
      </p:sp>
      <p:sp>
        <p:nvSpPr>
          <p:cNvPr id="9" name="Text 7"/>
          <p:cNvSpPr txBox="1"/>
          <p:nvPr/>
        </p:nvSpPr>
        <p:spPr>
          <a:xfrm>
            <a:off x="990570" y="5013930"/>
            <a:ext cx="1771376" cy="228600"/>
          </a:xfrm>
          <a:prstGeom prst="rect">
            <a:avLst/>
          </a:prstGeom>
          <a:noFill/>
          <a:ln/>
        </p:spPr>
        <p:txBody>
          <a:bodyPr wrap="square" lIns="0" tIns="0" rIns="0" bIns="0" rtlCol="0" anchor="t"/>
          <a:lstStyle/>
          <a:p>
            <a:pPr algn="l" indent="0" marL="0">
              <a:lnSpc>
                <a:spcPts val="1680"/>
              </a:lnSpc>
              <a:buNone/>
            </a:pPr>
            <a:r>
              <a:rPr lang="en-US" sz="1200" b="1" dirty="0">
                <a:solidFill>
                  <a:srgbClr val="2F62C9"/>
                </a:solidFill>
                <a:latin typeface="Arial" pitchFamily="34" charset="0"/>
                <a:ea typeface="Arial" pitchFamily="34" charset="-122"/>
                <a:cs typeface="Arial" pitchFamily="34" charset="-120"/>
              </a:rPr>
              <a:t>Team 1 · The Diplomats</a:t>
            </a:r>
            <a:endParaRPr lang="en-US" sz="1200" dirty="0"/>
          </a:p>
        </p:txBody>
      </p:sp>
      <p:sp>
        <p:nvSpPr>
          <p:cNvPr id="10" name="Shape 8"/>
          <p:cNvSpPr/>
          <p:nvPr/>
        </p:nvSpPr>
        <p:spPr>
          <a:xfrm>
            <a:off x="2994751" y="4953030"/>
            <a:ext cx="2165025" cy="365760"/>
          </a:xfrm>
          <a:prstGeom prst="roundRect">
            <a:avLst>
              <a:gd name="adj" fmla="val 50000"/>
            </a:avLst>
          </a:prstGeom>
          <a:solidFill>
            <a:srgbClr val="FBE9D6"/>
          </a:solidFill>
          <a:ln/>
        </p:spPr>
      </p:sp>
      <p:sp>
        <p:nvSpPr>
          <p:cNvPr id="11" name="Text 9"/>
          <p:cNvSpPr txBox="1"/>
          <p:nvPr/>
        </p:nvSpPr>
        <p:spPr>
          <a:xfrm>
            <a:off x="3172511" y="5013930"/>
            <a:ext cx="1883755" cy="228600"/>
          </a:xfrm>
          <a:prstGeom prst="rect">
            <a:avLst/>
          </a:prstGeom>
          <a:noFill/>
          <a:ln/>
        </p:spPr>
        <p:txBody>
          <a:bodyPr wrap="square" lIns="0" tIns="0" rIns="0" bIns="0" rtlCol="0" anchor="t"/>
          <a:lstStyle/>
          <a:p>
            <a:pPr algn="l" indent="0" marL="0">
              <a:lnSpc>
                <a:spcPts val="1680"/>
              </a:lnSpc>
              <a:buNone/>
            </a:pPr>
            <a:r>
              <a:rPr lang="en-US" sz="1200" b="1" dirty="0">
                <a:solidFill>
                  <a:srgbClr val="9A4C0C"/>
                </a:solidFill>
                <a:latin typeface="Arial" pitchFamily="34" charset="0"/>
                <a:ea typeface="Arial" pitchFamily="34" charset="-122"/>
                <a:cs typeface="Arial" pitchFamily="34" charset="-120"/>
              </a:rPr>
              <a:t>Team 2 · The Negotiators</a:t>
            </a:r>
            <a:endParaRPr lang="en-US" sz="1200" dirty="0"/>
          </a:p>
        </p:txBody>
      </p:sp>
      <p:sp>
        <p:nvSpPr>
          <p:cNvPr id="12" name="Shape 10"/>
          <p:cNvSpPr/>
          <p:nvPr/>
        </p:nvSpPr>
        <p:spPr>
          <a:xfrm>
            <a:off x="5286786" y="4953030"/>
            <a:ext cx="2292767" cy="365760"/>
          </a:xfrm>
          <a:prstGeom prst="roundRect">
            <a:avLst>
              <a:gd name="adj" fmla="val 50000"/>
            </a:avLst>
          </a:prstGeom>
          <a:solidFill>
            <a:srgbClr val="EEE5F8"/>
          </a:solidFill>
          <a:ln/>
        </p:spPr>
      </p:sp>
      <p:sp>
        <p:nvSpPr>
          <p:cNvPr id="13" name="Text 11"/>
          <p:cNvSpPr txBox="1"/>
          <p:nvPr/>
        </p:nvSpPr>
        <p:spPr>
          <a:xfrm>
            <a:off x="5464546" y="5013930"/>
            <a:ext cx="2013966" cy="228600"/>
          </a:xfrm>
          <a:prstGeom prst="rect">
            <a:avLst/>
          </a:prstGeom>
          <a:noFill/>
          <a:ln/>
        </p:spPr>
        <p:txBody>
          <a:bodyPr wrap="square" lIns="0" tIns="0" rIns="0" bIns="0" rtlCol="0" anchor="t"/>
          <a:lstStyle/>
          <a:p>
            <a:pPr algn="l" indent="0" marL="0">
              <a:lnSpc>
                <a:spcPts val="1680"/>
              </a:lnSpc>
              <a:buNone/>
            </a:pPr>
            <a:r>
              <a:rPr lang="en-US" sz="1200" b="1" dirty="0">
                <a:solidFill>
                  <a:srgbClr val="7A47B0"/>
                </a:solidFill>
                <a:latin typeface="Arial" pitchFamily="34" charset="0"/>
                <a:ea typeface="Arial" pitchFamily="34" charset="-122"/>
                <a:cs typeface="Arial" pitchFamily="34" charset="-120"/>
              </a:rPr>
              <a:t>Team 3 · The Peacemakers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LESSON OVERVIEW</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Today's plan: learn, play, win</a:t>
            </a:r>
            <a:endParaRPr lang="en-US" sz="3200" dirty="0"/>
          </a:p>
        </p:txBody>
      </p:sp>
      <p:sp>
        <p:nvSpPr>
          <p:cNvPr id="4" name="Shape 2"/>
          <p:cNvSpPr/>
          <p:nvPr/>
        </p:nvSpPr>
        <p:spPr>
          <a:xfrm>
            <a:off x="812810" y="1803288"/>
            <a:ext cx="3386663" cy="1277508"/>
          </a:xfrm>
          <a:prstGeom prst="roundRect">
            <a:avLst>
              <a:gd name="adj" fmla="val 9942"/>
            </a:avLst>
          </a:prstGeom>
          <a:solidFill>
            <a:srgbClr val="FFFDF8"/>
          </a:solidFill>
          <a:ln w="12700">
            <a:solidFill>
              <a:srgbClr val="E3DFD2"/>
            </a:solidFill>
            <a:prstDash val="solid"/>
          </a:ln>
        </p:spPr>
      </p:sp>
      <p:sp>
        <p:nvSpPr>
          <p:cNvPr id="5" name="Text 3"/>
          <p:cNvSpPr txBox="1"/>
          <p:nvPr/>
        </p:nvSpPr>
        <p:spPr>
          <a:xfrm>
            <a:off x="1028700" y="2003999"/>
            <a:ext cx="88870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WARM-UP</a:t>
            </a:r>
            <a:endParaRPr lang="en-US" sz="1200" dirty="0"/>
          </a:p>
        </p:txBody>
      </p:sp>
      <p:sp>
        <p:nvSpPr>
          <p:cNvPr id="6" name="Text 4"/>
          <p:cNvSpPr txBox="1"/>
          <p:nvPr/>
        </p:nvSpPr>
        <p:spPr>
          <a:xfrm>
            <a:off x="3585454" y="2003999"/>
            <a:ext cx="444124" cy="228600"/>
          </a:xfrm>
          <a:prstGeom prst="rect">
            <a:avLst/>
          </a:prstGeom>
          <a:noFill/>
          <a:ln/>
        </p:spPr>
        <p:txBody>
          <a:bodyPr wrap="square" lIns="0" tIns="0" rIns="0" bIns="0" rtlCol="0" anchor="t"/>
          <a:lstStyle/>
          <a:p>
            <a:pPr algn="l" indent="0" marL="0">
              <a:lnSpc>
                <a:spcPts val="1680"/>
              </a:lnSpc>
              <a:buNone/>
            </a:pPr>
            <a:r>
              <a:rPr lang="en-US" sz="1200" b="1" dirty="0">
                <a:solidFill>
                  <a:srgbClr val="5E6B66"/>
                </a:solidFill>
                <a:latin typeface="Arial" pitchFamily="34" charset="0"/>
                <a:ea typeface="Arial" pitchFamily="34" charset="-122"/>
                <a:cs typeface="Arial" pitchFamily="34" charset="-120"/>
              </a:rPr>
              <a:t>5 min</a:t>
            </a:r>
            <a:endParaRPr lang="en-US" sz="1200" dirty="0"/>
          </a:p>
        </p:txBody>
      </p:sp>
      <p:sp>
        <p:nvSpPr>
          <p:cNvPr id="7" name="Text 5"/>
          <p:cNvSpPr txBox="1"/>
          <p:nvPr/>
        </p:nvSpPr>
        <p:spPr>
          <a:xfrm>
            <a:off x="1028700" y="2296058"/>
            <a:ext cx="3051993" cy="292059"/>
          </a:xfrm>
          <a:prstGeom prst="rect">
            <a:avLst/>
          </a:prstGeom>
          <a:noFill/>
          <a:ln/>
        </p:spPr>
        <p:txBody>
          <a:bodyPr wrap="square" lIns="0" tIns="0" rIns="0" bIns="0" rtlCol="0" anchor="t"/>
          <a:lstStyle/>
          <a:p>
            <a:pPr algn="l" indent="0" marL="0">
              <a:lnSpc>
                <a:spcPts val="2300"/>
              </a:lnSpc>
              <a:buNone/>
            </a:pPr>
            <a:r>
              <a:rPr lang="en-US" sz="2000" b="1" dirty="0">
                <a:solidFill>
                  <a:srgbClr val="14302A"/>
                </a:solidFill>
                <a:latin typeface="Arial" pitchFamily="34" charset="0"/>
                <a:ea typeface="Arial" pitchFamily="34" charset="-122"/>
                <a:cs typeface="Arial" pitchFamily="34" charset="-120"/>
              </a:rPr>
              <a:t>Problem Storm</a:t>
            </a:r>
            <a:endParaRPr lang="en-US" sz="2000" dirty="0"/>
          </a:p>
        </p:txBody>
      </p:sp>
      <p:sp>
        <p:nvSpPr>
          <p:cNvPr id="8" name="Text 6"/>
          <p:cNvSpPr txBox="1"/>
          <p:nvPr/>
        </p:nvSpPr>
        <p:spPr>
          <a:xfrm>
            <a:off x="1028700" y="2636398"/>
            <a:ext cx="3051993"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Flat-sharing problems</a:t>
            </a:r>
            <a:endParaRPr lang="en-US" sz="1200" dirty="0"/>
          </a:p>
        </p:txBody>
      </p:sp>
      <p:sp>
        <p:nvSpPr>
          <p:cNvPr id="9" name="Shape 7"/>
          <p:cNvSpPr/>
          <p:nvPr/>
        </p:nvSpPr>
        <p:spPr>
          <a:xfrm>
            <a:off x="4402653" y="1803288"/>
            <a:ext cx="3386663" cy="1277508"/>
          </a:xfrm>
          <a:prstGeom prst="roundRect">
            <a:avLst>
              <a:gd name="adj" fmla="val 9942"/>
            </a:avLst>
          </a:prstGeom>
          <a:solidFill>
            <a:srgbClr val="FFFDF8"/>
          </a:solidFill>
          <a:ln w="12700">
            <a:solidFill>
              <a:srgbClr val="E3DFD2"/>
            </a:solidFill>
            <a:prstDash val="solid"/>
          </a:ln>
        </p:spPr>
      </p:sp>
      <p:sp>
        <p:nvSpPr>
          <p:cNvPr id="10" name="Text 8"/>
          <p:cNvSpPr txBox="1"/>
          <p:nvPr/>
        </p:nvSpPr>
        <p:spPr>
          <a:xfrm>
            <a:off x="4618543" y="2003999"/>
            <a:ext cx="7117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GAME 1</a:t>
            </a:r>
            <a:endParaRPr lang="en-US" sz="1200" dirty="0"/>
          </a:p>
        </p:txBody>
      </p:sp>
      <p:sp>
        <p:nvSpPr>
          <p:cNvPr id="11" name="Text 9"/>
          <p:cNvSpPr txBox="1"/>
          <p:nvPr/>
        </p:nvSpPr>
        <p:spPr>
          <a:xfrm>
            <a:off x="7090532" y="2003999"/>
            <a:ext cx="530535" cy="228600"/>
          </a:xfrm>
          <a:prstGeom prst="rect">
            <a:avLst/>
          </a:prstGeom>
          <a:noFill/>
          <a:ln/>
        </p:spPr>
        <p:txBody>
          <a:bodyPr wrap="square" lIns="0" tIns="0" rIns="0" bIns="0" rtlCol="0" anchor="t"/>
          <a:lstStyle/>
          <a:p>
            <a:pPr algn="l" indent="0" marL="0">
              <a:lnSpc>
                <a:spcPts val="1680"/>
              </a:lnSpc>
              <a:buNone/>
            </a:pPr>
            <a:r>
              <a:rPr lang="en-US" sz="1200" b="1" dirty="0">
                <a:solidFill>
                  <a:srgbClr val="5E6B66"/>
                </a:solidFill>
                <a:latin typeface="Arial" pitchFamily="34" charset="0"/>
                <a:ea typeface="Arial" pitchFamily="34" charset="-122"/>
                <a:cs typeface="Arial" pitchFamily="34" charset="-120"/>
              </a:rPr>
              <a:t>12 min</a:t>
            </a:r>
            <a:endParaRPr lang="en-US" sz="1200" dirty="0"/>
          </a:p>
        </p:txBody>
      </p:sp>
      <p:sp>
        <p:nvSpPr>
          <p:cNvPr id="12" name="Text 10"/>
          <p:cNvSpPr txBox="1"/>
          <p:nvPr/>
        </p:nvSpPr>
        <p:spPr>
          <a:xfrm>
            <a:off x="4618543" y="2296058"/>
            <a:ext cx="3051993" cy="292059"/>
          </a:xfrm>
          <a:prstGeom prst="rect">
            <a:avLst/>
          </a:prstGeom>
          <a:noFill/>
          <a:ln/>
        </p:spPr>
        <p:txBody>
          <a:bodyPr wrap="square" lIns="0" tIns="0" rIns="0" bIns="0" rtlCol="0" anchor="t"/>
          <a:lstStyle/>
          <a:p>
            <a:pPr algn="l" indent="0" marL="0">
              <a:lnSpc>
                <a:spcPts val="2300"/>
              </a:lnSpc>
              <a:buNone/>
            </a:pPr>
            <a:r>
              <a:rPr lang="en-US" sz="2000" b="1" dirty="0">
                <a:solidFill>
                  <a:srgbClr val="14302A"/>
                </a:solidFill>
                <a:latin typeface="Arial" pitchFamily="34" charset="0"/>
                <a:ea typeface="Arial" pitchFamily="34" charset="-122"/>
                <a:cs typeface="Arial" pitchFamily="34" charset="-120"/>
              </a:rPr>
              <a:t>Tag Tennis</a:t>
            </a:r>
            <a:endParaRPr lang="en-US" sz="2000" dirty="0"/>
          </a:p>
        </p:txBody>
      </p:sp>
      <p:sp>
        <p:nvSpPr>
          <p:cNvPr id="13" name="Text 11"/>
          <p:cNvSpPr txBox="1"/>
          <p:nvPr/>
        </p:nvSpPr>
        <p:spPr>
          <a:xfrm>
            <a:off x="4618543" y="2636398"/>
            <a:ext cx="3051993"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Question tags</a:t>
            </a:r>
            <a:endParaRPr lang="en-US" sz="1200" dirty="0"/>
          </a:p>
        </p:txBody>
      </p:sp>
      <p:sp>
        <p:nvSpPr>
          <p:cNvPr id="14" name="Shape 12"/>
          <p:cNvSpPr/>
          <p:nvPr/>
        </p:nvSpPr>
        <p:spPr>
          <a:xfrm>
            <a:off x="7992496" y="1803288"/>
            <a:ext cx="3386663" cy="1277508"/>
          </a:xfrm>
          <a:prstGeom prst="roundRect">
            <a:avLst>
              <a:gd name="adj" fmla="val 9942"/>
            </a:avLst>
          </a:prstGeom>
          <a:solidFill>
            <a:srgbClr val="FFFDF8"/>
          </a:solidFill>
          <a:ln w="12700">
            <a:solidFill>
              <a:srgbClr val="E3DFD2"/>
            </a:solidFill>
            <a:prstDash val="solid"/>
          </a:ln>
        </p:spPr>
      </p:sp>
      <p:sp>
        <p:nvSpPr>
          <p:cNvPr id="15" name="Text 13"/>
          <p:cNvSpPr txBox="1"/>
          <p:nvPr/>
        </p:nvSpPr>
        <p:spPr>
          <a:xfrm>
            <a:off x="8208386" y="2003999"/>
            <a:ext cx="7117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GAME 2</a:t>
            </a:r>
            <a:endParaRPr lang="en-US" sz="1200" dirty="0"/>
          </a:p>
        </p:txBody>
      </p:sp>
      <p:sp>
        <p:nvSpPr>
          <p:cNvPr id="16" name="Text 14"/>
          <p:cNvSpPr txBox="1"/>
          <p:nvPr/>
        </p:nvSpPr>
        <p:spPr>
          <a:xfrm>
            <a:off x="10680375" y="2003999"/>
            <a:ext cx="530535" cy="228600"/>
          </a:xfrm>
          <a:prstGeom prst="rect">
            <a:avLst/>
          </a:prstGeom>
          <a:noFill/>
          <a:ln/>
        </p:spPr>
        <p:txBody>
          <a:bodyPr wrap="square" lIns="0" tIns="0" rIns="0" bIns="0" rtlCol="0" anchor="t"/>
          <a:lstStyle/>
          <a:p>
            <a:pPr algn="l" indent="0" marL="0">
              <a:lnSpc>
                <a:spcPts val="1680"/>
              </a:lnSpc>
              <a:buNone/>
            </a:pPr>
            <a:r>
              <a:rPr lang="en-US" sz="1200" b="1" dirty="0">
                <a:solidFill>
                  <a:srgbClr val="5E6B66"/>
                </a:solidFill>
                <a:latin typeface="Arial" pitchFamily="34" charset="0"/>
                <a:ea typeface="Arial" pitchFamily="34" charset="-122"/>
                <a:cs typeface="Arial" pitchFamily="34" charset="-120"/>
              </a:rPr>
              <a:t>10 min</a:t>
            </a:r>
            <a:endParaRPr lang="en-US" sz="1200" dirty="0"/>
          </a:p>
        </p:txBody>
      </p:sp>
      <p:sp>
        <p:nvSpPr>
          <p:cNvPr id="17" name="Text 15"/>
          <p:cNvSpPr txBox="1"/>
          <p:nvPr/>
        </p:nvSpPr>
        <p:spPr>
          <a:xfrm>
            <a:off x="8208386" y="2296058"/>
            <a:ext cx="3051993" cy="292059"/>
          </a:xfrm>
          <a:prstGeom prst="rect">
            <a:avLst/>
          </a:prstGeom>
          <a:noFill/>
          <a:ln/>
        </p:spPr>
        <p:txBody>
          <a:bodyPr wrap="square" lIns="0" tIns="0" rIns="0" bIns="0" rtlCol="0" anchor="t"/>
          <a:lstStyle/>
          <a:p>
            <a:pPr algn="l" indent="0" marL="0">
              <a:lnSpc>
                <a:spcPts val="2300"/>
              </a:lnSpc>
              <a:buNone/>
            </a:pPr>
            <a:r>
              <a:rPr lang="en-US" sz="2000" b="1" dirty="0">
                <a:solidFill>
                  <a:srgbClr val="14302A"/>
                </a:solidFill>
                <a:latin typeface="Arial" pitchFamily="34" charset="0"/>
                <a:ea typeface="Arial" pitchFamily="34" charset="-122"/>
                <a:cs typeface="Arial" pitchFamily="34" charset="-120"/>
              </a:rPr>
              <a:t>Missing Word Rescue</a:t>
            </a:r>
            <a:endParaRPr lang="en-US" sz="2000" dirty="0"/>
          </a:p>
        </p:txBody>
      </p:sp>
      <p:sp>
        <p:nvSpPr>
          <p:cNvPr id="18" name="Text 16"/>
          <p:cNvSpPr txBox="1"/>
          <p:nvPr/>
        </p:nvSpPr>
        <p:spPr>
          <a:xfrm>
            <a:off x="8208386" y="2636398"/>
            <a:ext cx="3051993"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Diplomatic key phrases</a:t>
            </a:r>
            <a:endParaRPr lang="en-US" sz="1200" dirty="0"/>
          </a:p>
        </p:txBody>
      </p:sp>
      <p:sp>
        <p:nvSpPr>
          <p:cNvPr id="19" name="Shape 17"/>
          <p:cNvSpPr/>
          <p:nvPr/>
        </p:nvSpPr>
        <p:spPr>
          <a:xfrm>
            <a:off x="812810" y="3284068"/>
            <a:ext cx="3386663" cy="1277508"/>
          </a:xfrm>
          <a:prstGeom prst="roundRect">
            <a:avLst>
              <a:gd name="adj" fmla="val 9942"/>
            </a:avLst>
          </a:prstGeom>
          <a:solidFill>
            <a:srgbClr val="FFFDF8"/>
          </a:solidFill>
          <a:ln w="12700">
            <a:solidFill>
              <a:srgbClr val="E3DFD2"/>
            </a:solidFill>
            <a:prstDash val="solid"/>
          </a:ln>
        </p:spPr>
      </p:sp>
      <p:sp>
        <p:nvSpPr>
          <p:cNvPr id="20" name="Text 18"/>
          <p:cNvSpPr txBox="1"/>
          <p:nvPr/>
        </p:nvSpPr>
        <p:spPr>
          <a:xfrm>
            <a:off x="1028700" y="3484687"/>
            <a:ext cx="7117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GAME 3</a:t>
            </a:r>
            <a:endParaRPr lang="en-US" sz="1200" dirty="0"/>
          </a:p>
        </p:txBody>
      </p:sp>
      <p:sp>
        <p:nvSpPr>
          <p:cNvPr id="21" name="Text 19"/>
          <p:cNvSpPr txBox="1"/>
          <p:nvPr/>
        </p:nvSpPr>
        <p:spPr>
          <a:xfrm>
            <a:off x="3500780" y="3484687"/>
            <a:ext cx="530535" cy="228600"/>
          </a:xfrm>
          <a:prstGeom prst="rect">
            <a:avLst/>
          </a:prstGeom>
          <a:noFill/>
          <a:ln/>
        </p:spPr>
        <p:txBody>
          <a:bodyPr wrap="square" lIns="0" tIns="0" rIns="0" bIns="0" rtlCol="0" anchor="t"/>
          <a:lstStyle/>
          <a:p>
            <a:pPr algn="l" indent="0" marL="0">
              <a:lnSpc>
                <a:spcPts val="1680"/>
              </a:lnSpc>
              <a:buNone/>
            </a:pPr>
            <a:r>
              <a:rPr lang="en-US" sz="1200" b="1" dirty="0">
                <a:solidFill>
                  <a:srgbClr val="5E6B66"/>
                </a:solidFill>
                <a:latin typeface="Arial" pitchFamily="34" charset="0"/>
                <a:ea typeface="Arial" pitchFamily="34" charset="-122"/>
                <a:cs typeface="Arial" pitchFamily="34" charset="-120"/>
              </a:rPr>
              <a:t>12 min</a:t>
            </a:r>
            <a:endParaRPr lang="en-US" sz="1200" dirty="0"/>
          </a:p>
        </p:txBody>
      </p:sp>
      <p:sp>
        <p:nvSpPr>
          <p:cNvPr id="22" name="Text 20"/>
          <p:cNvSpPr txBox="1"/>
          <p:nvPr/>
        </p:nvSpPr>
        <p:spPr>
          <a:xfrm>
            <a:off x="1028700" y="3776746"/>
            <a:ext cx="3051993" cy="292059"/>
          </a:xfrm>
          <a:prstGeom prst="rect">
            <a:avLst/>
          </a:prstGeom>
          <a:noFill/>
          <a:ln/>
        </p:spPr>
        <p:txBody>
          <a:bodyPr wrap="square" lIns="0" tIns="0" rIns="0" bIns="0" rtlCol="0" anchor="t"/>
          <a:lstStyle/>
          <a:p>
            <a:pPr algn="l" indent="0" marL="0">
              <a:lnSpc>
                <a:spcPts val="2300"/>
              </a:lnSpc>
              <a:buNone/>
            </a:pPr>
            <a:r>
              <a:rPr lang="en-US" sz="2000" b="1" dirty="0">
                <a:solidFill>
                  <a:srgbClr val="14302A"/>
                </a:solidFill>
                <a:latin typeface="Arial" pitchFamily="34" charset="0"/>
                <a:ea typeface="Arial" pitchFamily="34" charset="-122"/>
                <a:cs typeface="Arial" pitchFamily="34" charset="-120"/>
              </a:rPr>
              <a:t>Diplomatic Makeover</a:t>
            </a:r>
            <a:endParaRPr lang="en-US" sz="2000" dirty="0"/>
          </a:p>
        </p:txBody>
      </p:sp>
      <p:sp>
        <p:nvSpPr>
          <p:cNvPr id="23" name="Text 21"/>
          <p:cNvSpPr txBox="1"/>
          <p:nvPr/>
        </p:nvSpPr>
        <p:spPr>
          <a:xfrm>
            <a:off x="1028700" y="4117086"/>
            <a:ext cx="3051993"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Polite requests</a:t>
            </a:r>
            <a:endParaRPr lang="en-US" sz="1200" dirty="0"/>
          </a:p>
        </p:txBody>
      </p:sp>
      <p:sp>
        <p:nvSpPr>
          <p:cNvPr id="24" name="Shape 22"/>
          <p:cNvSpPr/>
          <p:nvPr/>
        </p:nvSpPr>
        <p:spPr>
          <a:xfrm>
            <a:off x="4402653" y="3284068"/>
            <a:ext cx="3386663" cy="1277508"/>
          </a:xfrm>
          <a:prstGeom prst="roundRect">
            <a:avLst>
              <a:gd name="adj" fmla="val 9942"/>
            </a:avLst>
          </a:prstGeom>
          <a:solidFill>
            <a:srgbClr val="FFFDF8"/>
          </a:solidFill>
          <a:ln w="12700">
            <a:solidFill>
              <a:srgbClr val="E3DFD2"/>
            </a:solidFill>
            <a:prstDash val="solid"/>
          </a:ln>
        </p:spPr>
      </p:sp>
      <p:sp>
        <p:nvSpPr>
          <p:cNvPr id="25" name="Text 23"/>
          <p:cNvSpPr txBox="1"/>
          <p:nvPr/>
        </p:nvSpPr>
        <p:spPr>
          <a:xfrm>
            <a:off x="4618543" y="3484687"/>
            <a:ext cx="711769"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GAME 4</a:t>
            </a:r>
            <a:endParaRPr lang="en-US" sz="1200" dirty="0"/>
          </a:p>
        </p:txBody>
      </p:sp>
      <p:sp>
        <p:nvSpPr>
          <p:cNvPr id="26" name="Text 24"/>
          <p:cNvSpPr txBox="1"/>
          <p:nvPr/>
        </p:nvSpPr>
        <p:spPr>
          <a:xfrm>
            <a:off x="7090532" y="3484687"/>
            <a:ext cx="530535" cy="228600"/>
          </a:xfrm>
          <a:prstGeom prst="rect">
            <a:avLst/>
          </a:prstGeom>
          <a:noFill/>
          <a:ln/>
        </p:spPr>
        <p:txBody>
          <a:bodyPr wrap="square" lIns="0" tIns="0" rIns="0" bIns="0" rtlCol="0" anchor="t"/>
          <a:lstStyle/>
          <a:p>
            <a:pPr algn="l" indent="0" marL="0">
              <a:lnSpc>
                <a:spcPts val="1680"/>
              </a:lnSpc>
              <a:buNone/>
            </a:pPr>
            <a:r>
              <a:rPr lang="en-US" sz="1200" b="1" dirty="0">
                <a:solidFill>
                  <a:srgbClr val="5E6B66"/>
                </a:solidFill>
                <a:latin typeface="Arial" pitchFamily="34" charset="0"/>
                <a:ea typeface="Arial" pitchFamily="34" charset="-122"/>
                <a:cs typeface="Arial" pitchFamily="34" charset="-120"/>
              </a:rPr>
              <a:t>10 min</a:t>
            </a:r>
            <a:endParaRPr lang="en-US" sz="1200" dirty="0"/>
          </a:p>
        </p:txBody>
      </p:sp>
      <p:sp>
        <p:nvSpPr>
          <p:cNvPr id="27" name="Text 25"/>
          <p:cNvSpPr txBox="1"/>
          <p:nvPr/>
        </p:nvSpPr>
        <p:spPr>
          <a:xfrm>
            <a:off x="4618543" y="3776746"/>
            <a:ext cx="3051993" cy="292059"/>
          </a:xfrm>
          <a:prstGeom prst="rect">
            <a:avLst/>
          </a:prstGeom>
          <a:noFill/>
          <a:ln/>
        </p:spPr>
        <p:txBody>
          <a:bodyPr wrap="square" lIns="0" tIns="0" rIns="0" bIns="0" rtlCol="0" anchor="t"/>
          <a:lstStyle/>
          <a:p>
            <a:pPr algn="l" indent="0" marL="0">
              <a:lnSpc>
                <a:spcPts val="2300"/>
              </a:lnSpc>
              <a:buNone/>
            </a:pPr>
            <a:r>
              <a:rPr lang="en-US" sz="2000" b="1" dirty="0">
                <a:solidFill>
                  <a:srgbClr val="14302A"/>
                </a:solidFill>
                <a:latin typeface="Arial" pitchFamily="34" charset="0"/>
                <a:ea typeface="Arial" pitchFamily="34" charset="-122"/>
                <a:cs typeface="Arial" pitchFamily="34" charset="-120"/>
              </a:rPr>
              <a:t>House Rules</a:t>
            </a:r>
            <a:endParaRPr lang="en-US" sz="2000" dirty="0"/>
          </a:p>
        </p:txBody>
      </p:sp>
      <p:sp>
        <p:nvSpPr>
          <p:cNvPr id="28" name="Text 26"/>
          <p:cNvSpPr txBox="1"/>
          <p:nvPr/>
        </p:nvSpPr>
        <p:spPr>
          <a:xfrm>
            <a:off x="4618543" y="4117086"/>
            <a:ext cx="3051993"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be supposed to</a:t>
            </a:r>
            <a:endParaRPr lang="en-US" sz="1200" dirty="0"/>
          </a:p>
        </p:txBody>
      </p:sp>
      <p:sp>
        <p:nvSpPr>
          <p:cNvPr id="29" name="Shape 27"/>
          <p:cNvSpPr/>
          <p:nvPr/>
        </p:nvSpPr>
        <p:spPr>
          <a:xfrm>
            <a:off x="7992496" y="3284068"/>
            <a:ext cx="3386663" cy="1277508"/>
          </a:xfrm>
          <a:prstGeom prst="roundRect">
            <a:avLst>
              <a:gd name="adj" fmla="val 9942"/>
            </a:avLst>
          </a:prstGeom>
          <a:solidFill>
            <a:srgbClr val="FFFDF8"/>
          </a:solidFill>
          <a:ln w="12700">
            <a:solidFill>
              <a:srgbClr val="E3DFD2"/>
            </a:solidFill>
            <a:prstDash val="solid"/>
          </a:ln>
        </p:spPr>
      </p:sp>
      <p:sp>
        <p:nvSpPr>
          <p:cNvPr id="30" name="Text 28"/>
          <p:cNvSpPr txBox="1"/>
          <p:nvPr/>
        </p:nvSpPr>
        <p:spPr>
          <a:xfrm>
            <a:off x="8208386" y="3484687"/>
            <a:ext cx="14111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GAME 5 · FINAL</a:t>
            </a:r>
            <a:endParaRPr lang="en-US" sz="1200" dirty="0"/>
          </a:p>
        </p:txBody>
      </p:sp>
      <p:sp>
        <p:nvSpPr>
          <p:cNvPr id="31" name="Text 29"/>
          <p:cNvSpPr txBox="1"/>
          <p:nvPr/>
        </p:nvSpPr>
        <p:spPr>
          <a:xfrm>
            <a:off x="10680375" y="3484687"/>
            <a:ext cx="530535" cy="228600"/>
          </a:xfrm>
          <a:prstGeom prst="rect">
            <a:avLst/>
          </a:prstGeom>
          <a:noFill/>
          <a:ln/>
        </p:spPr>
        <p:txBody>
          <a:bodyPr wrap="square" lIns="0" tIns="0" rIns="0" bIns="0" rtlCol="0" anchor="t"/>
          <a:lstStyle/>
          <a:p>
            <a:pPr algn="l" indent="0" marL="0">
              <a:lnSpc>
                <a:spcPts val="1680"/>
              </a:lnSpc>
              <a:buNone/>
            </a:pPr>
            <a:r>
              <a:rPr lang="en-US" sz="1200" b="1" dirty="0">
                <a:solidFill>
                  <a:srgbClr val="5E6B66"/>
                </a:solidFill>
                <a:latin typeface="Arial" pitchFamily="34" charset="0"/>
                <a:ea typeface="Arial" pitchFamily="34" charset="-122"/>
                <a:cs typeface="Arial" pitchFamily="34" charset="-120"/>
              </a:rPr>
              <a:t>15 min</a:t>
            </a:r>
            <a:endParaRPr lang="en-US" sz="1200" dirty="0"/>
          </a:p>
        </p:txBody>
      </p:sp>
      <p:sp>
        <p:nvSpPr>
          <p:cNvPr id="32" name="Text 30"/>
          <p:cNvSpPr txBox="1"/>
          <p:nvPr/>
        </p:nvSpPr>
        <p:spPr>
          <a:xfrm>
            <a:off x="8208386" y="3776746"/>
            <a:ext cx="3051993" cy="292059"/>
          </a:xfrm>
          <a:prstGeom prst="rect">
            <a:avLst/>
          </a:prstGeom>
          <a:noFill/>
          <a:ln/>
        </p:spPr>
        <p:txBody>
          <a:bodyPr wrap="square" lIns="0" tIns="0" rIns="0" bIns="0" rtlCol="0" anchor="t"/>
          <a:lstStyle/>
          <a:p>
            <a:pPr algn="l" indent="0" marL="0">
              <a:lnSpc>
                <a:spcPts val="2300"/>
              </a:lnSpc>
              <a:buNone/>
            </a:pPr>
            <a:r>
              <a:rPr lang="en-US" sz="2000" b="1" dirty="0">
                <a:solidFill>
                  <a:srgbClr val="14302A"/>
                </a:solidFill>
                <a:latin typeface="Arial" pitchFamily="34" charset="0"/>
                <a:ea typeface="Arial" pitchFamily="34" charset="-122"/>
                <a:cs typeface="Arial" pitchFamily="34" charset="-120"/>
              </a:rPr>
              <a:t>Flatmate Showdown</a:t>
            </a:r>
            <a:endParaRPr lang="en-US" sz="2000" dirty="0"/>
          </a:p>
        </p:txBody>
      </p:sp>
      <p:sp>
        <p:nvSpPr>
          <p:cNvPr id="33" name="Text 31"/>
          <p:cNvSpPr txBox="1"/>
          <p:nvPr/>
        </p:nvSpPr>
        <p:spPr>
          <a:xfrm>
            <a:off x="8208386" y="4117086"/>
            <a:ext cx="3051993"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Role-play tournament</a:t>
            </a:r>
            <a:endParaRPr lang="en-US" sz="1200" dirty="0"/>
          </a:p>
        </p:txBody>
      </p:sp>
      <p:sp>
        <p:nvSpPr>
          <p:cNvPr id="34" name="Text 32"/>
          <p:cNvSpPr txBox="1"/>
          <p:nvPr/>
        </p:nvSpPr>
        <p:spPr>
          <a:xfrm>
            <a:off x="812810" y="4795296"/>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Every game gives points, and the points add up. </a:t>
            </a:r>
            <a:pPr algn="l" indent="0" marL="0">
              <a:lnSpc>
                <a:spcPts val="2240"/>
              </a:lnSpc>
              <a:buNone/>
            </a:pPr>
            <a:r>
              <a:rPr lang="en-US" sz="1600" b="1" dirty="0">
                <a:solidFill>
                  <a:srgbClr val="14302A"/>
                </a:solidFill>
                <a:latin typeface="Arial" pitchFamily="34" charset="0"/>
                <a:ea typeface="Arial" pitchFamily="34" charset="-122"/>
                <a:cs typeface="Arial" pitchFamily="34" charset="-120"/>
              </a:rPr>
              <a:t>The team with the most points at the end wins.</a:t>
            </a:r>
            <a:endParaRPr lang="en-US" sz="1600" dirty="0"/>
          </a:p>
        </p:txBody>
      </p:sp>
      <p:sp>
        <p:nvSpPr>
          <p:cNvPr id="35" name="Text 33"/>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6" name="Text 34"/>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BEFORE WE START</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Meet the teams</a:t>
            </a:r>
            <a:endParaRPr lang="en-US" sz="3200" dirty="0"/>
          </a:p>
        </p:txBody>
      </p:sp>
      <p:sp>
        <p:nvSpPr>
          <p:cNvPr id="4" name="Shape 2"/>
          <p:cNvSpPr/>
          <p:nvPr/>
        </p:nvSpPr>
        <p:spPr>
          <a:xfrm>
            <a:off x="812810" y="1803288"/>
            <a:ext cx="3386663" cy="1602577"/>
          </a:xfrm>
          <a:prstGeom prst="roundRect">
            <a:avLst>
              <a:gd name="adj" fmla="val 7925"/>
            </a:avLst>
          </a:prstGeom>
          <a:solidFill>
            <a:srgbClr val="E3EAFA"/>
          </a:solidFill>
          <a:ln/>
        </p:spPr>
      </p:sp>
      <p:sp>
        <p:nvSpPr>
          <p:cNvPr id="5" name="Text 3"/>
          <p:cNvSpPr txBox="1"/>
          <p:nvPr/>
        </p:nvSpPr>
        <p:spPr>
          <a:xfrm>
            <a:off x="1041410" y="2016618"/>
            <a:ext cx="302611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F62C9"/>
                </a:solidFill>
                <a:latin typeface="Arial" pitchFamily="34" charset="0"/>
                <a:ea typeface="Arial" pitchFamily="34" charset="-122"/>
                <a:cs typeface="Arial" pitchFamily="34" charset="-120"/>
              </a:rPr>
              <a:t>TEAM 1</a:t>
            </a:r>
            <a:endParaRPr lang="en-US" sz="1200" dirty="0"/>
          </a:p>
        </p:txBody>
      </p:sp>
      <p:sp>
        <p:nvSpPr>
          <p:cNvPr id="6" name="Text 4"/>
          <p:cNvSpPr txBox="1"/>
          <p:nvPr/>
        </p:nvSpPr>
        <p:spPr>
          <a:xfrm>
            <a:off x="1041410" y="2296058"/>
            <a:ext cx="3026115" cy="292059"/>
          </a:xfrm>
          <a:prstGeom prst="rect">
            <a:avLst/>
          </a:prstGeom>
          <a:noFill/>
          <a:ln/>
        </p:spPr>
        <p:txBody>
          <a:bodyPr wrap="square" lIns="0" tIns="0" rIns="0" bIns="0" rtlCol="0" anchor="t"/>
          <a:lstStyle/>
          <a:p>
            <a:pPr algn="l" indent="0" marL="0">
              <a:lnSpc>
                <a:spcPts val="2300"/>
              </a:lnSpc>
              <a:buNone/>
            </a:pPr>
            <a:r>
              <a:rPr lang="en-US" sz="2000" b="1" dirty="0">
                <a:solidFill>
                  <a:srgbClr val="2F62C9"/>
                </a:solidFill>
                <a:latin typeface="Arial" pitchFamily="34" charset="0"/>
                <a:ea typeface="Arial" pitchFamily="34" charset="-122"/>
                <a:cs typeface="Arial" pitchFamily="34" charset="-120"/>
              </a:rPr>
              <a:t>The Diplomats</a:t>
            </a:r>
            <a:endParaRPr lang="en-US" sz="2000" dirty="0"/>
          </a:p>
        </p:txBody>
      </p:sp>
      <p:sp>
        <p:nvSpPr>
          <p:cNvPr id="7" name="Text 5"/>
          <p:cNvSpPr txBox="1"/>
          <p:nvPr/>
        </p:nvSpPr>
        <p:spPr>
          <a:xfrm>
            <a:off x="1041410" y="2623688"/>
            <a:ext cx="3026115"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“Polite words, strong results.”</a:t>
            </a:r>
            <a:endParaRPr lang="en-US" sz="1600" dirty="0"/>
          </a:p>
        </p:txBody>
      </p:sp>
      <p:sp>
        <p:nvSpPr>
          <p:cNvPr id="8" name="Text 6"/>
          <p:cNvSpPr txBox="1"/>
          <p:nvPr/>
        </p:nvSpPr>
        <p:spPr>
          <a:xfrm>
            <a:off x="1041410" y="2948757"/>
            <a:ext cx="3026115"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Captain: ______________</a:t>
            </a:r>
            <a:endParaRPr lang="en-US" sz="1200" dirty="0"/>
          </a:p>
        </p:txBody>
      </p:sp>
      <p:sp>
        <p:nvSpPr>
          <p:cNvPr id="9" name="Shape 7"/>
          <p:cNvSpPr/>
          <p:nvPr/>
        </p:nvSpPr>
        <p:spPr>
          <a:xfrm>
            <a:off x="4402653" y="1803288"/>
            <a:ext cx="3386663" cy="1602577"/>
          </a:xfrm>
          <a:prstGeom prst="roundRect">
            <a:avLst>
              <a:gd name="adj" fmla="val 7925"/>
            </a:avLst>
          </a:prstGeom>
          <a:solidFill>
            <a:srgbClr val="FBE9D6"/>
          </a:solidFill>
          <a:ln/>
        </p:spPr>
      </p:sp>
      <p:sp>
        <p:nvSpPr>
          <p:cNvPr id="10" name="Text 8"/>
          <p:cNvSpPr txBox="1"/>
          <p:nvPr/>
        </p:nvSpPr>
        <p:spPr>
          <a:xfrm>
            <a:off x="4631253" y="2016618"/>
            <a:ext cx="302611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9A4C0C"/>
                </a:solidFill>
                <a:latin typeface="Arial" pitchFamily="34" charset="0"/>
                <a:ea typeface="Arial" pitchFamily="34" charset="-122"/>
                <a:cs typeface="Arial" pitchFamily="34" charset="-120"/>
              </a:rPr>
              <a:t>TEAM 2</a:t>
            </a:r>
            <a:endParaRPr lang="en-US" sz="1200" dirty="0"/>
          </a:p>
        </p:txBody>
      </p:sp>
      <p:sp>
        <p:nvSpPr>
          <p:cNvPr id="11" name="Text 9"/>
          <p:cNvSpPr txBox="1"/>
          <p:nvPr/>
        </p:nvSpPr>
        <p:spPr>
          <a:xfrm>
            <a:off x="4631253" y="2296058"/>
            <a:ext cx="3026115" cy="292059"/>
          </a:xfrm>
          <a:prstGeom prst="rect">
            <a:avLst/>
          </a:prstGeom>
          <a:noFill/>
          <a:ln/>
        </p:spPr>
        <p:txBody>
          <a:bodyPr wrap="square" lIns="0" tIns="0" rIns="0" bIns="0" rtlCol="0" anchor="t"/>
          <a:lstStyle/>
          <a:p>
            <a:pPr algn="l" indent="0" marL="0">
              <a:lnSpc>
                <a:spcPts val="2300"/>
              </a:lnSpc>
              <a:buNone/>
            </a:pPr>
            <a:r>
              <a:rPr lang="en-US" sz="2000" b="1" dirty="0">
                <a:solidFill>
                  <a:srgbClr val="9A4C0C"/>
                </a:solidFill>
                <a:latin typeface="Arial" pitchFamily="34" charset="0"/>
                <a:ea typeface="Arial" pitchFamily="34" charset="-122"/>
                <a:cs typeface="Arial" pitchFamily="34" charset="-120"/>
              </a:rPr>
              <a:t>The Negotiators</a:t>
            </a:r>
            <a:endParaRPr lang="en-US" sz="2000" dirty="0"/>
          </a:p>
        </p:txBody>
      </p:sp>
      <p:sp>
        <p:nvSpPr>
          <p:cNvPr id="12" name="Text 10"/>
          <p:cNvSpPr txBox="1"/>
          <p:nvPr/>
        </p:nvSpPr>
        <p:spPr>
          <a:xfrm>
            <a:off x="4631253" y="2623688"/>
            <a:ext cx="3026115"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“Every problem has a deal.”</a:t>
            </a:r>
            <a:endParaRPr lang="en-US" sz="1600" dirty="0"/>
          </a:p>
        </p:txBody>
      </p:sp>
      <p:sp>
        <p:nvSpPr>
          <p:cNvPr id="13" name="Text 11"/>
          <p:cNvSpPr txBox="1"/>
          <p:nvPr/>
        </p:nvSpPr>
        <p:spPr>
          <a:xfrm>
            <a:off x="4631253" y="2948757"/>
            <a:ext cx="3026115"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Captain: ______________</a:t>
            </a:r>
            <a:endParaRPr lang="en-US" sz="1200" dirty="0"/>
          </a:p>
        </p:txBody>
      </p:sp>
      <p:sp>
        <p:nvSpPr>
          <p:cNvPr id="14" name="Shape 12"/>
          <p:cNvSpPr/>
          <p:nvPr/>
        </p:nvSpPr>
        <p:spPr>
          <a:xfrm>
            <a:off x="7992496" y="1803288"/>
            <a:ext cx="3386663" cy="1602577"/>
          </a:xfrm>
          <a:prstGeom prst="roundRect">
            <a:avLst>
              <a:gd name="adj" fmla="val 7925"/>
            </a:avLst>
          </a:prstGeom>
          <a:solidFill>
            <a:srgbClr val="EEE5F8"/>
          </a:solidFill>
          <a:ln/>
        </p:spPr>
      </p:sp>
      <p:sp>
        <p:nvSpPr>
          <p:cNvPr id="15" name="Text 13"/>
          <p:cNvSpPr txBox="1"/>
          <p:nvPr/>
        </p:nvSpPr>
        <p:spPr>
          <a:xfrm>
            <a:off x="8221096" y="2016618"/>
            <a:ext cx="302611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7A47B0"/>
                </a:solidFill>
                <a:latin typeface="Arial" pitchFamily="34" charset="0"/>
                <a:ea typeface="Arial" pitchFamily="34" charset="-122"/>
                <a:cs typeface="Arial" pitchFamily="34" charset="-120"/>
              </a:rPr>
              <a:t>TEAM 3</a:t>
            </a:r>
            <a:endParaRPr lang="en-US" sz="1200" dirty="0"/>
          </a:p>
        </p:txBody>
      </p:sp>
      <p:sp>
        <p:nvSpPr>
          <p:cNvPr id="16" name="Text 14"/>
          <p:cNvSpPr txBox="1"/>
          <p:nvPr/>
        </p:nvSpPr>
        <p:spPr>
          <a:xfrm>
            <a:off x="8221096" y="2296058"/>
            <a:ext cx="3026115" cy="292059"/>
          </a:xfrm>
          <a:prstGeom prst="rect">
            <a:avLst/>
          </a:prstGeom>
          <a:noFill/>
          <a:ln/>
        </p:spPr>
        <p:txBody>
          <a:bodyPr wrap="square" lIns="0" tIns="0" rIns="0" bIns="0" rtlCol="0" anchor="t"/>
          <a:lstStyle/>
          <a:p>
            <a:pPr algn="l" indent="0" marL="0">
              <a:lnSpc>
                <a:spcPts val="2300"/>
              </a:lnSpc>
              <a:buNone/>
            </a:pPr>
            <a:r>
              <a:rPr lang="en-US" sz="2000" b="1" dirty="0">
                <a:solidFill>
                  <a:srgbClr val="7A47B0"/>
                </a:solidFill>
                <a:latin typeface="Arial" pitchFamily="34" charset="0"/>
                <a:ea typeface="Arial" pitchFamily="34" charset="-122"/>
                <a:cs typeface="Arial" pitchFamily="34" charset="-120"/>
              </a:rPr>
              <a:t>The Peacemakers</a:t>
            </a:r>
            <a:endParaRPr lang="en-US" sz="2000" dirty="0"/>
          </a:p>
        </p:txBody>
      </p:sp>
      <p:sp>
        <p:nvSpPr>
          <p:cNvPr id="17" name="Text 15"/>
          <p:cNvSpPr txBox="1"/>
          <p:nvPr/>
        </p:nvSpPr>
        <p:spPr>
          <a:xfrm>
            <a:off x="8221096" y="2623688"/>
            <a:ext cx="3026115"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“Calm voices, happy homes.”</a:t>
            </a:r>
            <a:endParaRPr lang="en-US" sz="1600" dirty="0"/>
          </a:p>
        </p:txBody>
      </p:sp>
      <p:sp>
        <p:nvSpPr>
          <p:cNvPr id="18" name="Text 16"/>
          <p:cNvSpPr txBox="1"/>
          <p:nvPr/>
        </p:nvSpPr>
        <p:spPr>
          <a:xfrm>
            <a:off x="8221096" y="2948757"/>
            <a:ext cx="3026115" cy="228600"/>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Captain: ______________</a:t>
            </a:r>
            <a:endParaRPr lang="en-US" sz="1200" dirty="0"/>
          </a:p>
        </p:txBody>
      </p:sp>
      <p:sp>
        <p:nvSpPr>
          <p:cNvPr id="19" name="Shape 17"/>
          <p:cNvSpPr/>
          <p:nvPr/>
        </p:nvSpPr>
        <p:spPr>
          <a:xfrm>
            <a:off x="812810" y="3659886"/>
            <a:ext cx="2527310" cy="1208837"/>
          </a:xfrm>
          <a:prstGeom prst="roundRect">
            <a:avLst>
              <a:gd name="adj" fmla="val 8404"/>
            </a:avLst>
          </a:prstGeom>
          <a:solidFill>
            <a:srgbClr val="FFFDF8"/>
          </a:solidFill>
          <a:ln w="12700">
            <a:solidFill>
              <a:srgbClr val="E3DFD2"/>
            </a:solidFill>
            <a:prstDash val="solid"/>
          </a:ln>
        </p:spPr>
      </p:sp>
      <p:sp>
        <p:nvSpPr>
          <p:cNvPr id="20" name="Text 18"/>
          <p:cNvSpPr txBox="1"/>
          <p:nvPr/>
        </p:nvSpPr>
        <p:spPr>
          <a:xfrm>
            <a:off x="1003280" y="3825027"/>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1</a:t>
            </a:r>
            <a:endParaRPr lang="en-US" sz="2000" dirty="0"/>
          </a:p>
        </p:txBody>
      </p:sp>
      <p:sp>
        <p:nvSpPr>
          <p:cNvPr id="21" name="Text 19"/>
          <p:cNvSpPr txBox="1"/>
          <p:nvPr/>
        </p:nvSpPr>
        <p:spPr>
          <a:xfrm>
            <a:off x="1003280" y="4139946"/>
            <a:ext cx="2227296" cy="563728"/>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English only, all the time.</a:t>
            </a:r>
            <a:endParaRPr lang="en-US" sz="1600" dirty="0"/>
          </a:p>
        </p:txBody>
      </p:sp>
      <p:sp>
        <p:nvSpPr>
          <p:cNvPr id="22" name="Shape 20"/>
          <p:cNvSpPr/>
          <p:nvPr/>
        </p:nvSpPr>
        <p:spPr>
          <a:xfrm>
            <a:off x="3492459" y="3659886"/>
            <a:ext cx="2527310" cy="1208837"/>
          </a:xfrm>
          <a:prstGeom prst="roundRect">
            <a:avLst>
              <a:gd name="adj" fmla="val 8404"/>
            </a:avLst>
          </a:prstGeom>
          <a:solidFill>
            <a:srgbClr val="FFFDF8"/>
          </a:solidFill>
          <a:ln w="12700">
            <a:solidFill>
              <a:srgbClr val="E3DFD2"/>
            </a:solidFill>
            <a:prstDash val="solid"/>
          </a:ln>
        </p:spPr>
      </p:sp>
      <p:sp>
        <p:nvSpPr>
          <p:cNvPr id="23" name="Text 21"/>
          <p:cNvSpPr txBox="1"/>
          <p:nvPr/>
        </p:nvSpPr>
        <p:spPr>
          <a:xfrm>
            <a:off x="3683020" y="3825027"/>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2</a:t>
            </a:r>
            <a:endParaRPr lang="en-US" sz="2000" dirty="0"/>
          </a:p>
        </p:txBody>
      </p:sp>
      <p:sp>
        <p:nvSpPr>
          <p:cNvPr id="24" name="Text 22"/>
          <p:cNvSpPr txBox="1"/>
          <p:nvPr/>
        </p:nvSpPr>
        <p:spPr>
          <a:xfrm>
            <a:off x="3683020" y="4139946"/>
            <a:ext cx="2227296" cy="563728"/>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A different player answers each turn.</a:t>
            </a:r>
            <a:endParaRPr lang="en-US" sz="1600" dirty="0"/>
          </a:p>
        </p:txBody>
      </p:sp>
      <p:sp>
        <p:nvSpPr>
          <p:cNvPr id="25" name="Shape 23"/>
          <p:cNvSpPr/>
          <p:nvPr/>
        </p:nvSpPr>
        <p:spPr>
          <a:xfrm>
            <a:off x="6172200" y="3659886"/>
            <a:ext cx="2527310" cy="1208837"/>
          </a:xfrm>
          <a:prstGeom prst="roundRect">
            <a:avLst>
              <a:gd name="adj" fmla="val 8404"/>
            </a:avLst>
          </a:prstGeom>
          <a:solidFill>
            <a:srgbClr val="FFFDF8"/>
          </a:solidFill>
          <a:ln w="12700">
            <a:solidFill>
              <a:srgbClr val="E3DFD2"/>
            </a:solidFill>
            <a:prstDash val="solid"/>
          </a:ln>
        </p:spPr>
      </p:sp>
      <p:sp>
        <p:nvSpPr>
          <p:cNvPr id="26" name="Text 24"/>
          <p:cNvSpPr txBox="1"/>
          <p:nvPr/>
        </p:nvSpPr>
        <p:spPr>
          <a:xfrm>
            <a:off x="6362670" y="3825027"/>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3</a:t>
            </a:r>
            <a:endParaRPr lang="en-US" sz="2000" dirty="0"/>
          </a:p>
        </p:txBody>
      </p:sp>
      <p:sp>
        <p:nvSpPr>
          <p:cNvPr id="27" name="Text 25"/>
          <p:cNvSpPr txBox="1"/>
          <p:nvPr/>
        </p:nvSpPr>
        <p:spPr>
          <a:xfrm>
            <a:off x="6362670" y="4139946"/>
            <a:ext cx="2227296" cy="563728"/>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Wait for your turn: no shouting.</a:t>
            </a:r>
            <a:endParaRPr lang="en-US" sz="1600" dirty="0"/>
          </a:p>
        </p:txBody>
      </p:sp>
      <p:sp>
        <p:nvSpPr>
          <p:cNvPr id="28" name="Shape 26"/>
          <p:cNvSpPr/>
          <p:nvPr/>
        </p:nvSpPr>
        <p:spPr>
          <a:xfrm>
            <a:off x="8851941" y="3659886"/>
            <a:ext cx="2527310" cy="1208837"/>
          </a:xfrm>
          <a:prstGeom prst="roundRect">
            <a:avLst>
              <a:gd name="adj" fmla="val 8404"/>
            </a:avLst>
          </a:prstGeom>
          <a:solidFill>
            <a:srgbClr val="FFFDF8"/>
          </a:solidFill>
          <a:ln w="12700">
            <a:solidFill>
              <a:srgbClr val="E3DFD2"/>
            </a:solidFill>
            <a:prstDash val="solid"/>
          </a:ln>
        </p:spPr>
      </p:sp>
      <p:sp>
        <p:nvSpPr>
          <p:cNvPr id="29" name="Text 27"/>
          <p:cNvSpPr txBox="1"/>
          <p:nvPr/>
        </p:nvSpPr>
        <p:spPr>
          <a:xfrm>
            <a:off x="9042410" y="3825027"/>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4</a:t>
            </a:r>
            <a:endParaRPr lang="en-US" sz="2000" dirty="0"/>
          </a:p>
        </p:txBody>
      </p:sp>
      <p:sp>
        <p:nvSpPr>
          <p:cNvPr id="30" name="Text 28"/>
          <p:cNvSpPr txBox="1"/>
          <p:nvPr/>
        </p:nvSpPr>
        <p:spPr>
          <a:xfrm>
            <a:off x="9042410" y="4139946"/>
            <a:ext cx="2227296" cy="563728"/>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The teacher's decision is final.</a:t>
            </a:r>
            <a:endParaRPr lang="en-US" sz="1600" dirty="0"/>
          </a:p>
        </p:txBody>
      </p:sp>
      <p:sp>
        <p:nvSpPr>
          <p:cNvPr id="31" name="Text 29"/>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2" name="Text 30"/>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WARM-UP · EXERCISE 1</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Are you a good flatmate?</a:t>
            </a:r>
            <a:endParaRPr lang="en-US" sz="3200" dirty="0"/>
          </a:p>
        </p:txBody>
      </p:sp>
      <p:sp>
        <p:nvSpPr>
          <p:cNvPr id="4" name="Text 2"/>
          <p:cNvSpPr txBox="1"/>
          <p:nvPr/>
        </p:nvSpPr>
        <p:spPr>
          <a:xfrm>
            <a:off x="812810" y="1782989"/>
            <a:ext cx="5690586" cy="589239"/>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Are you good at sharing a living space with other people? </a:t>
            </a:r>
            <a:pPr algn="l" indent="0" marL="0">
              <a:lnSpc>
                <a:spcPts val="2240"/>
              </a:lnSpc>
              <a:buNone/>
            </a:pPr>
            <a:r>
              <a:rPr lang="en-US" sz="1600" b="1" dirty="0">
                <a:solidFill>
                  <a:srgbClr val="14302A"/>
                </a:solidFill>
                <a:latin typeface="Arial" pitchFamily="34" charset="0"/>
                <a:ea typeface="Arial" pitchFamily="34" charset="-122"/>
                <a:cs typeface="Arial" pitchFamily="34" charset="-120"/>
              </a:rPr>
              <a:t>Why? / Why not?</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What problems can there be?</a:t>
            </a:r>
            <a:endParaRPr lang="en-US" sz="1600" dirty="0"/>
          </a:p>
        </p:txBody>
      </p:sp>
      <p:sp>
        <p:nvSpPr>
          <p:cNvPr id="5" name="Shape 3"/>
          <p:cNvSpPr/>
          <p:nvPr/>
        </p:nvSpPr>
        <p:spPr>
          <a:xfrm>
            <a:off x="812810" y="2524658"/>
            <a:ext cx="5541630" cy="1821028"/>
          </a:xfrm>
          <a:prstGeom prst="roundRect">
            <a:avLst>
              <a:gd name="adj" fmla="val 6975"/>
            </a:avLst>
          </a:prstGeom>
          <a:solidFill>
            <a:srgbClr val="DFF0E6"/>
          </a:solidFill>
          <a:ln/>
        </p:spPr>
      </p:sp>
      <p:sp>
        <p:nvSpPr>
          <p:cNvPr id="6" name="Text 4"/>
          <p:cNvSpPr txBox="1"/>
          <p:nvPr/>
        </p:nvSpPr>
        <p:spPr>
          <a:xfrm>
            <a:off x="1015990" y="2712568"/>
            <a:ext cx="527608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THE SITUATION</a:t>
            </a:r>
            <a:endParaRPr lang="en-US" sz="1200" dirty="0"/>
          </a:p>
        </p:txBody>
      </p:sp>
      <p:sp>
        <p:nvSpPr>
          <p:cNvPr id="7" name="Text 5"/>
          <p:cNvSpPr txBox="1"/>
          <p:nvPr/>
        </p:nvSpPr>
        <p:spPr>
          <a:xfrm>
            <a:off x="1015990" y="2984327"/>
            <a:ext cx="5276088" cy="1158179"/>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While studying in Britain, you are sharing a flat with another student. Your flatmate sometimes leaves the flat untidy and dirty. Talk with your flatmate and agree on some rules for a </a:t>
            </a:r>
            <a:pPr algn="l" indent="0" marL="0">
              <a:lnSpc>
                <a:spcPts val="2240"/>
              </a:lnSpc>
              <a:buNone/>
            </a:pPr>
            <a:r>
              <a:rPr lang="en-US" sz="1600" b="1" dirty="0">
                <a:solidFill>
                  <a:srgbClr val="14302A"/>
                </a:solidFill>
                <a:latin typeface="Arial" pitchFamily="34" charset="0"/>
                <a:ea typeface="Arial" pitchFamily="34" charset="-122"/>
                <a:cs typeface="Arial" pitchFamily="34" charset="-120"/>
              </a:rPr>
              <a:t>cleaning rota</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6608460" y="1803288"/>
            <a:ext cx="4770699" cy="2542398"/>
          </a:xfrm>
          <a:prstGeom prst="roundRect">
            <a:avLst>
              <a:gd name="adj" fmla="val 4996"/>
            </a:avLst>
          </a:prstGeom>
          <a:solidFill>
            <a:srgbClr val="14302A"/>
          </a:solidFill>
          <a:ln/>
        </p:spPr>
      </p:sp>
      <p:sp>
        <p:nvSpPr>
          <p:cNvPr id="9" name="Text 7"/>
          <p:cNvSpPr txBox="1"/>
          <p:nvPr/>
        </p:nvSpPr>
        <p:spPr>
          <a:xfrm>
            <a:off x="6862481" y="2042038"/>
            <a:ext cx="4386102"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8FD3B0"/>
                </a:solidFill>
                <a:latin typeface="Arial" pitchFamily="34" charset="0"/>
                <a:ea typeface="Arial" pitchFamily="34" charset="-122"/>
                <a:cs typeface="Arial" pitchFamily="34" charset="-120"/>
              </a:rPr>
              <a:t>MINI-GAME · 60 SECONDS</a:t>
            </a:r>
            <a:endParaRPr lang="en-US" sz="1200" dirty="0"/>
          </a:p>
        </p:txBody>
      </p:sp>
      <p:sp>
        <p:nvSpPr>
          <p:cNvPr id="10" name="Text 8"/>
          <p:cNvSpPr txBox="1"/>
          <p:nvPr/>
        </p:nvSpPr>
        <p:spPr>
          <a:xfrm>
            <a:off x="6862481" y="2372228"/>
            <a:ext cx="4386102" cy="292059"/>
          </a:xfrm>
          <a:prstGeom prst="rect">
            <a:avLst/>
          </a:prstGeom>
          <a:noFill/>
          <a:ln/>
        </p:spPr>
        <p:txBody>
          <a:bodyPr wrap="square" lIns="0" tIns="0" rIns="0" bIns="0" rtlCol="0" anchor="t"/>
          <a:lstStyle/>
          <a:p>
            <a:pPr algn="l" indent="0" marL="0">
              <a:lnSpc>
                <a:spcPts val="2300"/>
              </a:lnSpc>
              <a:buNone/>
            </a:pPr>
            <a:r>
              <a:rPr lang="en-US" sz="2000" b="1" dirty="0">
                <a:solidFill>
                  <a:srgbClr val="F3F0E6"/>
                </a:solidFill>
                <a:latin typeface="Arial" pitchFamily="34" charset="0"/>
                <a:ea typeface="Arial" pitchFamily="34" charset="-122"/>
                <a:cs typeface="Arial" pitchFamily="34" charset="-120"/>
              </a:rPr>
              <a:t>Problem Storm</a:t>
            </a:r>
            <a:endParaRPr lang="en-US" sz="2000" dirty="0"/>
          </a:p>
        </p:txBody>
      </p:sp>
      <p:sp>
        <p:nvSpPr>
          <p:cNvPr id="11" name="Text 9"/>
          <p:cNvSpPr txBox="1"/>
          <p:nvPr/>
        </p:nvSpPr>
        <p:spPr>
          <a:xfrm>
            <a:off x="6862481" y="2745577"/>
            <a:ext cx="4386102" cy="589239"/>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Write as many flat-sharing problems as you can.</a:t>
            </a:r>
            <a:endParaRPr lang="en-US" sz="1600" dirty="0"/>
          </a:p>
        </p:txBody>
      </p:sp>
      <p:sp>
        <p:nvSpPr>
          <p:cNvPr id="12" name="Text 10"/>
          <p:cNvSpPr txBox="1"/>
          <p:nvPr/>
        </p:nvSpPr>
        <p:spPr>
          <a:xfrm>
            <a:off x="6862481" y="3421228"/>
            <a:ext cx="4386102" cy="228600"/>
          </a:xfrm>
          <a:prstGeom prst="rect">
            <a:avLst/>
          </a:prstGeom>
          <a:noFill/>
          <a:ln/>
        </p:spPr>
        <p:txBody>
          <a:bodyPr wrap="square" lIns="0" tIns="0" rIns="0" bIns="0" rtlCol="0" anchor="t"/>
          <a:lstStyle/>
          <a:p>
            <a:pPr algn="l" indent="0" marL="0">
              <a:lnSpc>
                <a:spcPts val="1680"/>
              </a:lnSpc>
              <a:buNone/>
            </a:pPr>
            <a:r>
              <a:rPr lang="en-US" sz="1200" dirty="0">
                <a:solidFill>
                  <a:srgbClr val="BFD0C8"/>
                </a:solidFill>
                <a:latin typeface="Arial" pitchFamily="34" charset="0"/>
                <a:ea typeface="Arial" pitchFamily="34" charset="-122"/>
                <a:cs typeface="Arial" pitchFamily="34" charset="-120"/>
              </a:rPr>
              <a:t>For example: loud music at night, dirty dishes in the sink…</a:t>
            </a:r>
            <a:endParaRPr lang="en-US" sz="1200" dirty="0"/>
          </a:p>
        </p:txBody>
      </p:sp>
      <p:sp>
        <p:nvSpPr>
          <p:cNvPr id="13" name="Shape 11"/>
          <p:cNvSpPr/>
          <p:nvPr/>
        </p:nvSpPr>
        <p:spPr>
          <a:xfrm>
            <a:off x="6862481" y="3751326"/>
            <a:ext cx="4262750" cy="340340"/>
          </a:xfrm>
          <a:prstGeom prst="roundRect">
            <a:avLst>
              <a:gd name="adj" fmla="val 50000"/>
            </a:avLst>
          </a:prstGeom>
          <a:solidFill>
            <a:srgbClr val="8FD3B0"/>
          </a:solidFill>
          <a:ln/>
        </p:spPr>
      </p:sp>
      <p:sp>
        <p:nvSpPr>
          <p:cNvPr id="14" name="Text 12"/>
          <p:cNvSpPr txBox="1"/>
          <p:nvPr/>
        </p:nvSpPr>
        <p:spPr>
          <a:xfrm>
            <a:off x="6989491" y="3799606"/>
            <a:ext cx="4127053"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+1 for each problem no other team has</a:t>
            </a:r>
            <a:endParaRPr lang="en-US" sz="1200" dirty="0"/>
          </a:p>
        </p:txBody>
      </p:sp>
      <p:sp>
        <p:nvSpPr>
          <p:cNvPr id="15" name="Text 13"/>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16" name="Text 14"/>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LANGUAGE · SPEAKING STRATEGY</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Be a good listener</a:t>
            </a:r>
            <a:endParaRPr lang="en-US" sz="3200" dirty="0"/>
          </a:p>
        </p:txBody>
      </p:sp>
      <p:sp>
        <p:nvSpPr>
          <p:cNvPr id="4" name="Text 2"/>
          <p:cNvSpPr txBox="1"/>
          <p:nvPr/>
        </p:nvSpPr>
        <p:spPr>
          <a:xfrm>
            <a:off x="812810" y="1782989"/>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It is important to interact appropriately with the person you are speaking to.</a:t>
            </a:r>
            <a:endParaRPr lang="en-US" sz="1600" dirty="0"/>
          </a:p>
        </p:txBody>
      </p:sp>
      <p:sp>
        <p:nvSpPr>
          <p:cNvPr id="5" name="Shape 3"/>
          <p:cNvSpPr/>
          <p:nvPr/>
        </p:nvSpPr>
        <p:spPr>
          <a:xfrm>
            <a:off x="812810" y="2341778"/>
            <a:ext cx="5143500" cy="2468789"/>
          </a:xfrm>
          <a:prstGeom prst="roundRect">
            <a:avLst>
              <a:gd name="adj" fmla="val 5145"/>
            </a:avLst>
          </a:prstGeom>
          <a:solidFill>
            <a:srgbClr val="DFF0E6"/>
          </a:solidFill>
          <a:ln/>
        </p:spPr>
      </p:sp>
      <p:sp>
        <p:nvSpPr>
          <p:cNvPr id="6" name="Text 4"/>
          <p:cNvSpPr txBox="1"/>
          <p:nvPr/>
        </p:nvSpPr>
        <p:spPr>
          <a:xfrm>
            <a:off x="1066830" y="2580528"/>
            <a:ext cx="47663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1 · SHOW INTEREST AND EMPATHY</a:t>
            </a:r>
            <a:endParaRPr lang="en-US" sz="1200" dirty="0"/>
          </a:p>
        </p:txBody>
      </p:sp>
      <p:sp>
        <p:nvSpPr>
          <p:cNvPr id="7" name="Shape 5"/>
          <p:cNvSpPr/>
          <p:nvPr/>
        </p:nvSpPr>
        <p:spPr>
          <a:xfrm>
            <a:off x="1066830" y="2936047"/>
            <a:ext cx="1275862" cy="411480"/>
          </a:xfrm>
          <a:prstGeom prst="roundRect">
            <a:avLst>
              <a:gd name="adj" fmla="val 46289"/>
            </a:avLst>
          </a:prstGeom>
          <a:solidFill>
            <a:srgbClr val="FFFDF8"/>
          </a:solidFill>
          <a:ln/>
        </p:spPr>
      </p:sp>
      <p:sp>
        <p:nvSpPr>
          <p:cNvPr id="8" name="Text 6"/>
          <p:cNvSpPr txBox="1"/>
          <p:nvPr/>
        </p:nvSpPr>
        <p:spPr>
          <a:xfrm>
            <a:off x="1219170" y="2979298"/>
            <a:ext cx="1028609"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Oh dear…</a:t>
            </a:r>
            <a:endParaRPr lang="en-US" sz="1600" dirty="0"/>
          </a:p>
        </p:txBody>
      </p:sp>
      <p:sp>
        <p:nvSpPr>
          <p:cNvPr id="9" name="Shape 7"/>
          <p:cNvSpPr/>
          <p:nvPr/>
        </p:nvSpPr>
        <p:spPr>
          <a:xfrm>
            <a:off x="2444283" y="2936047"/>
            <a:ext cx="1753271" cy="411480"/>
          </a:xfrm>
          <a:prstGeom prst="roundRect">
            <a:avLst>
              <a:gd name="adj" fmla="val 46289"/>
            </a:avLst>
          </a:prstGeom>
          <a:solidFill>
            <a:srgbClr val="FFFDF8"/>
          </a:solidFill>
          <a:ln/>
        </p:spPr>
      </p:sp>
      <p:sp>
        <p:nvSpPr>
          <p:cNvPr id="10" name="Text 8"/>
          <p:cNvSpPr txBox="1"/>
          <p:nvPr/>
        </p:nvSpPr>
        <p:spPr>
          <a:xfrm>
            <a:off x="2596622" y="2979298"/>
            <a:ext cx="1515527"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Oh, I'm sorry…</a:t>
            </a:r>
            <a:endParaRPr lang="en-US" sz="1600" dirty="0"/>
          </a:p>
        </p:txBody>
      </p:sp>
      <p:sp>
        <p:nvSpPr>
          <p:cNvPr id="11" name="Shape 9"/>
          <p:cNvSpPr/>
          <p:nvPr/>
        </p:nvSpPr>
        <p:spPr>
          <a:xfrm>
            <a:off x="1066830" y="3449117"/>
            <a:ext cx="1866199" cy="411480"/>
          </a:xfrm>
          <a:prstGeom prst="roundRect">
            <a:avLst>
              <a:gd name="adj" fmla="val 46289"/>
            </a:avLst>
          </a:prstGeom>
          <a:solidFill>
            <a:srgbClr val="FFFDF8"/>
          </a:solidFill>
          <a:ln/>
        </p:spPr>
      </p:sp>
      <p:sp>
        <p:nvSpPr>
          <p:cNvPr id="12" name="Text 10"/>
          <p:cNvSpPr txBox="1"/>
          <p:nvPr/>
        </p:nvSpPr>
        <p:spPr>
          <a:xfrm>
            <a:off x="1219170" y="3492276"/>
            <a:ext cx="1630741"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 didn't realise…</a:t>
            </a:r>
            <a:endParaRPr lang="en-US" sz="1600" dirty="0"/>
          </a:p>
        </p:txBody>
      </p:sp>
      <p:sp>
        <p:nvSpPr>
          <p:cNvPr id="13" name="Text 11"/>
          <p:cNvSpPr txBox="1"/>
          <p:nvPr/>
        </p:nvSpPr>
        <p:spPr>
          <a:xfrm>
            <a:off x="1066830" y="3967307"/>
            <a:ext cx="4766310" cy="589239"/>
          </a:xfrm>
          <a:prstGeom prst="rect">
            <a:avLst/>
          </a:prstGeom>
          <a:noFill/>
          <a:ln/>
        </p:spPr>
        <p:txBody>
          <a:bodyPr wrap="square" lIns="0" tIns="0" rIns="0" bIns="0" rtlCol="0" anchor="t"/>
          <a:lstStyle/>
          <a:p>
            <a:pPr algn="l" indent="0" marL="0">
              <a:lnSpc>
                <a:spcPts val="2240"/>
              </a:lnSpc>
              <a:buNone/>
            </a:pPr>
            <a:r>
              <a:rPr lang="en-US" sz="1600" i="1" dirty="0">
                <a:solidFill>
                  <a:srgbClr val="14302A"/>
                </a:solidFill>
                <a:latin typeface="Arial" pitchFamily="34" charset="0"/>
                <a:ea typeface="Arial" pitchFamily="34" charset="-122"/>
                <a:cs typeface="Arial" pitchFamily="34" charset="-120"/>
              </a:rPr>
              <a:t>“Oh, I'm sorry. I didn't realise the music was so loud.”</a:t>
            </a:r>
            <a:endParaRPr lang="en-US" sz="1600" dirty="0"/>
          </a:p>
        </p:txBody>
      </p:sp>
      <p:sp>
        <p:nvSpPr>
          <p:cNvPr id="14" name="Shape 12"/>
          <p:cNvSpPr/>
          <p:nvPr/>
        </p:nvSpPr>
        <p:spPr>
          <a:xfrm>
            <a:off x="6210330" y="2341778"/>
            <a:ext cx="5168920" cy="2468789"/>
          </a:xfrm>
          <a:prstGeom prst="roundRect">
            <a:avLst>
              <a:gd name="adj" fmla="val 5145"/>
            </a:avLst>
          </a:prstGeom>
          <a:solidFill>
            <a:srgbClr val="FFFDF8"/>
          </a:solidFill>
          <a:ln w="12700">
            <a:solidFill>
              <a:srgbClr val="E3DFD2"/>
            </a:solidFill>
            <a:prstDash val="solid"/>
          </a:ln>
        </p:spPr>
      </p:sp>
      <p:sp>
        <p:nvSpPr>
          <p:cNvPr id="15" name="Text 13"/>
          <p:cNvSpPr txBox="1"/>
          <p:nvPr/>
        </p:nvSpPr>
        <p:spPr>
          <a:xfrm>
            <a:off x="6476970" y="2593238"/>
            <a:ext cx="47663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2 · ASK FOR AGREEMENT WITH QUESTION TAGS</a:t>
            </a:r>
            <a:endParaRPr lang="en-US" sz="1200" dirty="0"/>
          </a:p>
        </p:txBody>
      </p:sp>
      <p:sp>
        <p:nvSpPr>
          <p:cNvPr id="16" name="Text 14"/>
          <p:cNvSpPr txBox="1"/>
          <p:nvPr/>
        </p:nvSpPr>
        <p:spPr>
          <a:xfrm>
            <a:off x="6476970" y="2928457"/>
            <a:ext cx="476631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The kitchen is a bit messy,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isn't it?</a:t>
            </a:r>
            <a:endParaRPr lang="en-US" sz="1600" dirty="0"/>
          </a:p>
        </p:txBody>
      </p:sp>
      <p:sp>
        <p:nvSpPr>
          <p:cNvPr id="17" name="Text 15"/>
          <p:cNvSpPr txBox="1"/>
          <p:nvPr/>
        </p:nvSpPr>
        <p:spPr>
          <a:xfrm>
            <a:off x="6476970" y="3339937"/>
            <a:ext cx="476631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don't mind,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 you?</a:t>
            </a:r>
            <a:endParaRPr lang="en-US" sz="1600" dirty="0"/>
          </a:p>
        </p:txBody>
      </p:sp>
      <p:sp>
        <p:nvSpPr>
          <p:cNvPr id="18" name="Text 16"/>
          <p:cNvSpPr txBox="1"/>
          <p:nvPr/>
        </p:nvSpPr>
        <p:spPr>
          <a:xfrm>
            <a:off x="6476970" y="3756447"/>
            <a:ext cx="4766310" cy="441838"/>
          </a:xfrm>
          <a:prstGeom prst="rect">
            <a:avLst/>
          </a:prstGeom>
          <a:noFill/>
          <a:ln/>
        </p:spPr>
        <p:txBody>
          <a:bodyPr wrap="square" lIns="0" tIns="0" rIns="0" bIns="0" rtlCol="0" anchor="t"/>
          <a:lstStyle/>
          <a:p>
            <a:pPr algn="l" indent="0" marL="0">
              <a:lnSpc>
                <a:spcPts val="1680"/>
              </a:lnSpc>
              <a:buNone/>
            </a:pPr>
            <a:r>
              <a:rPr lang="en-US" sz="1200" dirty="0">
                <a:solidFill>
                  <a:srgbClr val="3D4F49"/>
                </a:solidFill>
                <a:latin typeface="Arial" pitchFamily="34" charset="0"/>
                <a:ea typeface="Arial" pitchFamily="34" charset="-122"/>
                <a:cs typeface="Arial" pitchFamily="34" charset="-120"/>
              </a:rPr>
              <a:t>Positive sentence → negative tag. Negative sentence → positive tag.</a:t>
            </a:r>
            <a:endParaRPr lang="en-US" sz="1200" dirty="0"/>
          </a:p>
        </p:txBody>
      </p:sp>
      <p:sp>
        <p:nvSpPr>
          <p:cNvPr id="19" name="Text 1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20" name="Text 1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LANGUAGE · QUESTION TAGS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How question tags work</a:t>
            </a:r>
            <a:endParaRPr lang="en-US" sz="3200" dirty="0"/>
          </a:p>
        </p:txBody>
      </p:sp>
      <p:sp>
        <p:nvSpPr>
          <p:cNvPr id="4" name="Shape 2"/>
          <p:cNvSpPr/>
          <p:nvPr/>
        </p:nvSpPr>
        <p:spPr>
          <a:xfrm>
            <a:off x="812810" y="1803288"/>
            <a:ext cx="3395167" cy="2214768"/>
          </a:xfrm>
          <a:prstGeom prst="roundRect">
            <a:avLst>
              <a:gd name="adj" fmla="val 5735"/>
            </a:avLst>
          </a:prstGeom>
          <a:solidFill>
            <a:srgbClr val="FFFDF8"/>
          </a:solidFill>
          <a:ln w="12700">
            <a:solidFill>
              <a:srgbClr val="E3DFD2"/>
            </a:solidFill>
            <a:prstDash val="solid"/>
          </a:ln>
        </p:spPr>
      </p:sp>
      <p:sp>
        <p:nvSpPr>
          <p:cNvPr id="5" name="Text 3"/>
          <p:cNvSpPr txBox="1"/>
          <p:nvPr/>
        </p:nvSpPr>
        <p:spPr>
          <a:xfrm>
            <a:off x="1054120" y="2029328"/>
            <a:ext cx="300892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POSITIVE → NEGATIVE TAG</a:t>
            </a:r>
            <a:endParaRPr lang="en-US" sz="1200" dirty="0"/>
          </a:p>
        </p:txBody>
      </p:sp>
      <p:sp>
        <p:nvSpPr>
          <p:cNvPr id="6" name="Text 4"/>
          <p:cNvSpPr txBox="1"/>
          <p:nvPr/>
        </p:nvSpPr>
        <p:spPr>
          <a:xfrm>
            <a:off x="1054120" y="2339218"/>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The kitchen is clean,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isn't it?</a:t>
            </a:r>
            <a:endParaRPr lang="en-US" sz="1600" dirty="0"/>
          </a:p>
        </p:txBody>
      </p:sp>
      <p:sp>
        <p:nvSpPr>
          <p:cNvPr id="7" name="Text 5"/>
          <p:cNvSpPr txBox="1"/>
          <p:nvPr/>
        </p:nvSpPr>
        <p:spPr>
          <a:xfrm>
            <a:off x="1054120" y="2725278"/>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can cook,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can't you?</a:t>
            </a:r>
            <a:endParaRPr lang="en-US" sz="1600" dirty="0"/>
          </a:p>
        </p:txBody>
      </p:sp>
      <p:sp>
        <p:nvSpPr>
          <p:cNvPr id="8" name="Text 6"/>
          <p:cNvSpPr txBox="1"/>
          <p:nvPr/>
        </p:nvSpPr>
        <p:spPr>
          <a:xfrm>
            <a:off x="1054120" y="3111337"/>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He paid the rent,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didn't he?</a:t>
            </a:r>
            <a:endParaRPr lang="en-US" sz="1600" dirty="0"/>
          </a:p>
        </p:txBody>
      </p:sp>
      <p:sp>
        <p:nvSpPr>
          <p:cNvPr id="9" name="Shape 7"/>
          <p:cNvSpPr/>
          <p:nvPr/>
        </p:nvSpPr>
        <p:spPr>
          <a:xfrm>
            <a:off x="4411157" y="1803288"/>
            <a:ext cx="3395167" cy="2214768"/>
          </a:xfrm>
          <a:prstGeom prst="roundRect">
            <a:avLst>
              <a:gd name="adj" fmla="val 5735"/>
            </a:avLst>
          </a:prstGeom>
          <a:solidFill>
            <a:srgbClr val="FFFDF8"/>
          </a:solidFill>
          <a:ln w="12700">
            <a:solidFill>
              <a:srgbClr val="E3DFD2"/>
            </a:solidFill>
            <a:prstDash val="solid"/>
          </a:ln>
        </p:spPr>
      </p:sp>
      <p:sp>
        <p:nvSpPr>
          <p:cNvPr id="10" name="Text 8"/>
          <p:cNvSpPr txBox="1"/>
          <p:nvPr/>
        </p:nvSpPr>
        <p:spPr>
          <a:xfrm>
            <a:off x="4652467" y="2029328"/>
            <a:ext cx="300892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NEGATIVE → POSITIVE TAG</a:t>
            </a:r>
            <a:endParaRPr lang="en-US" sz="1200" dirty="0"/>
          </a:p>
        </p:txBody>
      </p:sp>
      <p:sp>
        <p:nvSpPr>
          <p:cNvPr id="11" name="Text 9"/>
          <p:cNvSpPr txBox="1"/>
          <p:nvPr/>
        </p:nvSpPr>
        <p:spPr>
          <a:xfrm>
            <a:off x="4652467" y="2339218"/>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don't smoke,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 you?</a:t>
            </a:r>
            <a:endParaRPr lang="en-US" sz="1600" dirty="0"/>
          </a:p>
        </p:txBody>
      </p:sp>
      <p:sp>
        <p:nvSpPr>
          <p:cNvPr id="12" name="Text 10"/>
          <p:cNvSpPr txBox="1"/>
          <p:nvPr/>
        </p:nvSpPr>
        <p:spPr>
          <a:xfrm>
            <a:off x="4652467" y="2725278"/>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He hasn't paid,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has he?</a:t>
            </a:r>
            <a:endParaRPr lang="en-US" sz="1600" dirty="0"/>
          </a:p>
        </p:txBody>
      </p:sp>
      <p:sp>
        <p:nvSpPr>
          <p:cNvPr id="13" name="Text 11"/>
          <p:cNvSpPr txBox="1"/>
          <p:nvPr/>
        </p:nvSpPr>
        <p:spPr>
          <a:xfrm>
            <a:off x="4652467" y="3111337"/>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It isn't fair,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is it?</a:t>
            </a:r>
            <a:endParaRPr lang="en-US" sz="1600" dirty="0"/>
          </a:p>
        </p:txBody>
      </p:sp>
      <p:sp>
        <p:nvSpPr>
          <p:cNvPr id="14" name="Shape 12"/>
          <p:cNvSpPr/>
          <p:nvPr/>
        </p:nvSpPr>
        <p:spPr>
          <a:xfrm>
            <a:off x="8009504" y="1803288"/>
            <a:ext cx="3369747" cy="2214768"/>
          </a:xfrm>
          <a:prstGeom prst="roundRect">
            <a:avLst>
              <a:gd name="adj" fmla="val 5735"/>
            </a:avLst>
          </a:prstGeom>
          <a:solidFill>
            <a:srgbClr val="DFF0E6"/>
          </a:solidFill>
          <a:ln/>
        </p:spPr>
      </p:sp>
      <p:sp>
        <p:nvSpPr>
          <p:cNvPr id="15" name="Text 13"/>
          <p:cNvSpPr txBox="1"/>
          <p:nvPr/>
        </p:nvSpPr>
        <p:spPr>
          <a:xfrm>
            <a:off x="8238104" y="2016618"/>
            <a:ext cx="300892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SPECIAL CASES</a:t>
            </a:r>
            <a:endParaRPr lang="en-US" sz="1200" dirty="0"/>
          </a:p>
        </p:txBody>
      </p:sp>
      <p:sp>
        <p:nvSpPr>
          <p:cNvPr id="16" name="Text 14"/>
          <p:cNvSpPr txBox="1"/>
          <p:nvPr/>
        </p:nvSpPr>
        <p:spPr>
          <a:xfrm>
            <a:off x="8238104" y="2326508"/>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I'm late,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aren't I?</a:t>
            </a:r>
            <a:endParaRPr lang="en-US" sz="1600" dirty="0"/>
          </a:p>
        </p:txBody>
      </p:sp>
      <p:sp>
        <p:nvSpPr>
          <p:cNvPr id="17" name="Text 15"/>
          <p:cNvSpPr txBox="1"/>
          <p:nvPr/>
        </p:nvSpPr>
        <p:spPr>
          <a:xfrm>
            <a:off x="8238104" y="2712568"/>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Let's start,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shall we?</a:t>
            </a:r>
            <a:endParaRPr lang="en-US" sz="1600" dirty="0"/>
          </a:p>
        </p:txBody>
      </p:sp>
      <p:sp>
        <p:nvSpPr>
          <p:cNvPr id="18" name="Text 16"/>
          <p:cNvSpPr txBox="1"/>
          <p:nvPr/>
        </p:nvSpPr>
        <p:spPr>
          <a:xfrm>
            <a:off x="8238104" y="3098627"/>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Close the door,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will you?</a:t>
            </a:r>
            <a:endParaRPr lang="en-US" sz="1600" dirty="0"/>
          </a:p>
        </p:txBody>
      </p:sp>
      <p:sp>
        <p:nvSpPr>
          <p:cNvPr id="19" name="Text 17"/>
          <p:cNvSpPr txBox="1"/>
          <p:nvPr/>
        </p:nvSpPr>
        <p:spPr>
          <a:xfrm>
            <a:off x="8238104" y="3484687"/>
            <a:ext cx="3008925"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Nobody called,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did they?</a:t>
            </a:r>
            <a:endParaRPr lang="en-US" sz="1600" dirty="0"/>
          </a:p>
        </p:txBody>
      </p:sp>
      <p:sp>
        <p:nvSpPr>
          <p:cNvPr id="20" name="Shape 18"/>
          <p:cNvSpPr/>
          <p:nvPr/>
        </p:nvSpPr>
        <p:spPr>
          <a:xfrm>
            <a:off x="812810" y="4272077"/>
            <a:ext cx="5181630" cy="822960"/>
          </a:xfrm>
          <a:prstGeom prst="roundRect">
            <a:avLst>
              <a:gd name="adj" fmla="val 12344"/>
            </a:avLst>
          </a:prstGeom>
          <a:solidFill>
            <a:srgbClr val="14302A"/>
          </a:solidFill>
          <a:ln/>
        </p:spPr>
      </p:sp>
      <p:sp>
        <p:nvSpPr>
          <p:cNvPr id="21" name="Text 19"/>
          <p:cNvSpPr txBox="1"/>
          <p:nvPr/>
        </p:nvSpPr>
        <p:spPr>
          <a:xfrm>
            <a:off x="1015990" y="4378787"/>
            <a:ext cx="4908774" cy="589239"/>
          </a:xfrm>
          <a:prstGeom prst="rect">
            <a:avLst/>
          </a:prstGeom>
          <a:noFill/>
          <a:ln/>
        </p:spPr>
        <p:txBody>
          <a:bodyPr wrap="square" lIns="0" tIns="0" rIns="0" bIns="0" rtlCol="0" anchor="t"/>
          <a:lstStyle/>
          <a:p>
            <a:pPr algn="l" indent="0" marL="0">
              <a:lnSpc>
                <a:spcPts val="2240"/>
              </a:lnSpc>
              <a:buNone/>
            </a:pPr>
            <a:r>
              <a:rPr lang="en-US" sz="1600" b="1" dirty="0">
                <a:solidFill>
                  <a:srgbClr val="8FD3B0"/>
                </a:solidFill>
                <a:latin typeface="Arial" pitchFamily="34" charset="0"/>
                <a:ea typeface="Arial" pitchFamily="34" charset="-122"/>
                <a:cs typeface="Arial" pitchFamily="34" charset="-120"/>
              </a:rPr>
              <a:t>Voice goes down:</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you expect the other person to agree.</a:t>
            </a:r>
            <a:endParaRPr lang="en-US" sz="1600" dirty="0"/>
          </a:p>
        </p:txBody>
      </p:sp>
      <p:sp>
        <p:nvSpPr>
          <p:cNvPr id="22" name="Shape 20"/>
          <p:cNvSpPr/>
          <p:nvPr/>
        </p:nvSpPr>
        <p:spPr>
          <a:xfrm>
            <a:off x="6197620" y="4272077"/>
            <a:ext cx="5181630" cy="822960"/>
          </a:xfrm>
          <a:prstGeom prst="roundRect">
            <a:avLst>
              <a:gd name="adj" fmla="val 12344"/>
            </a:avLst>
          </a:prstGeom>
          <a:solidFill>
            <a:srgbClr val="14302A"/>
          </a:solidFill>
          <a:ln/>
        </p:spPr>
      </p:sp>
      <p:sp>
        <p:nvSpPr>
          <p:cNvPr id="23" name="Text 21"/>
          <p:cNvSpPr txBox="1"/>
          <p:nvPr/>
        </p:nvSpPr>
        <p:spPr>
          <a:xfrm>
            <a:off x="6400800" y="4378787"/>
            <a:ext cx="4908774" cy="589239"/>
          </a:xfrm>
          <a:prstGeom prst="rect">
            <a:avLst/>
          </a:prstGeom>
          <a:noFill/>
          <a:ln/>
        </p:spPr>
        <p:txBody>
          <a:bodyPr wrap="square" lIns="0" tIns="0" rIns="0" bIns="0" rtlCol="0" anchor="t"/>
          <a:lstStyle/>
          <a:p>
            <a:pPr algn="l" indent="0" marL="0">
              <a:lnSpc>
                <a:spcPts val="2240"/>
              </a:lnSpc>
              <a:buNone/>
            </a:pPr>
            <a:r>
              <a:rPr lang="en-US" sz="1600" b="1" dirty="0">
                <a:solidFill>
                  <a:srgbClr val="8FD3B0"/>
                </a:solidFill>
                <a:latin typeface="Arial" pitchFamily="34" charset="0"/>
                <a:ea typeface="Arial" pitchFamily="34" charset="-122"/>
                <a:cs typeface="Arial" pitchFamily="34" charset="-120"/>
              </a:rPr>
              <a:t>Voice goes up:</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it's a real question. You aren't sure.</a:t>
            </a:r>
            <a:endParaRPr lang="en-US" sz="1600" dirty="0"/>
          </a:p>
        </p:txBody>
      </p:sp>
      <p:sp>
        <p:nvSpPr>
          <p:cNvPr id="24" name="Text 22"/>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25" name="Text 23"/>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02A"/>
        </a:solidFill>
      </p:bgPr>
    </p:bg>
    <p:spTree>
      <p:nvGrpSpPr>
        <p:cNvPr id="1" name=""/>
        <p:cNvGrpSpPr/>
        <p:nvPr/>
      </p:nvGrpSpPr>
      <p:grpSpPr>
        <a:xfrm>
          <a:off x="0" y="0"/>
          <a:ext cx="0" cy="0"/>
          <a:chOff x="0" y="0"/>
          <a:chExt cx="0" cy="0"/>
        </a:xfrm>
      </p:grpSpPr>
      <p:sp>
        <p:nvSpPr>
          <p:cNvPr id="2" name="Shape 0"/>
          <p:cNvSpPr/>
          <p:nvPr/>
        </p:nvSpPr>
        <p:spPr>
          <a:xfrm>
            <a:off x="812810" y="1482151"/>
            <a:ext cx="1003371" cy="340340"/>
          </a:xfrm>
          <a:prstGeom prst="roundRect">
            <a:avLst>
              <a:gd name="adj" fmla="val 50000"/>
            </a:avLst>
          </a:prstGeom>
          <a:solidFill>
            <a:srgbClr val="8FD3B0"/>
          </a:solidFill>
          <a:ln/>
        </p:spPr>
      </p:sp>
      <p:sp>
        <p:nvSpPr>
          <p:cNvPr id="3" name="Text 1"/>
          <p:cNvSpPr txBox="1"/>
          <p:nvPr/>
        </p:nvSpPr>
        <p:spPr>
          <a:xfrm>
            <a:off x="965241" y="1530431"/>
            <a:ext cx="75063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14302A"/>
                </a:solidFill>
                <a:latin typeface="Arial" pitchFamily="34" charset="0"/>
                <a:ea typeface="Arial" pitchFamily="34" charset="-122"/>
                <a:cs typeface="Arial" pitchFamily="34" charset="-120"/>
              </a:rPr>
              <a:t>GAME 1</a:t>
            </a:r>
            <a:endParaRPr lang="en-US" sz="1200" dirty="0"/>
          </a:p>
        </p:txBody>
      </p:sp>
      <p:sp>
        <p:nvSpPr>
          <p:cNvPr id="4" name="Shape 2"/>
          <p:cNvSpPr/>
          <p:nvPr/>
        </p:nvSpPr>
        <p:spPr>
          <a:xfrm>
            <a:off x="1917771" y="1482151"/>
            <a:ext cx="2935315" cy="340340"/>
          </a:xfrm>
          <a:prstGeom prst="roundRect">
            <a:avLst>
              <a:gd name="adj" fmla="val 50000"/>
            </a:avLst>
          </a:prstGeom>
          <a:ln w="12700">
            <a:solidFill>
              <a:srgbClr val="8FD3B0"/>
            </a:solidFill>
            <a:prstDash val="solid"/>
          </a:ln>
        </p:spPr>
      </p:sp>
      <p:sp>
        <p:nvSpPr>
          <p:cNvPr id="5" name="Text 3"/>
          <p:cNvSpPr txBox="1"/>
          <p:nvPr/>
        </p:nvSpPr>
        <p:spPr>
          <a:xfrm>
            <a:off x="2070202" y="1530431"/>
            <a:ext cx="2721163"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FD3B0"/>
                </a:solidFill>
                <a:latin typeface="Arial" pitchFamily="34" charset="0"/>
                <a:ea typeface="Arial" pitchFamily="34" charset="-122"/>
                <a:cs typeface="Arial" pitchFamily="34" charset="-120"/>
              </a:rPr>
              <a:t>QUESTION TAGS · 3 ROUNDS</a:t>
            </a:r>
            <a:endParaRPr lang="en-US" sz="1200" dirty="0"/>
          </a:p>
        </p:txBody>
      </p:sp>
      <p:sp>
        <p:nvSpPr>
          <p:cNvPr id="6" name="Text 4"/>
          <p:cNvSpPr txBox="1"/>
          <p:nvPr/>
        </p:nvSpPr>
        <p:spPr>
          <a:xfrm>
            <a:off x="812810" y="2051091"/>
            <a:ext cx="10815798" cy="800100"/>
          </a:xfrm>
          <a:prstGeom prst="rect">
            <a:avLst/>
          </a:prstGeom>
          <a:noFill/>
          <a:ln/>
        </p:spPr>
        <p:txBody>
          <a:bodyPr wrap="square" lIns="0" tIns="0" rIns="0" bIns="0" rtlCol="0" anchor="t"/>
          <a:lstStyle/>
          <a:p>
            <a:pPr algn="l" indent="0" marL="0">
              <a:lnSpc>
                <a:spcPts val="6300"/>
              </a:lnSpc>
              <a:buNone/>
            </a:pPr>
            <a:r>
              <a:rPr lang="en-US" sz="6000" b="1" dirty="0">
                <a:solidFill>
                  <a:srgbClr val="F3F0E6"/>
                </a:solidFill>
                <a:latin typeface="Arial" pitchFamily="34" charset="0"/>
                <a:ea typeface="Arial" pitchFamily="34" charset="-122"/>
                <a:cs typeface="Arial" pitchFamily="34" charset="-120"/>
              </a:rPr>
              <a:t>Tag Tennis</a:t>
            </a:r>
            <a:endParaRPr lang="en-US" sz="6000" dirty="0"/>
          </a:p>
        </p:txBody>
      </p:sp>
      <p:sp>
        <p:nvSpPr>
          <p:cNvPr id="7" name="Shape 5"/>
          <p:cNvSpPr/>
          <p:nvPr/>
        </p:nvSpPr>
        <p:spPr>
          <a:xfrm>
            <a:off x="812810" y="3079791"/>
            <a:ext cx="355610" cy="355610"/>
          </a:xfrm>
          <a:prstGeom prst="ellipse">
            <a:avLst/>
          </a:prstGeom>
          <a:solidFill>
            <a:srgbClr val="8FD3B0"/>
          </a:solidFill>
          <a:ln/>
        </p:spPr>
      </p:sp>
      <p:sp>
        <p:nvSpPr>
          <p:cNvPr id="8" name="Text 6"/>
          <p:cNvSpPr txBox="1"/>
          <p:nvPr/>
        </p:nvSpPr>
        <p:spPr>
          <a:xfrm>
            <a:off x="790224" y="30797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320759" y="30594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A sentence appears. The team whose turn it is has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10 seconds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to say the whole sentence with the right tag.</a:t>
            </a:r>
            <a:endParaRPr lang="en-US" sz="1600" dirty="0"/>
          </a:p>
        </p:txBody>
      </p:sp>
      <p:sp>
        <p:nvSpPr>
          <p:cNvPr id="10" name="Shape 8"/>
          <p:cNvSpPr/>
          <p:nvPr/>
        </p:nvSpPr>
        <p:spPr>
          <a:xfrm>
            <a:off x="812810" y="3536991"/>
            <a:ext cx="355610" cy="355610"/>
          </a:xfrm>
          <a:prstGeom prst="ellipse">
            <a:avLst/>
          </a:prstGeom>
          <a:solidFill>
            <a:srgbClr val="8FD3B0"/>
          </a:solidFill>
          <a:ln/>
        </p:spPr>
      </p:sp>
      <p:sp>
        <p:nvSpPr>
          <p:cNvPr id="11" name="Text 9"/>
          <p:cNvSpPr txBox="1"/>
          <p:nvPr/>
        </p:nvSpPr>
        <p:spPr>
          <a:xfrm>
            <a:off x="790224" y="35369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320759" y="35166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Correct: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2 points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Wrong or too slow: the next team can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steal</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the answer for 1 point.</a:t>
            </a:r>
            <a:endParaRPr lang="en-US" sz="1600" dirty="0"/>
          </a:p>
        </p:txBody>
      </p:sp>
      <p:sp>
        <p:nvSpPr>
          <p:cNvPr id="13" name="Shape 11"/>
          <p:cNvSpPr/>
          <p:nvPr/>
        </p:nvSpPr>
        <p:spPr>
          <a:xfrm>
            <a:off x="812810" y="3994191"/>
            <a:ext cx="355610" cy="355610"/>
          </a:xfrm>
          <a:prstGeom prst="ellipse">
            <a:avLst/>
          </a:prstGeom>
          <a:solidFill>
            <a:srgbClr val="8FD3B0"/>
          </a:solidFill>
          <a:ln/>
        </p:spPr>
      </p:sp>
      <p:sp>
        <p:nvSpPr>
          <p:cNvPr id="14" name="Text 12"/>
          <p:cNvSpPr txBox="1"/>
          <p:nvPr/>
        </p:nvSpPr>
        <p:spPr>
          <a:xfrm>
            <a:off x="790224" y="39941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1320759" y="39738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Bonus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your voice goes down on the tag, because you expect the other person to agree.</a:t>
            </a:r>
            <a:endParaRPr lang="en-US" sz="1600" dirty="0"/>
          </a:p>
        </p:txBody>
      </p:sp>
      <p:sp>
        <p:nvSpPr>
          <p:cNvPr id="16" name="Shape 14"/>
          <p:cNvSpPr/>
          <p:nvPr/>
        </p:nvSpPr>
        <p:spPr>
          <a:xfrm>
            <a:off x="812810" y="4451391"/>
            <a:ext cx="355610" cy="355610"/>
          </a:xfrm>
          <a:prstGeom prst="ellipse">
            <a:avLst/>
          </a:prstGeom>
          <a:solidFill>
            <a:srgbClr val="8FD3B0"/>
          </a:solidFill>
          <a:ln/>
        </p:spPr>
      </p:sp>
      <p:sp>
        <p:nvSpPr>
          <p:cNvPr id="17" name="Text 15"/>
          <p:cNvSpPr txBox="1"/>
          <p:nvPr/>
        </p:nvSpPr>
        <p:spPr>
          <a:xfrm>
            <a:off x="790224" y="44513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4</a:t>
            </a:r>
            <a:endParaRPr lang="en-US" sz="1200" dirty="0"/>
          </a:p>
        </p:txBody>
      </p:sp>
      <p:sp>
        <p:nvSpPr>
          <p:cNvPr id="18" name="Text 16"/>
          <p:cNvSpPr txBox="1"/>
          <p:nvPr/>
        </p:nvSpPr>
        <p:spPr>
          <a:xfrm>
            <a:off x="1320759" y="44310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Turns go Team 1 → Team 2 → Team 3, and a different player speaks each time.</a:t>
            </a:r>
            <a:endParaRPr lang="en-US" sz="1600" dirty="0"/>
          </a:p>
        </p:txBody>
      </p:sp>
      <p:sp>
        <p:nvSpPr>
          <p:cNvPr id="19" name="Shape 17"/>
          <p:cNvSpPr/>
          <p:nvPr/>
        </p:nvSpPr>
        <p:spPr>
          <a:xfrm>
            <a:off x="812810" y="5035509"/>
            <a:ext cx="1088319" cy="340340"/>
          </a:xfrm>
          <a:prstGeom prst="roundRect">
            <a:avLst>
              <a:gd name="adj" fmla="val 50000"/>
            </a:avLst>
          </a:prstGeom>
          <a:solidFill>
            <a:srgbClr val="F3F0E6"/>
          </a:solidFill>
          <a:ln/>
        </p:spPr>
      </p:sp>
      <p:sp>
        <p:nvSpPr>
          <p:cNvPr id="20" name="Text 18"/>
          <p:cNvSpPr txBox="1"/>
          <p:nvPr/>
        </p:nvSpPr>
        <p:spPr>
          <a:xfrm>
            <a:off x="952530" y="5083790"/>
            <a:ext cx="863194"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Correct: +2</a:t>
            </a:r>
            <a:endParaRPr lang="en-US" sz="1200" dirty="0"/>
          </a:p>
        </p:txBody>
      </p:sp>
      <p:sp>
        <p:nvSpPr>
          <p:cNvPr id="21" name="Shape 19"/>
          <p:cNvSpPr/>
          <p:nvPr/>
        </p:nvSpPr>
        <p:spPr>
          <a:xfrm>
            <a:off x="2002719" y="5035509"/>
            <a:ext cx="910560" cy="340340"/>
          </a:xfrm>
          <a:prstGeom prst="roundRect">
            <a:avLst>
              <a:gd name="adj" fmla="val 50000"/>
            </a:avLst>
          </a:prstGeom>
          <a:solidFill>
            <a:srgbClr val="F3F0E6"/>
          </a:solidFill>
          <a:ln/>
        </p:spPr>
      </p:sp>
      <p:sp>
        <p:nvSpPr>
          <p:cNvPr id="22" name="Text 20"/>
          <p:cNvSpPr txBox="1"/>
          <p:nvPr/>
        </p:nvSpPr>
        <p:spPr>
          <a:xfrm>
            <a:off x="2142439" y="5083790"/>
            <a:ext cx="681868"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Steal: +1</a:t>
            </a:r>
            <a:endParaRPr lang="en-US" sz="1200" dirty="0"/>
          </a:p>
        </p:txBody>
      </p:sp>
      <p:sp>
        <p:nvSpPr>
          <p:cNvPr id="23" name="Shape 21"/>
          <p:cNvSpPr/>
          <p:nvPr/>
        </p:nvSpPr>
        <p:spPr>
          <a:xfrm>
            <a:off x="3014868" y="5035509"/>
            <a:ext cx="1782166" cy="340340"/>
          </a:xfrm>
          <a:prstGeom prst="roundRect">
            <a:avLst>
              <a:gd name="adj" fmla="val 50000"/>
            </a:avLst>
          </a:prstGeom>
          <a:solidFill>
            <a:srgbClr val="F3F0E6"/>
          </a:solidFill>
          <a:ln/>
        </p:spPr>
      </p:sp>
      <p:sp>
        <p:nvSpPr>
          <p:cNvPr id="24" name="Text 22"/>
          <p:cNvSpPr txBox="1"/>
          <p:nvPr/>
        </p:nvSpPr>
        <p:spPr>
          <a:xfrm>
            <a:off x="3154589" y="5083790"/>
            <a:ext cx="1570939"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Intonation bonus: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4712635"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1 · TAG TENNIS</a:t>
            </a:r>
            <a:endParaRPr lang="en-US" sz="1200" dirty="0"/>
          </a:p>
        </p:txBody>
      </p:sp>
      <p:sp>
        <p:nvSpPr>
          <p:cNvPr id="3" name="Text 1"/>
          <p:cNvSpPr txBox="1"/>
          <p:nvPr/>
        </p:nvSpPr>
        <p:spPr>
          <a:xfrm>
            <a:off x="812810" y="1102309"/>
            <a:ext cx="4712635"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Round 1: from the book</a:t>
            </a:r>
            <a:endParaRPr lang="en-US" sz="3200" dirty="0"/>
          </a:p>
        </p:txBody>
      </p:sp>
      <p:sp>
        <p:nvSpPr>
          <p:cNvPr id="4" name="Shape 2"/>
          <p:cNvSpPr/>
          <p:nvPr/>
        </p:nvSpPr>
        <p:spPr>
          <a:xfrm>
            <a:off x="9435511" y="1209020"/>
            <a:ext cx="1943740" cy="340340"/>
          </a:xfrm>
          <a:prstGeom prst="roundRect">
            <a:avLst>
              <a:gd name="adj" fmla="val 50000"/>
            </a:avLst>
          </a:prstGeom>
          <a:solidFill>
            <a:srgbClr val="14302A"/>
          </a:solidFill>
          <a:ln/>
        </p:spPr>
      </p:sp>
      <p:sp>
        <p:nvSpPr>
          <p:cNvPr id="5" name="Text 3"/>
          <p:cNvSpPr txBox="1"/>
          <p:nvPr/>
        </p:nvSpPr>
        <p:spPr>
          <a:xfrm>
            <a:off x="9587941" y="1257209"/>
            <a:ext cx="1709745"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10 seconds · +2 points</a:t>
            </a:r>
            <a:endParaRPr lang="en-US" sz="1200" dirty="0"/>
          </a:p>
        </p:txBody>
      </p:sp>
      <p:sp>
        <p:nvSpPr>
          <p:cNvPr id="6" name="Shape 4"/>
          <p:cNvSpPr/>
          <p:nvPr/>
        </p:nvSpPr>
        <p:spPr>
          <a:xfrm>
            <a:off x="812810" y="1803288"/>
            <a:ext cx="5206959" cy="990570"/>
          </a:xfrm>
          <a:prstGeom prst="roundRect">
            <a:avLst>
              <a:gd name="adj" fmla="val 11539"/>
            </a:avLst>
          </a:prstGeom>
          <a:solidFill>
            <a:srgbClr val="FFFDF8"/>
          </a:solidFill>
          <a:ln w="12700">
            <a:solidFill>
              <a:srgbClr val="E3DFD2"/>
            </a:solidFill>
            <a:prstDash val="solid"/>
          </a:ln>
        </p:spPr>
      </p:sp>
      <p:sp>
        <p:nvSpPr>
          <p:cNvPr id="7" name="Shape 5"/>
          <p:cNvSpPr/>
          <p:nvPr/>
        </p:nvSpPr>
        <p:spPr>
          <a:xfrm>
            <a:off x="1003280" y="2095439"/>
            <a:ext cx="406359" cy="406359"/>
          </a:xfrm>
          <a:prstGeom prst="ellipse">
            <a:avLst/>
          </a:prstGeom>
          <a:solidFill>
            <a:srgbClr val="14302A"/>
          </a:solidFill>
          <a:ln/>
        </p:spPr>
      </p:sp>
      <p:sp>
        <p:nvSpPr>
          <p:cNvPr id="8" name="Text 6"/>
          <p:cNvSpPr txBox="1"/>
          <p:nvPr/>
        </p:nvSpPr>
        <p:spPr>
          <a:xfrm>
            <a:off x="980145" y="2095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562070" y="212076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The flat's great, ______?</a:t>
            </a:r>
            <a:endParaRPr lang="en-US" sz="2000" dirty="0"/>
          </a:p>
        </p:txBody>
      </p:sp>
      <p:sp>
        <p:nvSpPr>
          <p:cNvPr id="10" name="Shape 8"/>
          <p:cNvSpPr/>
          <p:nvPr/>
        </p:nvSpPr>
        <p:spPr>
          <a:xfrm>
            <a:off x="6172200" y="1803288"/>
            <a:ext cx="5206959" cy="990570"/>
          </a:xfrm>
          <a:prstGeom prst="roundRect">
            <a:avLst>
              <a:gd name="adj" fmla="val 11539"/>
            </a:avLst>
          </a:prstGeom>
          <a:solidFill>
            <a:srgbClr val="FFFDF8"/>
          </a:solidFill>
          <a:ln w="12700">
            <a:solidFill>
              <a:srgbClr val="E3DFD2"/>
            </a:solidFill>
            <a:prstDash val="solid"/>
          </a:ln>
        </p:spPr>
      </p:sp>
      <p:sp>
        <p:nvSpPr>
          <p:cNvPr id="11" name="Shape 9"/>
          <p:cNvSpPr/>
          <p:nvPr/>
        </p:nvSpPr>
        <p:spPr>
          <a:xfrm>
            <a:off x="6362670" y="2095439"/>
            <a:ext cx="406359" cy="406359"/>
          </a:xfrm>
          <a:prstGeom prst="ellipse">
            <a:avLst/>
          </a:prstGeom>
          <a:solidFill>
            <a:srgbClr val="14302A"/>
          </a:solidFill>
          <a:ln/>
        </p:spPr>
      </p:sp>
      <p:sp>
        <p:nvSpPr>
          <p:cNvPr id="12" name="Text 10"/>
          <p:cNvSpPr txBox="1"/>
          <p:nvPr/>
        </p:nvSpPr>
        <p:spPr>
          <a:xfrm>
            <a:off x="6339627" y="2095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6921459" y="1955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You don't really like cleaning, ______?</a:t>
            </a:r>
            <a:endParaRPr lang="en-US" sz="2000" dirty="0"/>
          </a:p>
        </p:txBody>
      </p:sp>
      <p:sp>
        <p:nvSpPr>
          <p:cNvPr id="14" name="Shape 12"/>
          <p:cNvSpPr/>
          <p:nvPr/>
        </p:nvSpPr>
        <p:spPr>
          <a:xfrm>
            <a:off x="812810" y="2946288"/>
            <a:ext cx="5206959" cy="990570"/>
          </a:xfrm>
          <a:prstGeom prst="roundRect">
            <a:avLst>
              <a:gd name="adj" fmla="val 11539"/>
            </a:avLst>
          </a:prstGeom>
          <a:solidFill>
            <a:srgbClr val="FFFDF8"/>
          </a:solidFill>
          <a:ln w="12700">
            <a:solidFill>
              <a:srgbClr val="E3DFD2"/>
            </a:solidFill>
            <a:prstDash val="solid"/>
          </a:ln>
        </p:spPr>
      </p:sp>
      <p:sp>
        <p:nvSpPr>
          <p:cNvPr id="15" name="Shape 13"/>
          <p:cNvSpPr/>
          <p:nvPr/>
        </p:nvSpPr>
        <p:spPr>
          <a:xfrm>
            <a:off x="1003280" y="3238439"/>
            <a:ext cx="406359" cy="406359"/>
          </a:xfrm>
          <a:prstGeom prst="ellipse">
            <a:avLst/>
          </a:prstGeom>
          <a:solidFill>
            <a:srgbClr val="14302A"/>
          </a:solidFill>
          <a:ln/>
        </p:spPr>
      </p:sp>
      <p:sp>
        <p:nvSpPr>
          <p:cNvPr id="16" name="Text 14"/>
          <p:cNvSpPr txBox="1"/>
          <p:nvPr/>
        </p:nvSpPr>
        <p:spPr>
          <a:xfrm>
            <a:off x="980145" y="3238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562070" y="3098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You leave a lot of clothes on the floor, ______?</a:t>
            </a:r>
            <a:endParaRPr lang="en-US" sz="2000" dirty="0"/>
          </a:p>
        </p:txBody>
      </p:sp>
      <p:sp>
        <p:nvSpPr>
          <p:cNvPr id="18" name="Shape 16"/>
          <p:cNvSpPr/>
          <p:nvPr/>
        </p:nvSpPr>
        <p:spPr>
          <a:xfrm>
            <a:off x="6172200" y="2946288"/>
            <a:ext cx="5206959" cy="990570"/>
          </a:xfrm>
          <a:prstGeom prst="roundRect">
            <a:avLst>
              <a:gd name="adj" fmla="val 11539"/>
            </a:avLst>
          </a:prstGeom>
          <a:solidFill>
            <a:srgbClr val="FFFDF8"/>
          </a:solidFill>
          <a:ln w="12700">
            <a:solidFill>
              <a:srgbClr val="E3DFD2"/>
            </a:solidFill>
            <a:prstDash val="solid"/>
          </a:ln>
        </p:spPr>
      </p:sp>
      <p:sp>
        <p:nvSpPr>
          <p:cNvPr id="19" name="Shape 17"/>
          <p:cNvSpPr/>
          <p:nvPr/>
        </p:nvSpPr>
        <p:spPr>
          <a:xfrm>
            <a:off x="6362670" y="3238439"/>
            <a:ext cx="406359" cy="406359"/>
          </a:xfrm>
          <a:prstGeom prst="ellipse">
            <a:avLst/>
          </a:prstGeom>
          <a:solidFill>
            <a:srgbClr val="14302A"/>
          </a:solidFill>
          <a:ln/>
        </p:spPr>
      </p:sp>
      <p:sp>
        <p:nvSpPr>
          <p:cNvPr id="20" name="Text 18"/>
          <p:cNvSpPr txBox="1"/>
          <p:nvPr/>
        </p:nvSpPr>
        <p:spPr>
          <a:xfrm>
            <a:off x="6339627" y="3238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4</a:t>
            </a:r>
            <a:endParaRPr lang="en-US" sz="1200" dirty="0"/>
          </a:p>
        </p:txBody>
      </p:sp>
      <p:sp>
        <p:nvSpPr>
          <p:cNvPr id="21" name="Text 19"/>
          <p:cNvSpPr txBox="1"/>
          <p:nvPr/>
        </p:nvSpPr>
        <p:spPr>
          <a:xfrm>
            <a:off x="6921459" y="3098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The cooker can get quite dirty, ______?</a:t>
            </a:r>
            <a:endParaRPr lang="en-US" sz="2000" dirty="0"/>
          </a:p>
        </p:txBody>
      </p:sp>
      <p:sp>
        <p:nvSpPr>
          <p:cNvPr id="22" name="Shape 20"/>
          <p:cNvSpPr/>
          <p:nvPr/>
        </p:nvSpPr>
        <p:spPr>
          <a:xfrm>
            <a:off x="812810" y="4089288"/>
            <a:ext cx="5206959" cy="990570"/>
          </a:xfrm>
          <a:prstGeom prst="roundRect">
            <a:avLst>
              <a:gd name="adj" fmla="val 11539"/>
            </a:avLst>
          </a:prstGeom>
          <a:solidFill>
            <a:srgbClr val="FFFDF8"/>
          </a:solidFill>
          <a:ln w="12700">
            <a:solidFill>
              <a:srgbClr val="E3DFD2"/>
            </a:solidFill>
            <a:prstDash val="solid"/>
          </a:ln>
        </p:spPr>
      </p:sp>
      <p:sp>
        <p:nvSpPr>
          <p:cNvPr id="23" name="Shape 21"/>
          <p:cNvSpPr/>
          <p:nvPr/>
        </p:nvSpPr>
        <p:spPr>
          <a:xfrm>
            <a:off x="1003280" y="4381439"/>
            <a:ext cx="406359" cy="406359"/>
          </a:xfrm>
          <a:prstGeom prst="ellipse">
            <a:avLst/>
          </a:prstGeom>
          <a:solidFill>
            <a:srgbClr val="14302A"/>
          </a:solidFill>
          <a:ln/>
        </p:spPr>
      </p:sp>
      <p:sp>
        <p:nvSpPr>
          <p:cNvPr id="24" name="Text 22"/>
          <p:cNvSpPr txBox="1"/>
          <p:nvPr/>
        </p:nvSpPr>
        <p:spPr>
          <a:xfrm>
            <a:off x="980145" y="4381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5</a:t>
            </a:r>
            <a:endParaRPr lang="en-US" sz="1200" dirty="0"/>
          </a:p>
        </p:txBody>
      </p:sp>
      <p:sp>
        <p:nvSpPr>
          <p:cNvPr id="25" name="Text 23"/>
          <p:cNvSpPr txBox="1"/>
          <p:nvPr/>
        </p:nvSpPr>
        <p:spPr>
          <a:xfrm>
            <a:off x="1562070" y="4241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We need to talk about who cleans the bathroom, ______?</a:t>
            </a:r>
            <a:endParaRPr lang="en-US" sz="2000" dirty="0"/>
          </a:p>
        </p:txBody>
      </p:sp>
      <p:sp>
        <p:nvSpPr>
          <p:cNvPr id="26" name="Shape 24"/>
          <p:cNvSpPr/>
          <p:nvPr/>
        </p:nvSpPr>
        <p:spPr>
          <a:xfrm>
            <a:off x="6172200" y="4089288"/>
            <a:ext cx="5206959" cy="990570"/>
          </a:xfrm>
          <a:prstGeom prst="roundRect">
            <a:avLst>
              <a:gd name="adj" fmla="val 11539"/>
            </a:avLst>
          </a:prstGeom>
          <a:solidFill>
            <a:srgbClr val="FFFDF8"/>
          </a:solidFill>
          <a:ln w="12700">
            <a:solidFill>
              <a:srgbClr val="E3DFD2"/>
            </a:solidFill>
            <a:prstDash val="solid"/>
          </a:ln>
        </p:spPr>
      </p:sp>
      <p:sp>
        <p:nvSpPr>
          <p:cNvPr id="27" name="Shape 25"/>
          <p:cNvSpPr/>
          <p:nvPr/>
        </p:nvSpPr>
        <p:spPr>
          <a:xfrm>
            <a:off x="6362670" y="4381439"/>
            <a:ext cx="406359" cy="406359"/>
          </a:xfrm>
          <a:prstGeom prst="ellipse">
            <a:avLst/>
          </a:prstGeom>
          <a:solidFill>
            <a:srgbClr val="14302A"/>
          </a:solidFill>
          <a:ln/>
        </p:spPr>
      </p:sp>
      <p:sp>
        <p:nvSpPr>
          <p:cNvPr id="28" name="Text 26"/>
          <p:cNvSpPr txBox="1"/>
          <p:nvPr/>
        </p:nvSpPr>
        <p:spPr>
          <a:xfrm>
            <a:off x="6339627" y="4381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6</a:t>
            </a:r>
            <a:endParaRPr lang="en-US" sz="1200" dirty="0"/>
          </a:p>
        </p:txBody>
      </p:sp>
      <p:sp>
        <p:nvSpPr>
          <p:cNvPr id="29" name="Text 27"/>
          <p:cNvSpPr txBox="1"/>
          <p:nvPr/>
        </p:nvSpPr>
        <p:spPr>
          <a:xfrm>
            <a:off x="6921459" y="4241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I'm probably more organised than you, ______?</a:t>
            </a:r>
            <a:endParaRPr lang="en-US" sz="2000" dirty="0"/>
          </a:p>
        </p:txBody>
      </p:sp>
      <p:sp>
        <p:nvSpPr>
          <p:cNvPr id="30" name="Text 28"/>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1" name="Text 29"/>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1 · TAG TENNIS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Round 1: answers</a:t>
            </a:r>
            <a:endParaRPr lang="en-US" sz="3200" dirty="0"/>
          </a:p>
        </p:txBody>
      </p:sp>
      <p:sp>
        <p:nvSpPr>
          <p:cNvPr id="4" name="Shape 2"/>
          <p:cNvSpPr/>
          <p:nvPr/>
        </p:nvSpPr>
        <p:spPr>
          <a:xfrm>
            <a:off x="812810" y="1803288"/>
            <a:ext cx="10566441" cy="508041"/>
          </a:xfrm>
          <a:prstGeom prst="roundRect">
            <a:avLst>
              <a:gd name="adj" fmla="val 19996"/>
            </a:avLst>
          </a:prstGeom>
          <a:solidFill>
            <a:srgbClr val="FFFDF8"/>
          </a:solidFill>
          <a:ln w="12700">
            <a:solidFill>
              <a:srgbClr val="E3DFD2"/>
            </a:solidFill>
            <a:prstDash val="solid"/>
          </a:ln>
        </p:spPr>
      </p:sp>
      <p:sp>
        <p:nvSpPr>
          <p:cNvPr id="5" name="Shape 3"/>
          <p:cNvSpPr/>
          <p:nvPr/>
        </p:nvSpPr>
        <p:spPr>
          <a:xfrm>
            <a:off x="1003280" y="1904878"/>
            <a:ext cx="304770" cy="304770"/>
          </a:xfrm>
          <a:prstGeom prst="ellipse">
            <a:avLst/>
          </a:prstGeom>
          <a:solidFill>
            <a:srgbClr val="2E7D57"/>
          </a:solidFill>
          <a:ln/>
        </p:spPr>
      </p:sp>
      <p:sp>
        <p:nvSpPr>
          <p:cNvPr id="6" name="Text 4"/>
          <p:cNvSpPr txBox="1"/>
          <p:nvPr/>
        </p:nvSpPr>
        <p:spPr>
          <a:xfrm>
            <a:off x="981243" y="19048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460480" y="189472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The flat's great,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isn't it?</a:t>
            </a:r>
            <a:endParaRPr lang="en-US" sz="1600" dirty="0"/>
          </a:p>
        </p:txBody>
      </p:sp>
      <p:sp>
        <p:nvSpPr>
          <p:cNvPr id="8" name="Text 6"/>
          <p:cNvSpPr txBox="1"/>
          <p:nvPr/>
        </p:nvSpPr>
        <p:spPr>
          <a:xfrm>
            <a:off x="8140720" y="193541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's = is → isn't</a:t>
            </a:r>
            <a:endParaRPr lang="en-US" sz="1200" dirty="0"/>
          </a:p>
        </p:txBody>
      </p:sp>
      <p:sp>
        <p:nvSpPr>
          <p:cNvPr id="9" name="Shape 7"/>
          <p:cNvSpPr/>
          <p:nvPr/>
        </p:nvSpPr>
        <p:spPr>
          <a:xfrm>
            <a:off x="812810" y="2412919"/>
            <a:ext cx="10566441" cy="508041"/>
          </a:xfrm>
          <a:prstGeom prst="roundRect">
            <a:avLst>
              <a:gd name="adj" fmla="val 19996"/>
            </a:avLst>
          </a:prstGeom>
          <a:solidFill>
            <a:srgbClr val="FFFDF8"/>
          </a:solidFill>
          <a:ln w="12700">
            <a:solidFill>
              <a:srgbClr val="E3DFD2"/>
            </a:solidFill>
            <a:prstDash val="solid"/>
          </a:ln>
        </p:spPr>
      </p:sp>
      <p:sp>
        <p:nvSpPr>
          <p:cNvPr id="10" name="Shape 8"/>
          <p:cNvSpPr/>
          <p:nvPr/>
        </p:nvSpPr>
        <p:spPr>
          <a:xfrm>
            <a:off x="1003280" y="2514509"/>
            <a:ext cx="304770" cy="304770"/>
          </a:xfrm>
          <a:prstGeom prst="ellipse">
            <a:avLst/>
          </a:prstGeom>
          <a:solidFill>
            <a:srgbClr val="2E7D57"/>
          </a:solidFill>
          <a:ln/>
        </p:spPr>
      </p:sp>
      <p:sp>
        <p:nvSpPr>
          <p:cNvPr id="11" name="Text 9"/>
          <p:cNvSpPr txBox="1"/>
          <p:nvPr/>
        </p:nvSpPr>
        <p:spPr>
          <a:xfrm>
            <a:off x="981243" y="25145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460480" y="2504267"/>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don't really like cleaning,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 you?</a:t>
            </a:r>
            <a:endParaRPr lang="en-US" sz="1600" dirty="0"/>
          </a:p>
        </p:txBody>
      </p:sp>
      <p:sp>
        <p:nvSpPr>
          <p:cNvPr id="13" name="Text 11"/>
          <p:cNvSpPr txBox="1"/>
          <p:nvPr/>
        </p:nvSpPr>
        <p:spPr>
          <a:xfrm>
            <a:off x="8140720" y="2544958"/>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negative sentence → positive tag</a:t>
            </a:r>
            <a:endParaRPr lang="en-US" sz="1200" dirty="0"/>
          </a:p>
        </p:txBody>
      </p:sp>
      <p:sp>
        <p:nvSpPr>
          <p:cNvPr id="14" name="Shape 12"/>
          <p:cNvSpPr/>
          <p:nvPr/>
        </p:nvSpPr>
        <p:spPr>
          <a:xfrm>
            <a:off x="812810" y="3022458"/>
            <a:ext cx="10566441" cy="508041"/>
          </a:xfrm>
          <a:prstGeom prst="roundRect">
            <a:avLst>
              <a:gd name="adj" fmla="val 19996"/>
            </a:avLst>
          </a:prstGeom>
          <a:solidFill>
            <a:srgbClr val="FFFDF8"/>
          </a:solidFill>
          <a:ln w="12700">
            <a:solidFill>
              <a:srgbClr val="E3DFD2"/>
            </a:solidFill>
            <a:prstDash val="solid"/>
          </a:ln>
        </p:spPr>
      </p:sp>
      <p:sp>
        <p:nvSpPr>
          <p:cNvPr id="15" name="Shape 13"/>
          <p:cNvSpPr/>
          <p:nvPr/>
        </p:nvSpPr>
        <p:spPr>
          <a:xfrm>
            <a:off x="1003280" y="3124139"/>
            <a:ext cx="304770" cy="304770"/>
          </a:xfrm>
          <a:prstGeom prst="ellipse">
            <a:avLst/>
          </a:prstGeom>
          <a:solidFill>
            <a:srgbClr val="2E7D57"/>
          </a:solidFill>
          <a:ln/>
        </p:spPr>
      </p:sp>
      <p:sp>
        <p:nvSpPr>
          <p:cNvPr id="16" name="Text 14"/>
          <p:cNvSpPr txBox="1"/>
          <p:nvPr/>
        </p:nvSpPr>
        <p:spPr>
          <a:xfrm>
            <a:off x="981243" y="312413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460480" y="311389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leave a lot of clothes on the floor,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don't you?</a:t>
            </a:r>
            <a:endParaRPr lang="en-US" sz="1600" dirty="0"/>
          </a:p>
        </p:txBody>
      </p:sp>
      <p:sp>
        <p:nvSpPr>
          <p:cNvPr id="18" name="Text 16"/>
          <p:cNvSpPr txBox="1"/>
          <p:nvPr/>
        </p:nvSpPr>
        <p:spPr>
          <a:xfrm>
            <a:off x="8140720" y="315458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present simple → do / don't</a:t>
            </a:r>
            <a:endParaRPr lang="en-US" sz="1200" dirty="0"/>
          </a:p>
        </p:txBody>
      </p:sp>
      <p:sp>
        <p:nvSpPr>
          <p:cNvPr id="19" name="Shape 17"/>
          <p:cNvSpPr/>
          <p:nvPr/>
        </p:nvSpPr>
        <p:spPr>
          <a:xfrm>
            <a:off x="812810" y="3632088"/>
            <a:ext cx="10566441" cy="508041"/>
          </a:xfrm>
          <a:prstGeom prst="roundRect">
            <a:avLst>
              <a:gd name="adj" fmla="val 19996"/>
            </a:avLst>
          </a:prstGeom>
          <a:solidFill>
            <a:srgbClr val="FFFDF8"/>
          </a:solidFill>
          <a:ln w="12700">
            <a:solidFill>
              <a:srgbClr val="E3DFD2"/>
            </a:solidFill>
            <a:prstDash val="solid"/>
          </a:ln>
        </p:spPr>
      </p:sp>
      <p:sp>
        <p:nvSpPr>
          <p:cNvPr id="20" name="Shape 18"/>
          <p:cNvSpPr/>
          <p:nvPr/>
        </p:nvSpPr>
        <p:spPr>
          <a:xfrm>
            <a:off x="1003280" y="3733678"/>
            <a:ext cx="304770" cy="304770"/>
          </a:xfrm>
          <a:prstGeom prst="ellipse">
            <a:avLst/>
          </a:prstGeom>
          <a:solidFill>
            <a:srgbClr val="2E7D57"/>
          </a:solidFill>
          <a:ln/>
        </p:spPr>
      </p:sp>
      <p:sp>
        <p:nvSpPr>
          <p:cNvPr id="21" name="Text 19"/>
          <p:cNvSpPr txBox="1"/>
          <p:nvPr/>
        </p:nvSpPr>
        <p:spPr>
          <a:xfrm>
            <a:off x="981243" y="37336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1460480" y="372352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The cooker can get quite dirty,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can't it?</a:t>
            </a:r>
            <a:endParaRPr lang="en-US" sz="1600" dirty="0"/>
          </a:p>
        </p:txBody>
      </p:sp>
      <p:sp>
        <p:nvSpPr>
          <p:cNvPr id="23" name="Text 21"/>
          <p:cNvSpPr txBox="1"/>
          <p:nvPr/>
        </p:nvSpPr>
        <p:spPr>
          <a:xfrm>
            <a:off x="8140720" y="376421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can → can't</a:t>
            </a:r>
            <a:endParaRPr lang="en-US" sz="1200" dirty="0"/>
          </a:p>
        </p:txBody>
      </p:sp>
      <p:sp>
        <p:nvSpPr>
          <p:cNvPr id="24" name="Shape 22"/>
          <p:cNvSpPr/>
          <p:nvPr/>
        </p:nvSpPr>
        <p:spPr>
          <a:xfrm>
            <a:off x="812810" y="4241719"/>
            <a:ext cx="10566441" cy="508041"/>
          </a:xfrm>
          <a:prstGeom prst="roundRect">
            <a:avLst>
              <a:gd name="adj" fmla="val 19996"/>
            </a:avLst>
          </a:prstGeom>
          <a:solidFill>
            <a:srgbClr val="FFFDF8"/>
          </a:solidFill>
          <a:ln w="12700">
            <a:solidFill>
              <a:srgbClr val="E3DFD2"/>
            </a:solidFill>
            <a:prstDash val="solid"/>
          </a:ln>
        </p:spPr>
      </p:sp>
      <p:sp>
        <p:nvSpPr>
          <p:cNvPr id="25" name="Shape 23"/>
          <p:cNvSpPr/>
          <p:nvPr/>
        </p:nvSpPr>
        <p:spPr>
          <a:xfrm>
            <a:off x="1003280" y="4343309"/>
            <a:ext cx="304770" cy="304770"/>
          </a:xfrm>
          <a:prstGeom prst="ellipse">
            <a:avLst/>
          </a:prstGeom>
          <a:solidFill>
            <a:srgbClr val="2E7D57"/>
          </a:solidFill>
          <a:ln/>
        </p:spPr>
      </p:sp>
      <p:sp>
        <p:nvSpPr>
          <p:cNvPr id="26" name="Text 24"/>
          <p:cNvSpPr txBox="1"/>
          <p:nvPr/>
        </p:nvSpPr>
        <p:spPr>
          <a:xfrm>
            <a:off x="981243" y="43433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1460480" y="4333067"/>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 need to talk about who cleans the bathroom,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don't we?</a:t>
            </a:r>
            <a:endParaRPr lang="en-US" sz="1600" dirty="0"/>
          </a:p>
        </p:txBody>
      </p:sp>
      <p:sp>
        <p:nvSpPr>
          <p:cNvPr id="28" name="Text 26"/>
          <p:cNvSpPr txBox="1"/>
          <p:nvPr/>
        </p:nvSpPr>
        <p:spPr>
          <a:xfrm>
            <a:off x="8140720" y="4373758"/>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need is the main verb → don't</a:t>
            </a:r>
            <a:endParaRPr lang="en-US" sz="1200" dirty="0"/>
          </a:p>
        </p:txBody>
      </p:sp>
      <p:sp>
        <p:nvSpPr>
          <p:cNvPr id="29" name="Shape 27"/>
          <p:cNvSpPr/>
          <p:nvPr/>
        </p:nvSpPr>
        <p:spPr>
          <a:xfrm>
            <a:off x="812810" y="4851258"/>
            <a:ext cx="10566441" cy="508041"/>
          </a:xfrm>
          <a:prstGeom prst="roundRect">
            <a:avLst>
              <a:gd name="adj" fmla="val 19996"/>
            </a:avLst>
          </a:prstGeom>
          <a:solidFill>
            <a:srgbClr val="FFFDF8"/>
          </a:solidFill>
          <a:ln w="12700">
            <a:solidFill>
              <a:srgbClr val="E3DFD2"/>
            </a:solidFill>
            <a:prstDash val="solid"/>
          </a:ln>
        </p:spPr>
      </p:sp>
      <p:sp>
        <p:nvSpPr>
          <p:cNvPr id="30" name="Shape 28"/>
          <p:cNvSpPr/>
          <p:nvPr/>
        </p:nvSpPr>
        <p:spPr>
          <a:xfrm>
            <a:off x="1003280" y="4952939"/>
            <a:ext cx="304770" cy="304770"/>
          </a:xfrm>
          <a:prstGeom prst="ellipse">
            <a:avLst/>
          </a:prstGeom>
          <a:solidFill>
            <a:srgbClr val="2E7D57"/>
          </a:solidFill>
          <a:ln/>
        </p:spPr>
      </p:sp>
      <p:sp>
        <p:nvSpPr>
          <p:cNvPr id="31" name="Text 29"/>
          <p:cNvSpPr txBox="1"/>
          <p:nvPr/>
        </p:nvSpPr>
        <p:spPr>
          <a:xfrm>
            <a:off x="981243" y="495293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6</a:t>
            </a:r>
            <a:endParaRPr lang="en-US" sz="1200" dirty="0"/>
          </a:p>
        </p:txBody>
      </p:sp>
      <p:sp>
        <p:nvSpPr>
          <p:cNvPr id="32" name="Text 30"/>
          <p:cNvSpPr txBox="1"/>
          <p:nvPr/>
        </p:nvSpPr>
        <p:spPr>
          <a:xfrm>
            <a:off x="1460480" y="494269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I'm probably more organised than you,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aren't I?</a:t>
            </a:r>
            <a:endParaRPr lang="en-US" sz="1600" dirty="0"/>
          </a:p>
        </p:txBody>
      </p:sp>
      <p:sp>
        <p:nvSpPr>
          <p:cNvPr id="33" name="Text 31"/>
          <p:cNvSpPr txBox="1"/>
          <p:nvPr/>
        </p:nvSpPr>
        <p:spPr>
          <a:xfrm>
            <a:off x="8140720" y="498338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special: I'm → aren't I</a:t>
            </a:r>
            <a:endParaRPr lang="en-US" sz="1200" dirty="0"/>
          </a:p>
        </p:txBody>
      </p:sp>
      <p:sp>
        <p:nvSpPr>
          <p:cNvPr id="34" name="Text 32"/>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5" name="Text 33"/>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4022903"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1 · TAG TENNIS</a:t>
            </a:r>
            <a:endParaRPr lang="en-US" sz="1200" dirty="0"/>
          </a:p>
        </p:txBody>
      </p:sp>
      <p:sp>
        <p:nvSpPr>
          <p:cNvPr id="3" name="Text 1"/>
          <p:cNvSpPr txBox="1"/>
          <p:nvPr/>
        </p:nvSpPr>
        <p:spPr>
          <a:xfrm>
            <a:off x="812810" y="1102309"/>
            <a:ext cx="4022903"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Round 2: tricky tags</a:t>
            </a:r>
            <a:endParaRPr lang="en-US" sz="3200" dirty="0"/>
          </a:p>
        </p:txBody>
      </p:sp>
      <p:sp>
        <p:nvSpPr>
          <p:cNvPr id="4" name="Shape 2"/>
          <p:cNvSpPr/>
          <p:nvPr/>
        </p:nvSpPr>
        <p:spPr>
          <a:xfrm>
            <a:off x="9435511" y="1209020"/>
            <a:ext cx="1943740" cy="340340"/>
          </a:xfrm>
          <a:prstGeom prst="roundRect">
            <a:avLst>
              <a:gd name="adj" fmla="val 50000"/>
            </a:avLst>
          </a:prstGeom>
          <a:solidFill>
            <a:srgbClr val="14302A"/>
          </a:solidFill>
          <a:ln/>
        </p:spPr>
      </p:sp>
      <p:sp>
        <p:nvSpPr>
          <p:cNvPr id="5" name="Text 3"/>
          <p:cNvSpPr txBox="1"/>
          <p:nvPr/>
        </p:nvSpPr>
        <p:spPr>
          <a:xfrm>
            <a:off x="9587941" y="1257209"/>
            <a:ext cx="1709745"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10 seconds · +2 points</a:t>
            </a:r>
            <a:endParaRPr lang="en-US" sz="1200" dirty="0"/>
          </a:p>
        </p:txBody>
      </p:sp>
      <p:sp>
        <p:nvSpPr>
          <p:cNvPr id="6" name="Shape 4"/>
          <p:cNvSpPr/>
          <p:nvPr/>
        </p:nvSpPr>
        <p:spPr>
          <a:xfrm>
            <a:off x="812810" y="1803288"/>
            <a:ext cx="5206959" cy="736641"/>
          </a:xfrm>
          <a:prstGeom prst="roundRect">
            <a:avLst>
              <a:gd name="adj" fmla="val 15516"/>
            </a:avLst>
          </a:prstGeom>
          <a:solidFill>
            <a:srgbClr val="FFFDF8"/>
          </a:solidFill>
          <a:ln w="12700">
            <a:solidFill>
              <a:srgbClr val="E3DFD2"/>
            </a:solidFill>
            <a:prstDash val="solid"/>
          </a:ln>
        </p:spPr>
      </p:sp>
      <p:sp>
        <p:nvSpPr>
          <p:cNvPr id="7" name="Shape 5"/>
          <p:cNvSpPr/>
          <p:nvPr/>
        </p:nvSpPr>
        <p:spPr>
          <a:xfrm>
            <a:off x="1003280" y="1968429"/>
            <a:ext cx="406359" cy="406359"/>
          </a:xfrm>
          <a:prstGeom prst="ellipse">
            <a:avLst/>
          </a:prstGeom>
          <a:solidFill>
            <a:srgbClr val="14302A"/>
          </a:solidFill>
          <a:ln/>
        </p:spPr>
      </p:sp>
      <p:sp>
        <p:nvSpPr>
          <p:cNvPr id="8" name="Text 6"/>
          <p:cNvSpPr txBox="1"/>
          <p:nvPr/>
        </p:nvSpPr>
        <p:spPr>
          <a:xfrm>
            <a:off x="980145" y="196842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7</a:t>
            </a:r>
            <a:endParaRPr lang="en-US" sz="1200" dirty="0"/>
          </a:p>
        </p:txBody>
      </p:sp>
      <p:sp>
        <p:nvSpPr>
          <p:cNvPr id="9" name="Text 7"/>
          <p:cNvSpPr txBox="1"/>
          <p:nvPr/>
        </p:nvSpPr>
        <p:spPr>
          <a:xfrm>
            <a:off x="1562070" y="199375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You've paid the rent, ______?</a:t>
            </a:r>
            <a:endParaRPr lang="en-US" sz="2000" dirty="0"/>
          </a:p>
        </p:txBody>
      </p:sp>
      <p:sp>
        <p:nvSpPr>
          <p:cNvPr id="10" name="Shape 8"/>
          <p:cNvSpPr/>
          <p:nvPr/>
        </p:nvSpPr>
        <p:spPr>
          <a:xfrm>
            <a:off x="6172200" y="1803288"/>
            <a:ext cx="5206959" cy="736641"/>
          </a:xfrm>
          <a:prstGeom prst="roundRect">
            <a:avLst>
              <a:gd name="adj" fmla="val 15516"/>
            </a:avLst>
          </a:prstGeom>
          <a:solidFill>
            <a:srgbClr val="FFFDF8"/>
          </a:solidFill>
          <a:ln w="12700">
            <a:solidFill>
              <a:srgbClr val="E3DFD2"/>
            </a:solidFill>
            <a:prstDash val="solid"/>
          </a:ln>
        </p:spPr>
      </p:sp>
      <p:sp>
        <p:nvSpPr>
          <p:cNvPr id="11" name="Shape 9"/>
          <p:cNvSpPr/>
          <p:nvPr/>
        </p:nvSpPr>
        <p:spPr>
          <a:xfrm>
            <a:off x="6362670" y="1968429"/>
            <a:ext cx="406359" cy="406359"/>
          </a:xfrm>
          <a:prstGeom prst="ellipse">
            <a:avLst/>
          </a:prstGeom>
          <a:solidFill>
            <a:srgbClr val="14302A"/>
          </a:solidFill>
          <a:ln/>
        </p:spPr>
      </p:sp>
      <p:sp>
        <p:nvSpPr>
          <p:cNvPr id="12" name="Text 10"/>
          <p:cNvSpPr txBox="1"/>
          <p:nvPr/>
        </p:nvSpPr>
        <p:spPr>
          <a:xfrm>
            <a:off x="6339627" y="196842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8</a:t>
            </a:r>
            <a:endParaRPr lang="en-US" sz="1200" dirty="0"/>
          </a:p>
        </p:txBody>
      </p:sp>
      <p:sp>
        <p:nvSpPr>
          <p:cNvPr id="13" name="Text 11"/>
          <p:cNvSpPr txBox="1"/>
          <p:nvPr/>
        </p:nvSpPr>
        <p:spPr>
          <a:xfrm>
            <a:off x="6921459" y="199375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She can't cook, ______?</a:t>
            </a:r>
            <a:endParaRPr lang="en-US" sz="2000" dirty="0"/>
          </a:p>
        </p:txBody>
      </p:sp>
      <p:sp>
        <p:nvSpPr>
          <p:cNvPr id="14" name="Shape 12"/>
          <p:cNvSpPr/>
          <p:nvPr/>
        </p:nvSpPr>
        <p:spPr>
          <a:xfrm>
            <a:off x="812810" y="2692268"/>
            <a:ext cx="5206959" cy="736641"/>
          </a:xfrm>
          <a:prstGeom prst="roundRect">
            <a:avLst>
              <a:gd name="adj" fmla="val 15516"/>
            </a:avLst>
          </a:prstGeom>
          <a:solidFill>
            <a:srgbClr val="FFFDF8"/>
          </a:solidFill>
          <a:ln w="12700">
            <a:solidFill>
              <a:srgbClr val="E3DFD2"/>
            </a:solidFill>
            <a:prstDash val="solid"/>
          </a:ln>
        </p:spPr>
      </p:sp>
      <p:sp>
        <p:nvSpPr>
          <p:cNvPr id="15" name="Shape 13"/>
          <p:cNvSpPr/>
          <p:nvPr/>
        </p:nvSpPr>
        <p:spPr>
          <a:xfrm>
            <a:off x="1003280" y="2857409"/>
            <a:ext cx="406359" cy="406359"/>
          </a:xfrm>
          <a:prstGeom prst="ellipse">
            <a:avLst/>
          </a:prstGeom>
          <a:solidFill>
            <a:srgbClr val="14302A"/>
          </a:solidFill>
          <a:ln/>
        </p:spPr>
      </p:sp>
      <p:sp>
        <p:nvSpPr>
          <p:cNvPr id="16" name="Text 14"/>
          <p:cNvSpPr txBox="1"/>
          <p:nvPr/>
        </p:nvSpPr>
        <p:spPr>
          <a:xfrm>
            <a:off x="980145" y="285740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9</a:t>
            </a:r>
            <a:endParaRPr lang="en-US" sz="1200" dirty="0"/>
          </a:p>
        </p:txBody>
      </p:sp>
      <p:sp>
        <p:nvSpPr>
          <p:cNvPr id="17" name="Text 15"/>
          <p:cNvSpPr txBox="1"/>
          <p:nvPr/>
        </p:nvSpPr>
        <p:spPr>
          <a:xfrm>
            <a:off x="1562070" y="2882829"/>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Nobody washed the dishes, ______?</a:t>
            </a:r>
            <a:endParaRPr lang="en-US" sz="2000" dirty="0"/>
          </a:p>
        </p:txBody>
      </p:sp>
      <p:sp>
        <p:nvSpPr>
          <p:cNvPr id="18" name="Shape 16"/>
          <p:cNvSpPr/>
          <p:nvPr/>
        </p:nvSpPr>
        <p:spPr>
          <a:xfrm>
            <a:off x="6172200" y="2692268"/>
            <a:ext cx="5206959" cy="736641"/>
          </a:xfrm>
          <a:prstGeom prst="roundRect">
            <a:avLst>
              <a:gd name="adj" fmla="val 15516"/>
            </a:avLst>
          </a:prstGeom>
          <a:solidFill>
            <a:srgbClr val="FFFDF8"/>
          </a:solidFill>
          <a:ln w="12700">
            <a:solidFill>
              <a:srgbClr val="E3DFD2"/>
            </a:solidFill>
            <a:prstDash val="solid"/>
          </a:ln>
        </p:spPr>
      </p:sp>
      <p:sp>
        <p:nvSpPr>
          <p:cNvPr id="19" name="Shape 17"/>
          <p:cNvSpPr/>
          <p:nvPr/>
        </p:nvSpPr>
        <p:spPr>
          <a:xfrm>
            <a:off x="6362670" y="2857409"/>
            <a:ext cx="406359" cy="406359"/>
          </a:xfrm>
          <a:prstGeom prst="ellipse">
            <a:avLst/>
          </a:prstGeom>
          <a:solidFill>
            <a:srgbClr val="14302A"/>
          </a:solidFill>
          <a:ln/>
        </p:spPr>
      </p:sp>
      <p:sp>
        <p:nvSpPr>
          <p:cNvPr id="20" name="Text 18"/>
          <p:cNvSpPr txBox="1"/>
          <p:nvPr/>
        </p:nvSpPr>
        <p:spPr>
          <a:xfrm>
            <a:off x="6339627" y="285740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10</a:t>
            </a:r>
            <a:endParaRPr lang="en-US" sz="1200" dirty="0"/>
          </a:p>
        </p:txBody>
      </p:sp>
      <p:sp>
        <p:nvSpPr>
          <p:cNvPr id="21" name="Text 19"/>
          <p:cNvSpPr txBox="1"/>
          <p:nvPr/>
        </p:nvSpPr>
        <p:spPr>
          <a:xfrm>
            <a:off x="6921459" y="2882829"/>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Let's make a cleaning rota, ______?</a:t>
            </a:r>
            <a:endParaRPr lang="en-US" sz="2000" dirty="0"/>
          </a:p>
        </p:txBody>
      </p:sp>
      <p:sp>
        <p:nvSpPr>
          <p:cNvPr id="22" name="Shape 20"/>
          <p:cNvSpPr/>
          <p:nvPr/>
        </p:nvSpPr>
        <p:spPr>
          <a:xfrm>
            <a:off x="812810" y="3581339"/>
            <a:ext cx="5206959" cy="736641"/>
          </a:xfrm>
          <a:prstGeom prst="roundRect">
            <a:avLst>
              <a:gd name="adj" fmla="val 15516"/>
            </a:avLst>
          </a:prstGeom>
          <a:solidFill>
            <a:srgbClr val="FFFDF8"/>
          </a:solidFill>
          <a:ln w="12700">
            <a:solidFill>
              <a:srgbClr val="E3DFD2"/>
            </a:solidFill>
            <a:prstDash val="solid"/>
          </a:ln>
        </p:spPr>
      </p:sp>
      <p:sp>
        <p:nvSpPr>
          <p:cNvPr id="23" name="Shape 21"/>
          <p:cNvSpPr/>
          <p:nvPr/>
        </p:nvSpPr>
        <p:spPr>
          <a:xfrm>
            <a:off x="1003280" y="3746388"/>
            <a:ext cx="406359" cy="406359"/>
          </a:xfrm>
          <a:prstGeom prst="ellipse">
            <a:avLst/>
          </a:prstGeom>
          <a:solidFill>
            <a:srgbClr val="14302A"/>
          </a:solidFill>
          <a:ln/>
        </p:spPr>
      </p:sp>
      <p:sp>
        <p:nvSpPr>
          <p:cNvPr id="24" name="Text 22"/>
          <p:cNvSpPr txBox="1"/>
          <p:nvPr/>
        </p:nvSpPr>
        <p:spPr>
          <a:xfrm>
            <a:off x="980145" y="3746388"/>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11</a:t>
            </a:r>
            <a:endParaRPr lang="en-US" sz="1200" dirty="0"/>
          </a:p>
        </p:txBody>
      </p:sp>
      <p:sp>
        <p:nvSpPr>
          <p:cNvPr id="25" name="Text 23"/>
          <p:cNvSpPr txBox="1"/>
          <p:nvPr/>
        </p:nvSpPr>
        <p:spPr>
          <a:xfrm>
            <a:off x="1562070" y="3771809"/>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There isn't any milk left, ______?</a:t>
            </a:r>
            <a:endParaRPr lang="en-US" sz="2000" dirty="0"/>
          </a:p>
        </p:txBody>
      </p:sp>
      <p:sp>
        <p:nvSpPr>
          <p:cNvPr id="26" name="Shape 24"/>
          <p:cNvSpPr/>
          <p:nvPr/>
        </p:nvSpPr>
        <p:spPr>
          <a:xfrm>
            <a:off x="6172200" y="3581339"/>
            <a:ext cx="5206959" cy="736641"/>
          </a:xfrm>
          <a:prstGeom prst="roundRect">
            <a:avLst>
              <a:gd name="adj" fmla="val 15516"/>
            </a:avLst>
          </a:prstGeom>
          <a:solidFill>
            <a:srgbClr val="FFFDF8"/>
          </a:solidFill>
          <a:ln w="12700">
            <a:solidFill>
              <a:srgbClr val="E3DFD2"/>
            </a:solidFill>
            <a:prstDash val="solid"/>
          </a:ln>
        </p:spPr>
      </p:sp>
      <p:sp>
        <p:nvSpPr>
          <p:cNvPr id="27" name="Shape 25"/>
          <p:cNvSpPr/>
          <p:nvPr/>
        </p:nvSpPr>
        <p:spPr>
          <a:xfrm>
            <a:off x="6362670" y="3746388"/>
            <a:ext cx="406359" cy="406359"/>
          </a:xfrm>
          <a:prstGeom prst="ellipse">
            <a:avLst/>
          </a:prstGeom>
          <a:solidFill>
            <a:srgbClr val="14302A"/>
          </a:solidFill>
          <a:ln/>
        </p:spPr>
      </p:sp>
      <p:sp>
        <p:nvSpPr>
          <p:cNvPr id="28" name="Text 26"/>
          <p:cNvSpPr txBox="1"/>
          <p:nvPr/>
        </p:nvSpPr>
        <p:spPr>
          <a:xfrm>
            <a:off x="6339627" y="3746388"/>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12</a:t>
            </a:r>
            <a:endParaRPr lang="en-US" sz="1200" dirty="0"/>
          </a:p>
        </p:txBody>
      </p:sp>
      <p:sp>
        <p:nvSpPr>
          <p:cNvPr id="29" name="Text 27"/>
          <p:cNvSpPr txBox="1"/>
          <p:nvPr/>
        </p:nvSpPr>
        <p:spPr>
          <a:xfrm>
            <a:off x="6921459" y="3771809"/>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Turn the music down, ______?</a:t>
            </a:r>
            <a:endParaRPr lang="en-US" sz="2000" dirty="0"/>
          </a:p>
        </p:txBody>
      </p:sp>
      <p:sp>
        <p:nvSpPr>
          <p:cNvPr id="30" name="Text 28"/>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1" name="Text 29"/>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1 · TAG TENNIS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Round 2: answers</a:t>
            </a:r>
            <a:endParaRPr lang="en-US" sz="3200" dirty="0"/>
          </a:p>
        </p:txBody>
      </p:sp>
      <p:sp>
        <p:nvSpPr>
          <p:cNvPr id="4" name="Shape 2"/>
          <p:cNvSpPr/>
          <p:nvPr/>
        </p:nvSpPr>
        <p:spPr>
          <a:xfrm>
            <a:off x="812810" y="1803288"/>
            <a:ext cx="10566441" cy="508041"/>
          </a:xfrm>
          <a:prstGeom prst="roundRect">
            <a:avLst>
              <a:gd name="adj" fmla="val 19996"/>
            </a:avLst>
          </a:prstGeom>
          <a:solidFill>
            <a:srgbClr val="FFFDF8"/>
          </a:solidFill>
          <a:ln w="12700">
            <a:solidFill>
              <a:srgbClr val="E3DFD2"/>
            </a:solidFill>
            <a:prstDash val="solid"/>
          </a:ln>
        </p:spPr>
      </p:sp>
      <p:sp>
        <p:nvSpPr>
          <p:cNvPr id="5" name="Shape 3"/>
          <p:cNvSpPr/>
          <p:nvPr/>
        </p:nvSpPr>
        <p:spPr>
          <a:xfrm>
            <a:off x="1003280" y="1904878"/>
            <a:ext cx="304770" cy="304770"/>
          </a:xfrm>
          <a:prstGeom prst="ellipse">
            <a:avLst/>
          </a:prstGeom>
          <a:solidFill>
            <a:srgbClr val="2E7D57"/>
          </a:solidFill>
          <a:ln/>
        </p:spPr>
      </p:sp>
      <p:sp>
        <p:nvSpPr>
          <p:cNvPr id="6" name="Text 4"/>
          <p:cNvSpPr txBox="1"/>
          <p:nvPr/>
        </p:nvSpPr>
        <p:spPr>
          <a:xfrm>
            <a:off x="981243" y="19048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7</a:t>
            </a:r>
            <a:endParaRPr lang="en-US" sz="1200" dirty="0"/>
          </a:p>
        </p:txBody>
      </p:sp>
      <p:sp>
        <p:nvSpPr>
          <p:cNvPr id="7" name="Text 5"/>
          <p:cNvSpPr txBox="1"/>
          <p:nvPr/>
        </p:nvSpPr>
        <p:spPr>
          <a:xfrm>
            <a:off x="1460480" y="189472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You've paid the rent,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haven't you?</a:t>
            </a:r>
            <a:endParaRPr lang="en-US" sz="1600" dirty="0"/>
          </a:p>
        </p:txBody>
      </p:sp>
      <p:sp>
        <p:nvSpPr>
          <p:cNvPr id="8" name="Text 6"/>
          <p:cNvSpPr txBox="1"/>
          <p:nvPr/>
        </p:nvSpPr>
        <p:spPr>
          <a:xfrm>
            <a:off x="8140720" y="193541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have → haven't</a:t>
            </a:r>
            <a:endParaRPr lang="en-US" sz="1200" dirty="0"/>
          </a:p>
        </p:txBody>
      </p:sp>
      <p:sp>
        <p:nvSpPr>
          <p:cNvPr id="9" name="Shape 7"/>
          <p:cNvSpPr/>
          <p:nvPr/>
        </p:nvSpPr>
        <p:spPr>
          <a:xfrm>
            <a:off x="812810" y="2412919"/>
            <a:ext cx="10566441" cy="508041"/>
          </a:xfrm>
          <a:prstGeom prst="roundRect">
            <a:avLst>
              <a:gd name="adj" fmla="val 19996"/>
            </a:avLst>
          </a:prstGeom>
          <a:solidFill>
            <a:srgbClr val="FFFDF8"/>
          </a:solidFill>
          <a:ln w="12700">
            <a:solidFill>
              <a:srgbClr val="E3DFD2"/>
            </a:solidFill>
            <a:prstDash val="solid"/>
          </a:ln>
        </p:spPr>
      </p:sp>
      <p:sp>
        <p:nvSpPr>
          <p:cNvPr id="10" name="Shape 8"/>
          <p:cNvSpPr/>
          <p:nvPr/>
        </p:nvSpPr>
        <p:spPr>
          <a:xfrm>
            <a:off x="1003280" y="2514509"/>
            <a:ext cx="304770" cy="304770"/>
          </a:xfrm>
          <a:prstGeom prst="ellipse">
            <a:avLst/>
          </a:prstGeom>
          <a:solidFill>
            <a:srgbClr val="2E7D57"/>
          </a:solidFill>
          <a:ln/>
        </p:spPr>
      </p:sp>
      <p:sp>
        <p:nvSpPr>
          <p:cNvPr id="11" name="Text 9"/>
          <p:cNvSpPr txBox="1"/>
          <p:nvPr/>
        </p:nvSpPr>
        <p:spPr>
          <a:xfrm>
            <a:off x="981243" y="25145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8</a:t>
            </a:r>
            <a:endParaRPr lang="en-US" sz="1200" dirty="0"/>
          </a:p>
        </p:txBody>
      </p:sp>
      <p:sp>
        <p:nvSpPr>
          <p:cNvPr id="12" name="Text 10"/>
          <p:cNvSpPr txBox="1"/>
          <p:nvPr/>
        </p:nvSpPr>
        <p:spPr>
          <a:xfrm>
            <a:off x="1460480" y="2504267"/>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She can't cook,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can she?</a:t>
            </a:r>
            <a:endParaRPr lang="en-US" sz="1600" dirty="0"/>
          </a:p>
        </p:txBody>
      </p:sp>
      <p:sp>
        <p:nvSpPr>
          <p:cNvPr id="13" name="Text 11"/>
          <p:cNvSpPr txBox="1"/>
          <p:nvPr/>
        </p:nvSpPr>
        <p:spPr>
          <a:xfrm>
            <a:off x="8140720" y="2544958"/>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negative sentence → positive tag</a:t>
            </a:r>
            <a:endParaRPr lang="en-US" sz="1200" dirty="0"/>
          </a:p>
        </p:txBody>
      </p:sp>
      <p:sp>
        <p:nvSpPr>
          <p:cNvPr id="14" name="Shape 12"/>
          <p:cNvSpPr/>
          <p:nvPr/>
        </p:nvSpPr>
        <p:spPr>
          <a:xfrm>
            <a:off x="812810" y="3022458"/>
            <a:ext cx="10566441" cy="508041"/>
          </a:xfrm>
          <a:prstGeom prst="roundRect">
            <a:avLst>
              <a:gd name="adj" fmla="val 19996"/>
            </a:avLst>
          </a:prstGeom>
          <a:solidFill>
            <a:srgbClr val="FFFDF8"/>
          </a:solidFill>
          <a:ln w="12700">
            <a:solidFill>
              <a:srgbClr val="E3DFD2"/>
            </a:solidFill>
            <a:prstDash val="solid"/>
          </a:ln>
        </p:spPr>
      </p:sp>
      <p:sp>
        <p:nvSpPr>
          <p:cNvPr id="15" name="Shape 13"/>
          <p:cNvSpPr/>
          <p:nvPr/>
        </p:nvSpPr>
        <p:spPr>
          <a:xfrm>
            <a:off x="1003280" y="3124139"/>
            <a:ext cx="304770" cy="304770"/>
          </a:xfrm>
          <a:prstGeom prst="ellipse">
            <a:avLst/>
          </a:prstGeom>
          <a:solidFill>
            <a:srgbClr val="2E7D57"/>
          </a:solidFill>
          <a:ln/>
        </p:spPr>
      </p:sp>
      <p:sp>
        <p:nvSpPr>
          <p:cNvPr id="16" name="Text 14"/>
          <p:cNvSpPr txBox="1"/>
          <p:nvPr/>
        </p:nvSpPr>
        <p:spPr>
          <a:xfrm>
            <a:off x="981243" y="312413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9</a:t>
            </a:r>
            <a:endParaRPr lang="en-US" sz="1200" dirty="0"/>
          </a:p>
        </p:txBody>
      </p:sp>
      <p:sp>
        <p:nvSpPr>
          <p:cNvPr id="17" name="Text 15"/>
          <p:cNvSpPr txBox="1"/>
          <p:nvPr/>
        </p:nvSpPr>
        <p:spPr>
          <a:xfrm>
            <a:off x="1460480" y="311389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Nobody washed the dishes,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did they?</a:t>
            </a:r>
            <a:endParaRPr lang="en-US" sz="1600" dirty="0"/>
          </a:p>
        </p:txBody>
      </p:sp>
      <p:sp>
        <p:nvSpPr>
          <p:cNvPr id="18" name="Text 16"/>
          <p:cNvSpPr txBox="1"/>
          <p:nvPr/>
        </p:nvSpPr>
        <p:spPr>
          <a:xfrm>
            <a:off x="8140720" y="315458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nobody is negative; we use they</a:t>
            </a:r>
            <a:endParaRPr lang="en-US" sz="1200" dirty="0"/>
          </a:p>
        </p:txBody>
      </p:sp>
      <p:sp>
        <p:nvSpPr>
          <p:cNvPr id="19" name="Shape 17"/>
          <p:cNvSpPr/>
          <p:nvPr/>
        </p:nvSpPr>
        <p:spPr>
          <a:xfrm>
            <a:off x="812810" y="3632088"/>
            <a:ext cx="10566441" cy="508041"/>
          </a:xfrm>
          <a:prstGeom prst="roundRect">
            <a:avLst>
              <a:gd name="adj" fmla="val 19996"/>
            </a:avLst>
          </a:prstGeom>
          <a:solidFill>
            <a:srgbClr val="FFFDF8"/>
          </a:solidFill>
          <a:ln w="12700">
            <a:solidFill>
              <a:srgbClr val="E3DFD2"/>
            </a:solidFill>
            <a:prstDash val="solid"/>
          </a:ln>
        </p:spPr>
      </p:sp>
      <p:sp>
        <p:nvSpPr>
          <p:cNvPr id="20" name="Shape 18"/>
          <p:cNvSpPr/>
          <p:nvPr/>
        </p:nvSpPr>
        <p:spPr>
          <a:xfrm>
            <a:off x="1003280" y="3733678"/>
            <a:ext cx="304770" cy="304770"/>
          </a:xfrm>
          <a:prstGeom prst="ellipse">
            <a:avLst/>
          </a:prstGeom>
          <a:solidFill>
            <a:srgbClr val="2E7D57"/>
          </a:solidFill>
          <a:ln/>
        </p:spPr>
      </p:sp>
      <p:sp>
        <p:nvSpPr>
          <p:cNvPr id="21" name="Text 19"/>
          <p:cNvSpPr txBox="1"/>
          <p:nvPr/>
        </p:nvSpPr>
        <p:spPr>
          <a:xfrm>
            <a:off x="981243" y="37336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10</a:t>
            </a:r>
            <a:endParaRPr lang="en-US" sz="1200" dirty="0"/>
          </a:p>
        </p:txBody>
      </p:sp>
      <p:sp>
        <p:nvSpPr>
          <p:cNvPr id="22" name="Text 20"/>
          <p:cNvSpPr txBox="1"/>
          <p:nvPr/>
        </p:nvSpPr>
        <p:spPr>
          <a:xfrm>
            <a:off x="1460480" y="372352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Let's make a cleaning rota,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shall we?</a:t>
            </a:r>
            <a:endParaRPr lang="en-US" sz="1600" dirty="0"/>
          </a:p>
        </p:txBody>
      </p:sp>
      <p:sp>
        <p:nvSpPr>
          <p:cNvPr id="23" name="Text 21"/>
          <p:cNvSpPr txBox="1"/>
          <p:nvPr/>
        </p:nvSpPr>
        <p:spPr>
          <a:xfrm>
            <a:off x="8140720" y="376421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special: let's → shall we</a:t>
            </a:r>
            <a:endParaRPr lang="en-US" sz="1200" dirty="0"/>
          </a:p>
        </p:txBody>
      </p:sp>
      <p:sp>
        <p:nvSpPr>
          <p:cNvPr id="24" name="Shape 22"/>
          <p:cNvSpPr/>
          <p:nvPr/>
        </p:nvSpPr>
        <p:spPr>
          <a:xfrm>
            <a:off x="812810" y="4241719"/>
            <a:ext cx="10566441" cy="508041"/>
          </a:xfrm>
          <a:prstGeom prst="roundRect">
            <a:avLst>
              <a:gd name="adj" fmla="val 19996"/>
            </a:avLst>
          </a:prstGeom>
          <a:solidFill>
            <a:srgbClr val="FFFDF8"/>
          </a:solidFill>
          <a:ln w="12700">
            <a:solidFill>
              <a:srgbClr val="E3DFD2"/>
            </a:solidFill>
            <a:prstDash val="solid"/>
          </a:ln>
        </p:spPr>
      </p:sp>
      <p:sp>
        <p:nvSpPr>
          <p:cNvPr id="25" name="Shape 23"/>
          <p:cNvSpPr/>
          <p:nvPr/>
        </p:nvSpPr>
        <p:spPr>
          <a:xfrm>
            <a:off x="1003280" y="4343309"/>
            <a:ext cx="304770" cy="304770"/>
          </a:xfrm>
          <a:prstGeom prst="ellipse">
            <a:avLst/>
          </a:prstGeom>
          <a:solidFill>
            <a:srgbClr val="2E7D57"/>
          </a:solidFill>
          <a:ln/>
        </p:spPr>
      </p:sp>
      <p:sp>
        <p:nvSpPr>
          <p:cNvPr id="26" name="Text 24"/>
          <p:cNvSpPr txBox="1"/>
          <p:nvPr/>
        </p:nvSpPr>
        <p:spPr>
          <a:xfrm>
            <a:off x="981243" y="43433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11</a:t>
            </a:r>
            <a:endParaRPr lang="en-US" sz="1200" dirty="0"/>
          </a:p>
        </p:txBody>
      </p:sp>
      <p:sp>
        <p:nvSpPr>
          <p:cNvPr id="27" name="Text 25"/>
          <p:cNvSpPr txBox="1"/>
          <p:nvPr/>
        </p:nvSpPr>
        <p:spPr>
          <a:xfrm>
            <a:off x="1460480" y="4333067"/>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There isn't any milk left,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is there?</a:t>
            </a:r>
            <a:endParaRPr lang="en-US" sz="1600" dirty="0"/>
          </a:p>
        </p:txBody>
      </p:sp>
      <p:sp>
        <p:nvSpPr>
          <p:cNvPr id="28" name="Text 26"/>
          <p:cNvSpPr txBox="1"/>
          <p:nvPr/>
        </p:nvSpPr>
        <p:spPr>
          <a:xfrm>
            <a:off x="8140720" y="4373758"/>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there isn't → is there</a:t>
            </a:r>
            <a:endParaRPr lang="en-US" sz="1200" dirty="0"/>
          </a:p>
        </p:txBody>
      </p:sp>
      <p:sp>
        <p:nvSpPr>
          <p:cNvPr id="29" name="Shape 27"/>
          <p:cNvSpPr/>
          <p:nvPr/>
        </p:nvSpPr>
        <p:spPr>
          <a:xfrm>
            <a:off x="812810" y="4851258"/>
            <a:ext cx="10566441" cy="508041"/>
          </a:xfrm>
          <a:prstGeom prst="roundRect">
            <a:avLst>
              <a:gd name="adj" fmla="val 19996"/>
            </a:avLst>
          </a:prstGeom>
          <a:solidFill>
            <a:srgbClr val="FFFDF8"/>
          </a:solidFill>
          <a:ln w="12700">
            <a:solidFill>
              <a:srgbClr val="E3DFD2"/>
            </a:solidFill>
            <a:prstDash val="solid"/>
          </a:ln>
        </p:spPr>
      </p:sp>
      <p:sp>
        <p:nvSpPr>
          <p:cNvPr id="30" name="Shape 28"/>
          <p:cNvSpPr/>
          <p:nvPr/>
        </p:nvSpPr>
        <p:spPr>
          <a:xfrm>
            <a:off x="1003280" y="4952939"/>
            <a:ext cx="304770" cy="304770"/>
          </a:xfrm>
          <a:prstGeom prst="ellipse">
            <a:avLst/>
          </a:prstGeom>
          <a:solidFill>
            <a:srgbClr val="2E7D57"/>
          </a:solidFill>
          <a:ln/>
        </p:spPr>
      </p:sp>
      <p:sp>
        <p:nvSpPr>
          <p:cNvPr id="31" name="Text 29"/>
          <p:cNvSpPr txBox="1"/>
          <p:nvPr/>
        </p:nvSpPr>
        <p:spPr>
          <a:xfrm>
            <a:off x="981243" y="495293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12</a:t>
            </a:r>
            <a:endParaRPr lang="en-US" sz="1200" dirty="0"/>
          </a:p>
        </p:txBody>
      </p:sp>
      <p:sp>
        <p:nvSpPr>
          <p:cNvPr id="32" name="Text 30"/>
          <p:cNvSpPr txBox="1"/>
          <p:nvPr/>
        </p:nvSpPr>
        <p:spPr>
          <a:xfrm>
            <a:off x="1460480" y="494269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Turn the music down,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will you?</a:t>
            </a:r>
            <a:endParaRPr lang="en-US" sz="1600" dirty="0"/>
          </a:p>
        </p:txBody>
      </p:sp>
      <p:sp>
        <p:nvSpPr>
          <p:cNvPr id="33" name="Text 31"/>
          <p:cNvSpPr txBox="1"/>
          <p:nvPr/>
        </p:nvSpPr>
        <p:spPr>
          <a:xfrm>
            <a:off x="8140720" y="498338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special: a request → will you</a:t>
            </a:r>
            <a:endParaRPr lang="en-US" sz="1200" dirty="0"/>
          </a:p>
        </p:txBody>
      </p:sp>
      <p:sp>
        <p:nvSpPr>
          <p:cNvPr id="34" name="Text 32"/>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5" name="Text 33"/>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4988143"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1 · TAG TENNIS</a:t>
            </a:r>
            <a:endParaRPr lang="en-US" sz="1200" dirty="0"/>
          </a:p>
        </p:txBody>
      </p:sp>
      <p:sp>
        <p:nvSpPr>
          <p:cNvPr id="3" name="Text 1"/>
          <p:cNvSpPr txBox="1"/>
          <p:nvPr/>
        </p:nvSpPr>
        <p:spPr>
          <a:xfrm>
            <a:off x="812810" y="1102309"/>
            <a:ext cx="4988143"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Round 3: lightning round</a:t>
            </a:r>
            <a:endParaRPr lang="en-US" sz="3200" dirty="0"/>
          </a:p>
        </p:txBody>
      </p:sp>
      <p:sp>
        <p:nvSpPr>
          <p:cNvPr id="4" name="Shape 2"/>
          <p:cNvSpPr/>
          <p:nvPr/>
        </p:nvSpPr>
        <p:spPr>
          <a:xfrm>
            <a:off x="9088404" y="1209020"/>
            <a:ext cx="2290755" cy="340340"/>
          </a:xfrm>
          <a:prstGeom prst="roundRect">
            <a:avLst>
              <a:gd name="adj" fmla="val 50000"/>
            </a:avLst>
          </a:prstGeom>
          <a:solidFill>
            <a:srgbClr val="8FD3B0"/>
          </a:solidFill>
          <a:ln/>
        </p:spPr>
      </p:sp>
      <p:sp>
        <p:nvSpPr>
          <p:cNvPr id="5" name="Text 3"/>
          <p:cNvSpPr txBox="1"/>
          <p:nvPr/>
        </p:nvSpPr>
        <p:spPr>
          <a:xfrm>
            <a:off x="9240835" y="1257209"/>
            <a:ext cx="2063801"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Only 5 seconds! · +2 points</a:t>
            </a:r>
            <a:endParaRPr lang="en-US" sz="1200" dirty="0"/>
          </a:p>
        </p:txBody>
      </p:sp>
      <p:sp>
        <p:nvSpPr>
          <p:cNvPr id="6" name="Shape 4"/>
          <p:cNvSpPr/>
          <p:nvPr/>
        </p:nvSpPr>
        <p:spPr>
          <a:xfrm>
            <a:off x="812810" y="1803288"/>
            <a:ext cx="5206959" cy="990570"/>
          </a:xfrm>
          <a:prstGeom prst="roundRect">
            <a:avLst>
              <a:gd name="adj" fmla="val 11539"/>
            </a:avLst>
          </a:prstGeom>
          <a:solidFill>
            <a:srgbClr val="FFFDF8"/>
          </a:solidFill>
          <a:ln w="12700">
            <a:solidFill>
              <a:srgbClr val="E3DFD2"/>
            </a:solidFill>
            <a:prstDash val="solid"/>
          </a:ln>
        </p:spPr>
      </p:sp>
      <p:sp>
        <p:nvSpPr>
          <p:cNvPr id="7" name="Shape 5"/>
          <p:cNvSpPr/>
          <p:nvPr/>
        </p:nvSpPr>
        <p:spPr>
          <a:xfrm>
            <a:off x="1003280" y="2095439"/>
            <a:ext cx="406359" cy="406359"/>
          </a:xfrm>
          <a:prstGeom prst="ellipse">
            <a:avLst/>
          </a:prstGeom>
          <a:solidFill>
            <a:srgbClr val="14302A"/>
          </a:solidFill>
          <a:ln/>
        </p:spPr>
      </p:sp>
      <p:sp>
        <p:nvSpPr>
          <p:cNvPr id="8" name="Text 6"/>
          <p:cNvSpPr txBox="1"/>
          <p:nvPr/>
        </p:nvSpPr>
        <p:spPr>
          <a:xfrm>
            <a:off x="980145" y="2095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13</a:t>
            </a:r>
            <a:endParaRPr lang="en-US" sz="1200" dirty="0"/>
          </a:p>
        </p:txBody>
      </p:sp>
      <p:sp>
        <p:nvSpPr>
          <p:cNvPr id="9" name="Text 7"/>
          <p:cNvSpPr txBox="1"/>
          <p:nvPr/>
        </p:nvSpPr>
        <p:spPr>
          <a:xfrm>
            <a:off x="1562070" y="1955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We're supposed to pay the bills on time, ______?</a:t>
            </a:r>
            <a:endParaRPr lang="en-US" sz="2000" dirty="0"/>
          </a:p>
        </p:txBody>
      </p:sp>
      <p:sp>
        <p:nvSpPr>
          <p:cNvPr id="10" name="Shape 8"/>
          <p:cNvSpPr/>
          <p:nvPr/>
        </p:nvSpPr>
        <p:spPr>
          <a:xfrm>
            <a:off x="6172200" y="1803288"/>
            <a:ext cx="5206959" cy="990570"/>
          </a:xfrm>
          <a:prstGeom prst="roundRect">
            <a:avLst>
              <a:gd name="adj" fmla="val 11539"/>
            </a:avLst>
          </a:prstGeom>
          <a:solidFill>
            <a:srgbClr val="FFFDF8"/>
          </a:solidFill>
          <a:ln w="12700">
            <a:solidFill>
              <a:srgbClr val="E3DFD2"/>
            </a:solidFill>
            <a:prstDash val="solid"/>
          </a:ln>
        </p:spPr>
      </p:sp>
      <p:sp>
        <p:nvSpPr>
          <p:cNvPr id="11" name="Shape 9"/>
          <p:cNvSpPr/>
          <p:nvPr/>
        </p:nvSpPr>
        <p:spPr>
          <a:xfrm>
            <a:off x="6362670" y="2095439"/>
            <a:ext cx="406359" cy="406359"/>
          </a:xfrm>
          <a:prstGeom prst="ellipse">
            <a:avLst/>
          </a:prstGeom>
          <a:solidFill>
            <a:srgbClr val="14302A"/>
          </a:solidFill>
          <a:ln/>
        </p:spPr>
      </p:sp>
      <p:sp>
        <p:nvSpPr>
          <p:cNvPr id="12" name="Text 10"/>
          <p:cNvSpPr txBox="1"/>
          <p:nvPr/>
        </p:nvSpPr>
        <p:spPr>
          <a:xfrm>
            <a:off x="6339627" y="2095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14</a:t>
            </a:r>
            <a:endParaRPr lang="en-US" sz="1200" dirty="0"/>
          </a:p>
        </p:txBody>
      </p:sp>
      <p:sp>
        <p:nvSpPr>
          <p:cNvPr id="13" name="Text 11"/>
          <p:cNvSpPr txBox="1"/>
          <p:nvPr/>
        </p:nvSpPr>
        <p:spPr>
          <a:xfrm>
            <a:off x="6921459" y="212076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You borrowed my charger, ______?</a:t>
            </a:r>
            <a:endParaRPr lang="en-US" sz="2000" dirty="0"/>
          </a:p>
        </p:txBody>
      </p:sp>
      <p:sp>
        <p:nvSpPr>
          <p:cNvPr id="14" name="Shape 12"/>
          <p:cNvSpPr/>
          <p:nvPr/>
        </p:nvSpPr>
        <p:spPr>
          <a:xfrm>
            <a:off x="812810" y="2946288"/>
            <a:ext cx="5206959" cy="990570"/>
          </a:xfrm>
          <a:prstGeom prst="roundRect">
            <a:avLst>
              <a:gd name="adj" fmla="val 11539"/>
            </a:avLst>
          </a:prstGeom>
          <a:solidFill>
            <a:srgbClr val="FFFDF8"/>
          </a:solidFill>
          <a:ln w="12700">
            <a:solidFill>
              <a:srgbClr val="E3DFD2"/>
            </a:solidFill>
            <a:prstDash val="solid"/>
          </a:ln>
        </p:spPr>
      </p:sp>
      <p:sp>
        <p:nvSpPr>
          <p:cNvPr id="15" name="Shape 13"/>
          <p:cNvSpPr/>
          <p:nvPr/>
        </p:nvSpPr>
        <p:spPr>
          <a:xfrm>
            <a:off x="1003280" y="3238439"/>
            <a:ext cx="406359" cy="406359"/>
          </a:xfrm>
          <a:prstGeom prst="ellipse">
            <a:avLst/>
          </a:prstGeom>
          <a:solidFill>
            <a:srgbClr val="14302A"/>
          </a:solidFill>
          <a:ln/>
        </p:spPr>
      </p:sp>
      <p:sp>
        <p:nvSpPr>
          <p:cNvPr id="16" name="Text 14"/>
          <p:cNvSpPr txBox="1"/>
          <p:nvPr/>
        </p:nvSpPr>
        <p:spPr>
          <a:xfrm>
            <a:off x="980145" y="3238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15</a:t>
            </a:r>
            <a:endParaRPr lang="en-US" sz="1200" dirty="0"/>
          </a:p>
        </p:txBody>
      </p:sp>
      <p:sp>
        <p:nvSpPr>
          <p:cNvPr id="17" name="Text 15"/>
          <p:cNvSpPr txBox="1"/>
          <p:nvPr/>
        </p:nvSpPr>
        <p:spPr>
          <a:xfrm>
            <a:off x="1562070" y="3098719"/>
            <a:ext cx="4390674" cy="67309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He never takes out the rubbish, ______?</a:t>
            </a:r>
            <a:endParaRPr lang="en-US" sz="2000" dirty="0"/>
          </a:p>
        </p:txBody>
      </p:sp>
      <p:sp>
        <p:nvSpPr>
          <p:cNvPr id="18" name="Shape 16"/>
          <p:cNvSpPr/>
          <p:nvPr/>
        </p:nvSpPr>
        <p:spPr>
          <a:xfrm>
            <a:off x="6172200" y="2946288"/>
            <a:ext cx="5206959" cy="990570"/>
          </a:xfrm>
          <a:prstGeom prst="roundRect">
            <a:avLst>
              <a:gd name="adj" fmla="val 11539"/>
            </a:avLst>
          </a:prstGeom>
          <a:solidFill>
            <a:srgbClr val="FFFDF8"/>
          </a:solidFill>
          <a:ln w="12700">
            <a:solidFill>
              <a:srgbClr val="E3DFD2"/>
            </a:solidFill>
            <a:prstDash val="solid"/>
          </a:ln>
        </p:spPr>
      </p:sp>
      <p:sp>
        <p:nvSpPr>
          <p:cNvPr id="19" name="Shape 17"/>
          <p:cNvSpPr/>
          <p:nvPr/>
        </p:nvSpPr>
        <p:spPr>
          <a:xfrm>
            <a:off x="6362670" y="3238439"/>
            <a:ext cx="406359" cy="406359"/>
          </a:xfrm>
          <a:prstGeom prst="ellipse">
            <a:avLst/>
          </a:prstGeom>
          <a:solidFill>
            <a:srgbClr val="14302A"/>
          </a:solidFill>
          <a:ln/>
        </p:spPr>
      </p:sp>
      <p:sp>
        <p:nvSpPr>
          <p:cNvPr id="20" name="Text 18"/>
          <p:cNvSpPr txBox="1"/>
          <p:nvPr/>
        </p:nvSpPr>
        <p:spPr>
          <a:xfrm>
            <a:off x="6339627" y="323843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16</a:t>
            </a:r>
            <a:endParaRPr lang="en-US" sz="1200" dirty="0"/>
          </a:p>
        </p:txBody>
      </p:sp>
      <p:sp>
        <p:nvSpPr>
          <p:cNvPr id="21" name="Text 19"/>
          <p:cNvSpPr txBox="1"/>
          <p:nvPr/>
        </p:nvSpPr>
        <p:spPr>
          <a:xfrm>
            <a:off x="6921459" y="326376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Your friends won't stay late, ______?</a:t>
            </a:r>
            <a:endParaRPr lang="en-US" sz="2000" dirty="0"/>
          </a:p>
        </p:txBody>
      </p:sp>
      <p:sp>
        <p:nvSpPr>
          <p:cNvPr id="22" name="Shape 20"/>
          <p:cNvSpPr/>
          <p:nvPr/>
        </p:nvSpPr>
        <p:spPr>
          <a:xfrm>
            <a:off x="812810" y="4089288"/>
            <a:ext cx="5206959" cy="736641"/>
          </a:xfrm>
          <a:prstGeom prst="roundRect">
            <a:avLst>
              <a:gd name="adj" fmla="val 15516"/>
            </a:avLst>
          </a:prstGeom>
          <a:solidFill>
            <a:srgbClr val="FFFDF8"/>
          </a:solidFill>
          <a:ln w="12700">
            <a:solidFill>
              <a:srgbClr val="E3DFD2"/>
            </a:solidFill>
            <a:prstDash val="solid"/>
          </a:ln>
        </p:spPr>
      </p:sp>
      <p:sp>
        <p:nvSpPr>
          <p:cNvPr id="23" name="Shape 21"/>
          <p:cNvSpPr/>
          <p:nvPr/>
        </p:nvSpPr>
        <p:spPr>
          <a:xfrm>
            <a:off x="1003280" y="4254429"/>
            <a:ext cx="406359" cy="406359"/>
          </a:xfrm>
          <a:prstGeom prst="ellipse">
            <a:avLst/>
          </a:prstGeom>
          <a:solidFill>
            <a:srgbClr val="14302A"/>
          </a:solidFill>
          <a:ln/>
        </p:spPr>
      </p:sp>
      <p:sp>
        <p:nvSpPr>
          <p:cNvPr id="24" name="Text 22"/>
          <p:cNvSpPr txBox="1"/>
          <p:nvPr/>
        </p:nvSpPr>
        <p:spPr>
          <a:xfrm>
            <a:off x="980145" y="425442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17</a:t>
            </a:r>
            <a:endParaRPr lang="en-US" sz="1200" dirty="0"/>
          </a:p>
        </p:txBody>
      </p:sp>
      <p:sp>
        <p:nvSpPr>
          <p:cNvPr id="25" name="Text 23"/>
          <p:cNvSpPr txBox="1"/>
          <p:nvPr/>
        </p:nvSpPr>
        <p:spPr>
          <a:xfrm>
            <a:off x="1562070" y="427975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Everyone hates vacuuming, ______?</a:t>
            </a:r>
            <a:endParaRPr lang="en-US" sz="2000" dirty="0"/>
          </a:p>
        </p:txBody>
      </p:sp>
      <p:sp>
        <p:nvSpPr>
          <p:cNvPr id="26" name="Shape 24"/>
          <p:cNvSpPr/>
          <p:nvPr/>
        </p:nvSpPr>
        <p:spPr>
          <a:xfrm>
            <a:off x="6172200" y="4089288"/>
            <a:ext cx="5206959" cy="736641"/>
          </a:xfrm>
          <a:prstGeom prst="roundRect">
            <a:avLst>
              <a:gd name="adj" fmla="val 15516"/>
            </a:avLst>
          </a:prstGeom>
          <a:solidFill>
            <a:srgbClr val="FFFDF8"/>
          </a:solidFill>
          <a:ln w="12700">
            <a:solidFill>
              <a:srgbClr val="E3DFD2"/>
            </a:solidFill>
            <a:prstDash val="solid"/>
          </a:ln>
        </p:spPr>
      </p:sp>
      <p:sp>
        <p:nvSpPr>
          <p:cNvPr id="27" name="Shape 25"/>
          <p:cNvSpPr/>
          <p:nvPr/>
        </p:nvSpPr>
        <p:spPr>
          <a:xfrm>
            <a:off x="6362670" y="4254429"/>
            <a:ext cx="406359" cy="406359"/>
          </a:xfrm>
          <a:prstGeom prst="ellipse">
            <a:avLst/>
          </a:prstGeom>
          <a:solidFill>
            <a:srgbClr val="14302A"/>
          </a:solidFill>
          <a:ln/>
        </p:spPr>
      </p:sp>
      <p:sp>
        <p:nvSpPr>
          <p:cNvPr id="28" name="Text 26"/>
          <p:cNvSpPr txBox="1"/>
          <p:nvPr/>
        </p:nvSpPr>
        <p:spPr>
          <a:xfrm>
            <a:off x="6339627" y="4254429"/>
            <a:ext cx="452628" cy="406359"/>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18</a:t>
            </a:r>
            <a:endParaRPr lang="en-US" sz="1200" dirty="0"/>
          </a:p>
        </p:txBody>
      </p:sp>
      <p:sp>
        <p:nvSpPr>
          <p:cNvPr id="29" name="Text 27"/>
          <p:cNvSpPr txBox="1"/>
          <p:nvPr/>
        </p:nvSpPr>
        <p:spPr>
          <a:xfrm>
            <a:off x="6921459" y="4279758"/>
            <a:ext cx="4390674" cy="342900"/>
          </a:xfrm>
          <a:prstGeom prst="rect">
            <a:avLst/>
          </a:prstGeom>
          <a:noFill/>
          <a:ln/>
        </p:spPr>
        <p:txBody>
          <a:bodyPr wrap="square" lIns="0" tIns="0" rIns="0" bIns="0" rtlCol="0" anchor="t"/>
          <a:lstStyle/>
          <a:p>
            <a:pPr algn="l" indent="0" marL="0">
              <a:lnSpc>
                <a:spcPts val="2600"/>
              </a:lnSpc>
              <a:buNone/>
            </a:pPr>
            <a:r>
              <a:rPr lang="en-US" sz="2000" dirty="0">
                <a:solidFill>
                  <a:srgbClr val="14302A"/>
                </a:solidFill>
                <a:latin typeface="Arial" pitchFamily="34" charset="0"/>
                <a:ea typeface="Arial" pitchFamily="34" charset="-122"/>
                <a:cs typeface="Arial" pitchFamily="34" charset="-120"/>
              </a:rPr>
              <a:t>It was your turn yesterday, ______?</a:t>
            </a:r>
            <a:endParaRPr lang="en-US" sz="2000" dirty="0"/>
          </a:p>
        </p:txBody>
      </p:sp>
      <p:sp>
        <p:nvSpPr>
          <p:cNvPr id="30" name="Text 28"/>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1" name="Text 29"/>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1 · TAG TENNIS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Round 3: answers</a:t>
            </a:r>
            <a:endParaRPr lang="en-US" sz="3200" dirty="0"/>
          </a:p>
        </p:txBody>
      </p:sp>
      <p:sp>
        <p:nvSpPr>
          <p:cNvPr id="4" name="Shape 2"/>
          <p:cNvSpPr/>
          <p:nvPr/>
        </p:nvSpPr>
        <p:spPr>
          <a:xfrm>
            <a:off x="812810" y="1803288"/>
            <a:ext cx="10566441" cy="508041"/>
          </a:xfrm>
          <a:prstGeom prst="roundRect">
            <a:avLst>
              <a:gd name="adj" fmla="val 19996"/>
            </a:avLst>
          </a:prstGeom>
          <a:solidFill>
            <a:srgbClr val="FFFDF8"/>
          </a:solidFill>
          <a:ln w="12700">
            <a:solidFill>
              <a:srgbClr val="E3DFD2"/>
            </a:solidFill>
            <a:prstDash val="solid"/>
          </a:ln>
        </p:spPr>
      </p:sp>
      <p:sp>
        <p:nvSpPr>
          <p:cNvPr id="5" name="Shape 3"/>
          <p:cNvSpPr/>
          <p:nvPr/>
        </p:nvSpPr>
        <p:spPr>
          <a:xfrm>
            <a:off x="1003280" y="1904878"/>
            <a:ext cx="304770" cy="304770"/>
          </a:xfrm>
          <a:prstGeom prst="ellipse">
            <a:avLst/>
          </a:prstGeom>
          <a:solidFill>
            <a:srgbClr val="2E7D57"/>
          </a:solidFill>
          <a:ln/>
        </p:spPr>
      </p:sp>
      <p:sp>
        <p:nvSpPr>
          <p:cNvPr id="6" name="Text 4"/>
          <p:cNvSpPr txBox="1"/>
          <p:nvPr/>
        </p:nvSpPr>
        <p:spPr>
          <a:xfrm>
            <a:off x="981243" y="19048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13</a:t>
            </a:r>
            <a:endParaRPr lang="en-US" sz="1200" dirty="0"/>
          </a:p>
        </p:txBody>
      </p:sp>
      <p:sp>
        <p:nvSpPr>
          <p:cNvPr id="7" name="Text 5"/>
          <p:cNvSpPr txBox="1"/>
          <p:nvPr/>
        </p:nvSpPr>
        <p:spPr>
          <a:xfrm>
            <a:off x="1460480" y="189472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We're supposed to pay the bills on time,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aren't we?</a:t>
            </a:r>
            <a:endParaRPr lang="en-US" sz="1600" dirty="0"/>
          </a:p>
        </p:txBody>
      </p:sp>
      <p:sp>
        <p:nvSpPr>
          <p:cNvPr id="8" name="Text 6"/>
          <p:cNvSpPr txBox="1"/>
          <p:nvPr/>
        </p:nvSpPr>
        <p:spPr>
          <a:xfrm>
            <a:off x="8140720" y="193541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we're = we are → aren't</a:t>
            </a:r>
            <a:endParaRPr lang="en-US" sz="1200" dirty="0"/>
          </a:p>
        </p:txBody>
      </p:sp>
      <p:sp>
        <p:nvSpPr>
          <p:cNvPr id="9" name="Shape 7"/>
          <p:cNvSpPr/>
          <p:nvPr/>
        </p:nvSpPr>
        <p:spPr>
          <a:xfrm>
            <a:off x="812810" y="2412919"/>
            <a:ext cx="10566441" cy="508041"/>
          </a:xfrm>
          <a:prstGeom prst="roundRect">
            <a:avLst>
              <a:gd name="adj" fmla="val 19996"/>
            </a:avLst>
          </a:prstGeom>
          <a:solidFill>
            <a:srgbClr val="FFFDF8"/>
          </a:solidFill>
          <a:ln w="12700">
            <a:solidFill>
              <a:srgbClr val="E3DFD2"/>
            </a:solidFill>
            <a:prstDash val="solid"/>
          </a:ln>
        </p:spPr>
      </p:sp>
      <p:sp>
        <p:nvSpPr>
          <p:cNvPr id="10" name="Shape 8"/>
          <p:cNvSpPr/>
          <p:nvPr/>
        </p:nvSpPr>
        <p:spPr>
          <a:xfrm>
            <a:off x="1003280" y="2514509"/>
            <a:ext cx="304770" cy="304770"/>
          </a:xfrm>
          <a:prstGeom prst="ellipse">
            <a:avLst/>
          </a:prstGeom>
          <a:solidFill>
            <a:srgbClr val="2E7D57"/>
          </a:solidFill>
          <a:ln/>
        </p:spPr>
      </p:sp>
      <p:sp>
        <p:nvSpPr>
          <p:cNvPr id="11" name="Text 9"/>
          <p:cNvSpPr txBox="1"/>
          <p:nvPr/>
        </p:nvSpPr>
        <p:spPr>
          <a:xfrm>
            <a:off x="981243" y="25145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14</a:t>
            </a:r>
            <a:endParaRPr lang="en-US" sz="1200" dirty="0"/>
          </a:p>
        </p:txBody>
      </p:sp>
      <p:sp>
        <p:nvSpPr>
          <p:cNvPr id="12" name="Text 10"/>
          <p:cNvSpPr txBox="1"/>
          <p:nvPr/>
        </p:nvSpPr>
        <p:spPr>
          <a:xfrm>
            <a:off x="1460480" y="2504267"/>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borrowed my charger,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didn't you?</a:t>
            </a:r>
            <a:endParaRPr lang="en-US" sz="1600" dirty="0"/>
          </a:p>
        </p:txBody>
      </p:sp>
      <p:sp>
        <p:nvSpPr>
          <p:cNvPr id="13" name="Text 11"/>
          <p:cNvSpPr txBox="1"/>
          <p:nvPr/>
        </p:nvSpPr>
        <p:spPr>
          <a:xfrm>
            <a:off x="8140720" y="2544958"/>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past simple → did / didn't</a:t>
            </a:r>
            <a:endParaRPr lang="en-US" sz="1200" dirty="0"/>
          </a:p>
        </p:txBody>
      </p:sp>
      <p:sp>
        <p:nvSpPr>
          <p:cNvPr id="14" name="Shape 12"/>
          <p:cNvSpPr/>
          <p:nvPr/>
        </p:nvSpPr>
        <p:spPr>
          <a:xfrm>
            <a:off x="812810" y="3022458"/>
            <a:ext cx="10566441" cy="508041"/>
          </a:xfrm>
          <a:prstGeom prst="roundRect">
            <a:avLst>
              <a:gd name="adj" fmla="val 19996"/>
            </a:avLst>
          </a:prstGeom>
          <a:solidFill>
            <a:srgbClr val="FFFDF8"/>
          </a:solidFill>
          <a:ln w="12700">
            <a:solidFill>
              <a:srgbClr val="E3DFD2"/>
            </a:solidFill>
            <a:prstDash val="solid"/>
          </a:ln>
        </p:spPr>
      </p:sp>
      <p:sp>
        <p:nvSpPr>
          <p:cNvPr id="15" name="Shape 13"/>
          <p:cNvSpPr/>
          <p:nvPr/>
        </p:nvSpPr>
        <p:spPr>
          <a:xfrm>
            <a:off x="1003280" y="3124139"/>
            <a:ext cx="304770" cy="304770"/>
          </a:xfrm>
          <a:prstGeom prst="ellipse">
            <a:avLst/>
          </a:prstGeom>
          <a:solidFill>
            <a:srgbClr val="2E7D57"/>
          </a:solidFill>
          <a:ln/>
        </p:spPr>
      </p:sp>
      <p:sp>
        <p:nvSpPr>
          <p:cNvPr id="16" name="Text 14"/>
          <p:cNvSpPr txBox="1"/>
          <p:nvPr/>
        </p:nvSpPr>
        <p:spPr>
          <a:xfrm>
            <a:off x="981243" y="312413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15</a:t>
            </a:r>
            <a:endParaRPr lang="en-US" sz="1200" dirty="0"/>
          </a:p>
        </p:txBody>
      </p:sp>
      <p:sp>
        <p:nvSpPr>
          <p:cNvPr id="17" name="Text 15"/>
          <p:cNvSpPr txBox="1"/>
          <p:nvPr/>
        </p:nvSpPr>
        <p:spPr>
          <a:xfrm>
            <a:off x="1460480" y="311389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He never takes out the rubbish,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does he?</a:t>
            </a:r>
            <a:endParaRPr lang="en-US" sz="1600" dirty="0"/>
          </a:p>
        </p:txBody>
      </p:sp>
      <p:sp>
        <p:nvSpPr>
          <p:cNvPr id="18" name="Text 16"/>
          <p:cNvSpPr txBox="1"/>
          <p:nvPr/>
        </p:nvSpPr>
        <p:spPr>
          <a:xfrm>
            <a:off x="8140720" y="315458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never is negative → positive tag</a:t>
            </a:r>
            <a:endParaRPr lang="en-US" sz="1200" dirty="0"/>
          </a:p>
        </p:txBody>
      </p:sp>
      <p:sp>
        <p:nvSpPr>
          <p:cNvPr id="19" name="Shape 17"/>
          <p:cNvSpPr/>
          <p:nvPr/>
        </p:nvSpPr>
        <p:spPr>
          <a:xfrm>
            <a:off x="812810" y="3632088"/>
            <a:ext cx="10566441" cy="508041"/>
          </a:xfrm>
          <a:prstGeom prst="roundRect">
            <a:avLst>
              <a:gd name="adj" fmla="val 19996"/>
            </a:avLst>
          </a:prstGeom>
          <a:solidFill>
            <a:srgbClr val="FFFDF8"/>
          </a:solidFill>
          <a:ln w="12700">
            <a:solidFill>
              <a:srgbClr val="E3DFD2"/>
            </a:solidFill>
            <a:prstDash val="solid"/>
          </a:ln>
        </p:spPr>
      </p:sp>
      <p:sp>
        <p:nvSpPr>
          <p:cNvPr id="20" name="Shape 18"/>
          <p:cNvSpPr/>
          <p:nvPr/>
        </p:nvSpPr>
        <p:spPr>
          <a:xfrm>
            <a:off x="1003280" y="3733678"/>
            <a:ext cx="304770" cy="304770"/>
          </a:xfrm>
          <a:prstGeom prst="ellipse">
            <a:avLst/>
          </a:prstGeom>
          <a:solidFill>
            <a:srgbClr val="2E7D57"/>
          </a:solidFill>
          <a:ln/>
        </p:spPr>
      </p:sp>
      <p:sp>
        <p:nvSpPr>
          <p:cNvPr id="21" name="Text 19"/>
          <p:cNvSpPr txBox="1"/>
          <p:nvPr/>
        </p:nvSpPr>
        <p:spPr>
          <a:xfrm>
            <a:off x="981243" y="37336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16</a:t>
            </a:r>
            <a:endParaRPr lang="en-US" sz="1200" dirty="0"/>
          </a:p>
        </p:txBody>
      </p:sp>
      <p:sp>
        <p:nvSpPr>
          <p:cNvPr id="22" name="Text 20"/>
          <p:cNvSpPr txBox="1"/>
          <p:nvPr/>
        </p:nvSpPr>
        <p:spPr>
          <a:xfrm>
            <a:off x="1460480" y="372352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Your friends won't stay late,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will they?</a:t>
            </a:r>
            <a:endParaRPr lang="en-US" sz="1600" dirty="0"/>
          </a:p>
        </p:txBody>
      </p:sp>
      <p:sp>
        <p:nvSpPr>
          <p:cNvPr id="23" name="Text 21"/>
          <p:cNvSpPr txBox="1"/>
          <p:nvPr/>
        </p:nvSpPr>
        <p:spPr>
          <a:xfrm>
            <a:off x="8140720" y="376421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won't → will</a:t>
            </a:r>
            <a:endParaRPr lang="en-US" sz="1200" dirty="0"/>
          </a:p>
        </p:txBody>
      </p:sp>
      <p:sp>
        <p:nvSpPr>
          <p:cNvPr id="24" name="Shape 22"/>
          <p:cNvSpPr/>
          <p:nvPr/>
        </p:nvSpPr>
        <p:spPr>
          <a:xfrm>
            <a:off x="812810" y="4241719"/>
            <a:ext cx="10566441" cy="508041"/>
          </a:xfrm>
          <a:prstGeom prst="roundRect">
            <a:avLst>
              <a:gd name="adj" fmla="val 19996"/>
            </a:avLst>
          </a:prstGeom>
          <a:solidFill>
            <a:srgbClr val="FFFDF8"/>
          </a:solidFill>
          <a:ln w="12700">
            <a:solidFill>
              <a:srgbClr val="E3DFD2"/>
            </a:solidFill>
            <a:prstDash val="solid"/>
          </a:ln>
        </p:spPr>
      </p:sp>
      <p:sp>
        <p:nvSpPr>
          <p:cNvPr id="25" name="Shape 23"/>
          <p:cNvSpPr/>
          <p:nvPr/>
        </p:nvSpPr>
        <p:spPr>
          <a:xfrm>
            <a:off x="1003280" y="4343309"/>
            <a:ext cx="304770" cy="304770"/>
          </a:xfrm>
          <a:prstGeom prst="ellipse">
            <a:avLst/>
          </a:prstGeom>
          <a:solidFill>
            <a:srgbClr val="2E7D57"/>
          </a:solidFill>
          <a:ln/>
        </p:spPr>
      </p:sp>
      <p:sp>
        <p:nvSpPr>
          <p:cNvPr id="26" name="Text 24"/>
          <p:cNvSpPr txBox="1"/>
          <p:nvPr/>
        </p:nvSpPr>
        <p:spPr>
          <a:xfrm>
            <a:off x="981243" y="43433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17</a:t>
            </a:r>
            <a:endParaRPr lang="en-US" sz="1200" dirty="0"/>
          </a:p>
        </p:txBody>
      </p:sp>
      <p:sp>
        <p:nvSpPr>
          <p:cNvPr id="27" name="Text 25"/>
          <p:cNvSpPr txBox="1"/>
          <p:nvPr/>
        </p:nvSpPr>
        <p:spPr>
          <a:xfrm>
            <a:off x="1460480" y="4333067"/>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Everyone hates vacuuming,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don't they?</a:t>
            </a:r>
            <a:endParaRPr lang="en-US" sz="1600" dirty="0"/>
          </a:p>
        </p:txBody>
      </p:sp>
      <p:sp>
        <p:nvSpPr>
          <p:cNvPr id="28" name="Text 26"/>
          <p:cNvSpPr txBox="1"/>
          <p:nvPr/>
        </p:nvSpPr>
        <p:spPr>
          <a:xfrm>
            <a:off x="8140720" y="4373758"/>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everyone → they</a:t>
            </a:r>
            <a:endParaRPr lang="en-US" sz="1200" dirty="0"/>
          </a:p>
        </p:txBody>
      </p:sp>
      <p:sp>
        <p:nvSpPr>
          <p:cNvPr id="29" name="Shape 27"/>
          <p:cNvSpPr/>
          <p:nvPr/>
        </p:nvSpPr>
        <p:spPr>
          <a:xfrm>
            <a:off x="812810" y="4851258"/>
            <a:ext cx="10566441" cy="508041"/>
          </a:xfrm>
          <a:prstGeom prst="roundRect">
            <a:avLst>
              <a:gd name="adj" fmla="val 19996"/>
            </a:avLst>
          </a:prstGeom>
          <a:solidFill>
            <a:srgbClr val="FFFDF8"/>
          </a:solidFill>
          <a:ln w="12700">
            <a:solidFill>
              <a:srgbClr val="E3DFD2"/>
            </a:solidFill>
            <a:prstDash val="solid"/>
          </a:ln>
        </p:spPr>
      </p:sp>
      <p:sp>
        <p:nvSpPr>
          <p:cNvPr id="30" name="Shape 28"/>
          <p:cNvSpPr/>
          <p:nvPr/>
        </p:nvSpPr>
        <p:spPr>
          <a:xfrm>
            <a:off x="1003280" y="4952939"/>
            <a:ext cx="304770" cy="304770"/>
          </a:xfrm>
          <a:prstGeom prst="ellipse">
            <a:avLst/>
          </a:prstGeom>
          <a:solidFill>
            <a:srgbClr val="2E7D57"/>
          </a:solidFill>
          <a:ln/>
        </p:spPr>
      </p:sp>
      <p:sp>
        <p:nvSpPr>
          <p:cNvPr id="31" name="Text 29"/>
          <p:cNvSpPr txBox="1"/>
          <p:nvPr/>
        </p:nvSpPr>
        <p:spPr>
          <a:xfrm>
            <a:off x="981243" y="495293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18</a:t>
            </a:r>
            <a:endParaRPr lang="en-US" sz="1200" dirty="0"/>
          </a:p>
        </p:txBody>
      </p:sp>
      <p:sp>
        <p:nvSpPr>
          <p:cNvPr id="32" name="Text 30"/>
          <p:cNvSpPr txBox="1"/>
          <p:nvPr/>
        </p:nvSpPr>
        <p:spPr>
          <a:xfrm>
            <a:off x="1460480" y="4942698"/>
            <a:ext cx="6696426"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It was your turn yesterday,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wasn't it?</a:t>
            </a:r>
            <a:endParaRPr lang="en-US" sz="1600" dirty="0"/>
          </a:p>
        </p:txBody>
      </p:sp>
      <p:sp>
        <p:nvSpPr>
          <p:cNvPr id="33" name="Text 31"/>
          <p:cNvSpPr txBox="1"/>
          <p:nvPr/>
        </p:nvSpPr>
        <p:spPr>
          <a:xfrm>
            <a:off x="8140720" y="4983389"/>
            <a:ext cx="314709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was → wasn't</a:t>
            </a:r>
            <a:endParaRPr lang="en-US" sz="1200" dirty="0"/>
          </a:p>
        </p:txBody>
      </p:sp>
      <p:sp>
        <p:nvSpPr>
          <p:cNvPr id="34" name="Text 32"/>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5" name="Text 33"/>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302A"/>
        </a:solidFill>
      </p:bgPr>
    </p:bg>
    <p:spTree>
      <p:nvGrpSpPr>
        <p:cNvPr id="1" name=""/>
        <p:cNvGrpSpPr/>
        <p:nvPr/>
      </p:nvGrpSpPr>
      <p:grpSpPr>
        <a:xfrm>
          <a:off x="0" y="0"/>
          <a:ext cx="0" cy="0"/>
          <a:chOff x="0" y="0"/>
          <a:chExt cx="0" cy="0"/>
        </a:xfrm>
      </p:grpSpPr>
      <p:sp>
        <p:nvSpPr>
          <p:cNvPr id="2" name="Shape 0"/>
          <p:cNvSpPr/>
          <p:nvPr/>
        </p:nvSpPr>
        <p:spPr>
          <a:xfrm>
            <a:off x="812810" y="1375440"/>
            <a:ext cx="1003371" cy="340340"/>
          </a:xfrm>
          <a:prstGeom prst="roundRect">
            <a:avLst>
              <a:gd name="adj" fmla="val 50000"/>
            </a:avLst>
          </a:prstGeom>
          <a:solidFill>
            <a:srgbClr val="8FD3B0"/>
          </a:solidFill>
          <a:ln/>
        </p:spPr>
      </p:sp>
      <p:sp>
        <p:nvSpPr>
          <p:cNvPr id="3" name="Text 1"/>
          <p:cNvSpPr txBox="1"/>
          <p:nvPr/>
        </p:nvSpPr>
        <p:spPr>
          <a:xfrm>
            <a:off x="965241" y="1423721"/>
            <a:ext cx="75063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14302A"/>
                </a:solidFill>
                <a:latin typeface="Arial" pitchFamily="34" charset="0"/>
                <a:ea typeface="Arial" pitchFamily="34" charset="-122"/>
                <a:cs typeface="Arial" pitchFamily="34" charset="-120"/>
              </a:rPr>
              <a:t>GAME 2</a:t>
            </a:r>
            <a:endParaRPr lang="en-US" sz="1200" dirty="0"/>
          </a:p>
        </p:txBody>
      </p:sp>
      <p:sp>
        <p:nvSpPr>
          <p:cNvPr id="4" name="Shape 2"/>
          <p:cNvSpPr/>
          <p:nvPr/>
        </p:nvSpPr>
        <p:spPr>
          <a:xfrm>
            <a:off x="1917771" y="1375440"/>
            <a:ext cx="2736616" cy="340340"/>
          </a:xfrm>
          <a:prstGeom prst="roundRect">
            <a:avLst>
              <a:gd name="adj" fmla="val 50000"/>
            </a:avLst>
          </a:prstGeom>
          <a:ln w="12700">
            <a:solidFill>
              <a:srgbClr val="8FD3B0"/>
            </a:solidFill>
            <a:prstDash val="solid"/>
          </a:ln>
        </p:spPr>
      </p:sp>
      <p:sp>
        <p:nvSpPr>
          <p:cNvPr id="5" name="Text 3"/>
          <p:cNvSpPr txBox="1"/>
          <p:nvPr/>
        </p:nvSpPr>
        <p:spPr>
          <a:xfrm>
            <a:off x="2070202" y="1423721"/>
            <a:ext cx="2518623"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FD3B0"/>
                </a:solidFill>
                <a:latin typeface="Arial" pitchFamily="34" charset="0"/>
                <a:ea typeface="Arial" pitchFamily="34" charset="-122"/>
                <a:cs typeface="Arial" pitchFamily="34" charset="-120"/>
              </a:rPr>
              <a:t>KEY PHRASES · 2 ROUNDS</a:t>
            </a:r>
            <a:endParaRPr lang="en-US" sz="1200" dirty="0"/>
          </a:p>
        </p:txBody>
      </p:sp>
      <p:sp>
        <p:nvSpPr>
          <p:cNvPr id="6" name="Text 4"/>
          <p:cNvSpPr txBox="1"/>
          <p:nvPr/>
        </p:nvSpPr>
        <p:spPr>
          <a:xfrm>
            <a:off x="812810" y="1944380"/>
            <a:ext cx="10815798" cy="800100"/>
          </a:xfrm>
          <a:prstGeom prst="rect">
            <a:avLst/>
          </a:prstGeom>
          <a:noFill/>
          <a:ln/>
        </p:spPr>
        <p:txBody>
          <a:bodyPr wrap="square" lIns="0" tIns="0" rIns="0" bIns="0" rtlCol="0" anchor="t"/>
          <a:lstStyle/>
          <a:p>
            <a:pPr algn="l" indent="0" marL="0">
              <a:lnSpc>
                <a:spcPts val="6300"/>
              </a:lnSpc>
              <a:buNone/>
            </a:pPr>
            <a:r>
              <a:rPr lang="en-US" sz="6000" b="1" dirty="0">
                <a:solidFill>
                  <a:srgbClr val="F3F0E6"/>
                </a:solidFill>
                <a:latin typeface="Arial" pitchFamily="34" charset="0"/>
                <a:ea typeface="Arial" pitchFamily="34" charset="-122"/>
                <a:cs typeface="Arial" pitchFamily="34" charset="-120"/>
              </a:rPr>
              <a:t>Missing Word Rescue</a:t>
            </a:r>
            <a:endParaRPr lang="en-US" sz="6000" dirty="0"/>
          </a:p>
        </p:txBody>
      </p:sp>
      <p:sp>
        <p:nvSpPr>
          <p:cNvPr id="7" name="Shape 5"/>
          <p:cNvSpPr/>
          <p:nvPr/>
        </p:nvSpPr>
        <p:spPr>
          <a:xfrm>
            <a:off x="812810" y="2973080"/>
            <a:ext cx="355610" cy="355610"/>
          </a:xfrm>
          <a:prstGeom prst="ellipse">
            <a:avLst/>
          </a:prstGeom>
          <a:solidFill>
            <a:srgbClr val="8FD3B0"/>
          </a:solidFill>
          <a:ln/>
        </p:spPr>
      </p:sp>
      <p:sp>
        <p:nvSpPr>
          <p:cNvPr id="8" name="Text 6"/>
          <p:cNvSpPr txBox="1"/>
          <p:nvPr/>
        </p:nvSpPr>
        <p:spPr>
          <a:xfrm>
            <a:off x="790224" y="2973080"/>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320759" y="2952780"/>
            <a:ext cx="10297698" cy="304770"/>
          </a:xfrm>
          <a:prstGeom prst="rect">
            <a:avLst/>
          </a:prstGeom>
          <a:noFill/>
          <a:ln/>
        </p:spPr>
        <p:txBody>
          <a:bodyPr wrap="square" lIns="0" tIns="0" rIns="0" bIns="0" rtlCol="0" anchor="t"/>
          <a:lstStyle/>
          <a:p>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Round 1 · Race (3 minutes):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complete the 8 diplomatic phrases with the words in the box. One word is extra!</a:t>
            </a:r>
            <a:endParaRPr lang="en-US" sz="1600" dirty="0"/>
          </a:p>
        </p:txBody>
      </p:sp>
      <p:sp>
        <p:nvSpPr>
          <p:cNvPr id="10" name="Shape 8"/>
          <p:cNvSpPr/>
          <p:nvPr/>
        </p:nvSpPr>
        <p:spPr>
          <a:xfrm>
            <a:off x="812810" y="3430280"/>
            <a:ext cx="355610" cy="355610"/>
          </a:xfrm>
          <a:prstGeom prst="ellipse">
            <a:avLst/>
          </a:prstGeom>
          <a:solidFill>
            <a:srgbClr val="8FD3B0"/>
          </a:solidFill>
          <a:ln/>
        </p:spPr>
      </p:sp>
      <p:sp>
        <p:nvSpPr>
          <p:cNvPr id="11" name="Text 9"/>
          <p:cNvSpPr txBox="1"/>
          <p:nvPr/>
        </p:nvSpPr>
        <p:spPr>
          <a:xfrm>
            <a:off x="790224" y="3430280"/>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320759" y="3409980"/>
            <a:ext cx="10297698" cy="589239"/>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The captain writes the answers.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 point</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for every correct phrase. The first team with all 8 correct gets a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+3 bonus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812810" y="4100810"/>
            <a:ext cx="355610" cy="355610"/>
          </a:xfrm>
          <a:prstGeom prst="ellipse">
            <a:avLst/>
          </a:prstGeom>
          <a:solidFill>
            <a:srgbClr val="8FD3B0"/>
          </a:solidFill>
          <a:ln/>
        </p:spPr>
      </p:sp>
      <p:sp>
        <p:nvSpPr>
          <p:cNvPr id="14" name="Text 12"/>
          <p:cNvSpPr txBox="1"/>
          <p:nvPr/>
        </p:nvSpPr>
        <p:spPr>
          <a:xfrm>
            <a:off x="790224" y="4100810"/>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1320759" y="4080510"/>
            <a:ext cx="10297698" cy="304770"/>
          </a:xfrm>
          <a:prstGeom prst="rect">
            <a:avLst/>
          </a:prstGeom>
          <a:noFill/>
          <a:ln/>
        </p:spPr>
        <p:txBody>
          <a:bodyPr wrap="square" lIns="0" tIns="0" rIns="0" bIns="0" rtlCol="0" anchor="t"/>
          <a:lstStyle/>
          <a:p>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Round 2 · Finish it!</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In turn, each team finishes a phrase with a real flat problem.</a:t>
            </a:r>
            <a:endParaRPr lang="en-US" sz="1600" dirty="0"/>
          </a:p>
        </p:txBody>
      </p:sp>
      <p:sp>
        <p:nvSpPr>
          <p:cNvPr id="16" name="Shape 14"/>
          <p:cNvSpPr/>
          <p:nvPr/>
        </p:nvSpPr>
        <p:spPr>
          <a:xfrm>
            <a:off x="812810" y="4558010"/>
            <a:ext cx="355610" cy="355610"/>
          </a:xfrm>
          <a:prstGeom prst="ellipse">
            <a:avLst/>
          </a:prstGeom>
          <a:solidFill>
            <a:srgbClr val="8FD3B0"/>
          </a:solidFill>
          <a:ln/>
        </p:spPr>
      </p:sp>
      <p:sp>
        <p:nvSpPr>
          <p:cNvPr id="17" name="Text 15"/>
          <p:cNvSpPr txBox="1"/>
          <p:nvPr/>
        </p:nvSpPr>
        <p:spPr>
          <a:xfrm>
            <a:off x="790224" y="4558010"/>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4</a:t>
            </a:r>
            <a:endParaRPr lang="en-US" sz="1200" dirty="0"/>
          </a:p>
        </p:txBody>
      </p:sp>
      <p:sp>
        <p:nvSpPr>
          <p:cNvPr id="18" name="Text 16"/>
          <p:cNvSpPr txBox="1"/>
          <p:nvPr/>
        </p:nvSpPr>
        <p:spPr>
          <a:xfrm>
            <a:off x="1320759" y="453771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A natural, correct ending: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 point</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Go around the teams twice.</a:t>
            </a:r>
            <a:endParaRPr lang="en-US" sz="1600" dirty="0"/>
          </a:p>
        </p:txBody>
      </p:sp>
      <p:sp>
        <p:nvSpPr>
          <p:cNvPr id="19" name="Shape 17"/>
          <p:cNvSpPr/>
          <p:nvPr/>
        </p:nvSpPr>
        <p:spPr>
          <a:xfrm>
            <a:off x="812810" y="5142220"/>
            <a:ext cx="1630467" cy="340340"/>
          </a:xfrm>
          <a:prstGeom prst="roundRect">
            <a:avLst>
              <a:gd name="adj" fmla="val 50000"/>
            </a:avLst>
          </a:prstGeom>
          <a:solidFill>
            <a:srgbClr val="F3F0E6"/>
          </a:solidFill>
          <a:ln/>
        </p:spPr>
      </p:sp>
      <p:sp>
        <p:nvSpPr>
          <p:cNvPr id="20" name="Text 18"/>
          <p:cNvSpPr txBox="1"/>
          <p:nvPr/>
        </p:nvSpPr>
        <p:spPr>
          <a:xfrm>
            <a:off x="952530" y="5190500"/>
            <a:ext cx="1416223"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Correct phrase: +1</a:t>
            </a:r>
            <a:endParaRPr lang="en-US" sz="1200" dirty="0"/>
          </a:p>
        </p:txBody>
      </p:sp>
      <p:sp>
        <p:nvSpPr>
          <p:cNvPr id="21" name="Shape 19"/>
          <p:cNvSpPr/>
          <p:nvPr/>
        </p:nvSpPr>
        <p:spPr>
          <a:xfrm>
            <a:off x="2544867" y="5142220"/>
            <a:ext cx="1478036" cy="340340"/>
          </a:xfrm>
          <a:prstGeom prst="roundRect">
            <a:avLst>
              <a:gd name="adj" fmla="val 50000"/>
            </a:avLst>
          </a:prstGeom>
          <a:solidFill>
            <a:srgbClr val="F3F0E6"/>
          </a:solidFill>
          <a:ln/>
        </p:spPr>
      </p:sp>
      <p:sp>
        <p:nvSpPr>
          <p:cNvPr id="22" name="Text 20"/>
          <p:cNvSpPr txBox="1"/>
          <p:nvPr/>
        </p:nvSpPr>
        <p:spPr>
          <a:xfrm>
            <a:off x="2684587" y="5190500"/>
            <a:ext cx="1260775"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Fastest team: +3</a:t>
            </a:r>
            <a:endParaRPr lang="en-US" sz="1200" dirty="0"/>
          </a:p>
        </p:txBody>
      </p:sp>
      <p:sp>
        <p:nvSpPr>
          <p:cNvPr id="23" name="Shape 21"/>
          <p:cNvSpPr/>
          <p:nvPr/>
        </p:nvSpPr>
        <p:spPr>
          <a:xfrm>
            <a:off x="4124493" y="5142220"/>
            <a:ext cx="1485900" cy="340340"/>
          </a:xfrm>
          <a:prstGeom prst="roundRect">
            <a:avLst>
              <a:gd name="adj" fmla="val 50000"/>
            </a:avLst>
          </a:prstGeom>
          <a:solidFill>
            <a:srgbClr val="F3F0E6"/>
          </a:solidFill>
          <a:ln/>
        </p:spPr>
      </p:sp>
      <p:sp>
        <p:nvSpPr>
          <p:cNvPr id="24" name="Text 22"/>
          <p:cNvSpPr txBox="1"/>
          <p:nvPr/>
        </p:nvSpPr>
        <p:spPr>
          <a:xfrm>
            <a:off x="4264213" y="5190500"/>
            <a:ext cx="1268730"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Good ending: +1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4368820"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2 · ROUND 1 · EXERCISE 4</a:t>
            </a:r>
            <a:endParaRPr lang="en-US" sz="1200" dirty="0"/>
          </a:p>
        </p:txBody>
      </p:sp>
      <p:sp>
        <p:nvSpPr>
          <p:cNvPr id="3" name="Text 1"/>
          <p:cNvSpPr txBox="1"/>
          <p:nvPr/>
        </p:nvSpPr>
        <p:spPr>
          <a:xfrm>
            <a:off x="812810" y="1102309"/>
            <a:ext cx="4368820"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Complete the phrases</a:t>
            </a:r>
            <a:endParaRPr lang="en-US" sz="3200" dirty="0"/>
          </a:p>
        </p:txBody>
      </p:sp>
      <p:sp>
        <p:nvSpPr>
          <p:cNvPr id="4" name="Shape 2"/>
          <p:cNvSpPr/>
          <p:nvPr/>
        </p:nvSpPr>
        <p:spPr>
          <a:xfrm>
            <a:off x="8974104" y="1209020"/>
            <a:ext cx="2405055" cy="340340"/>
          </a:xfrm>
          <a:prstGeom prst="roundRect">
            <a:avLst>
              <a:gd name="adj" fmla="val 50000"/>
            </a:avLst>
          </a:prstGeom>
          <a:solidFill>
            <a:srgbClr val="14302A"/>
          </a:solidFill>
          <a:ln/>
        </p:spPr>
      </p:sp>
      <p:sp>
        <p:nvSpPr>
          <p:cNvPr id="5" name="Text 3"/>
          <p:cNvSpPr txBox="1"/>
          <p:nvPr/>
        </p:nvSpPr>
        <p:spPr>
          <a:xfrm>
            <a:off x="9126535" y="1257209"/>
            <a:ext cx="2180387"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3 minutes · one word is extra</a:t>
            </a:r>
            <a:endParaRPr lang="en-US" sz="1200" dirty="0"/>
          </a:p>
        </p:txBody>
      </p:sp>
      <p:sp>
        <p:nvSpPr>
          <p:cNvPr id="6" name="Shape 4"/>
          <p:cNvSpPr/>
          <p:nvPr/>
        </p:nvSpPr>
        <p:spPr>
          <a:xfrm>
            <a:off x="812810" y="1803288"/>
            <a:ext cx="838139" cy="386060"/>
          </a:xfrm>
          <a:prstGeom prst="roundRect">
            <a:avLst>
              <a:gd name="adj" fmla="val 49337"/>
            </a:avLst>
          </a:prstGeom>
          <a:solidFill>
            <a:srgbClr val="DFF0E6"/>
          </a:solidFill>
          <a:ln/>
        </p:spPr>
      </p:sp>
      <p:sp>
        <p:nvSpPr>
          <p:cNvPr id="7" name="Text 5"/>
          <p:cNvSpPr txBox="1"/>
          <p:nvPr/>
        </p:nvSpPr>
        <p:spPr>
          <a:xfrm>
            <a:off x="977859" y="1833738"/>
            <a:ext cx="556138"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bring</a:t>
            </a:r>
            <a:endParaRPr lang="en-US" sz="1600" dirty="0"/>
          </a:p>
        </p:txBody>
      </p:sp>
      <p:sp>
        <p:nvSpPr>
          <p:cNvPr id="8" name="Shape 6"/>
          <p:cNvSpPr/>
          <p:nvPr/>
        </p:nvSpPr>
        <p:spPr>
          <a:xfrm>
            <a:off x="1752539" y="1803288"/>
            <a:ext cx="680314" cy="386060"/>
          </a:xfrm>
          <a:prstGeom prst="roundRect">
            <a:avLst>
              <a:gd name="adj" fmla="val 49337"/>
            </a:avLst>
          </a:prstGeom>
          <a:solidFill>
            <a:srgbClr val="DFF0E6"/>
          </a:solidFill>
          <a:ln/>
        </p:spPr>
      </p:sp>
      <p:sp>
        <p:nvSpPr>
          <p:cNvPr id="9" name="Text 7"/>
          <p:cNvSpPr txBox="1"/>
          <p:nvPr/>
        </p:nvSpPr>
        <p:spPr>
          <a:xfrm>
            <a:off x="1917588" y="1833738"/>
            <a:ext cx="395204"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feel</a:t>
            </a:r>
            <a:endParaRPr lang="en-US" sz="1600" dirty="0"/>
          </a:p>
        </p:txBody>
      </p:sp>
      <p:sp>
        <p:nvSpPr>
          <p:cNvPr id="10" name="Shape 8"/>
          <p:cNvSpPr/>
          <p:nvPr/>
        </p:nvSpPr>
        <p:spPr>
          <a:xfrm>
            <a:off x="2534442" y="1803288"/>
            <a:ext cx="691469" cy="386060"/>
          </a:xfrm>
          <a:prstGeom prst="roundRect">
            <a:avLst>
              <a:gd name="adj" fmla="val 49337"/>
            </a:avLst>
          </a:prstGeom>
          <a:solidFill>
            <a:srgbClr val="DFF0E6"/>
          </a:solidFill>
          <a:ln/>
        </p:spPr>
      </p:sp>
      <p:sp>
        <p:nvSpPr>
          <p:cNvPr id="11" name="Text 9"/>
          <p:cNvSpPr txBox="1"/>
          <p:nvPr/>
        </p:nvSpPr>
        <p:spPr>
          <a:xfrm>
            <a:off x="2699583" y="1833738"/>
            <a:ext cx="406542"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just</a:t>
            </a:r>
            <a:endParaRPr lang="en-US" sz="1600" dirty="0"/>
          </a:p>
        </p:txBody>
      </p:sp>
      <p:sp>
        <p:nvSpPr>
          <p:cNvPr id="12" name="Shape 10"/>
          <p:cNvSpPr/>
          <p:nvPr/>
        </p:nvSpPr>
        <p:spPr>
          <a:xfrm>
            <a:off x="3327502" y="1803288"/>
            <a:ext cx="815553" cy="386060"/>
          </a:xfrm>
          <a:prstGeom prst="roundRect">
            <a:avLst>
              <a:gd name="adj" fmla="val 49337"/>
            </a:avLst>
          </a:prstGeom>
          <a:solidFill>
            <a:srgbClr val="DFF0E6"/>
          </a:solidFill>
          <a:ln/>
        </p:spPr>
      </p:sp>
      <p:sp>
        <p:nvSpPr>
          <p:cNvPr id="13" name="Text 11"/>
          <p:cNvSpPr txBox="1"/>
          <p:nvPr/>
        </p:nvSpPr>
        <p:spPr>
          <a:xfrm>
            <a:off x="3492642" y="1833738"/>
            <a:ext cx="533187"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mind</a:t>
            </a:r>
            <a:endParaRPr lang="en-US" sz="1600" dirty="0"/>
          </a:p>
        </p:txBody>
      </p:sp>
      <p:sp>
        <p:nvSpPr>
          <p:cNvPr id="14" name="Shape 12"/>
          <p:cNvSpPr/>
          <p:nvPr/>
        </p:nvSpPr>
        <p:spPr>
          <a:xfrm>
            <a:off x="4244645" y="1803288"/>
            <a:ext cx="578449" cy="386060"/>
          </a:xfrm>
          <a:prstGeom prst="roundRect">
            <a:avLst>
              <a:gd name="adj" fmla="val 49337"/>
            </a:avLst>
          </a:prstGeom>
          <a:solidFill>
            <a:srgbClr val="DFF0E6"/>
          </a:solidFill>
          <a:ln/>
        </p:spPr>
      </p:sp>
      <p:sp>
        <p:nvSpPr>
          <p:cNvPr id="15" name="Text 13"/>
          <p:cNvSpPr txBox="1"/>
          <p:nvPr/>
        </p:nvSpPr>
        <p:spPr>
          <a:xfrm>
            <a:off x="4409785" y="1833738"/>
            <a:ext cx="291328"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on</a:t>
            </a:r>
            <a:endParaRPr lang="en-US" sz="1600" dirty="0"/>
          </a:p>
        </p:txBody>
      </p:sp>
      <p:sp>
        <p:nvSpPr>
          <p:cNvPr id="16" name="Shape 14"/>
          <p:cNvSpPr/>
          <p:nvPr/>
        </p:nvSpPr>
        <p:spPr>
          <a:xfrm>
            <a:off x="4924684" y="1803288"/>
            <a:ext cx="1120689" cy="386060"/>
          </a:xfrm>
          <a:prstGeom prst="roundRect">
            <a:avLst>
              <a:gd name="adj" fmla="val 49337"/>
            </a:avLst>
          </a:prstGeom>
          <a:solidFill>
            <a:srgbClr val="DFF0E6"/>
          </a:solidFill>
          <a:ln/>
        </p:spPr>
      </p:sp>
      <p:sp>
        <p:nvSpPr>
          <p:cNvPr id="17" name="Text 15"/>
          <p:cNvSpPr txBox="1"/>
          <p:nvPr/>
        </p:nvSpPr>
        <p:spPr>
          <a:xfrm>
            <a:off x="5089825" y="1833738"/>
            <a:ext cx="844357"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perhaps</a:t>
            </a:r>
            <a:endParaRPr lang="en-US" sz="1600" dirty="0"/>
          </a:p>
        </p:txBody>
      </p:sp>
      <p:sp>
        <p:nvSpPr>
          <p:cNvPr id="18" name="Shape 16"/>
          <p:cNvSpPr/>
          <p:nvPr/>
        </p:nvSpPr>
        <p:spPr>
          <a:xfrm>
            <a:off x="6146963" y="1803288"/>
            <a:ext cx="1041867" cy="386060"/>
          </a:xfrm>
          <a:prstGeom prst="roundRect">
            <a:avLst>
              <a:gd name="adj" fmla="val 49337"/>
            </a:avLst>
          </a:prstGeom>
          <a:solidFill>
            <a:srgbClr val="DFF0E6"/>
          </a:solidFill>
          <a:ln/>
        </p:spPr>
      </p:sp>
      <p:sp>
        <p:nvSpPr>
          <p:cNvPr id="19" name="Text 17"/>
          <p:cNvSpPr txBox="1"/>
          <p:nvPr/>
        </p:nvSpPr>
        <p:spPr>
          <a:xfrm>
            <a:off x="6312103" y="1833738"/>
            <a:ext cx="764073"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resolve</a:t>
            </a:r>
            <a:endParaRPr lang="en-US" sz="1600" dirty="0"/>
          </a:p>
        </p:txBody>
      </p:sp>
      <p:sp>
        <p:nvSpPr>
          <p:cNvPr id="20" name="Shape 18"/>
          <p:cNvSpPr/>
          <p:nvPr/>
        </p:nvSpPr>
        <p:spPr>
          <a:xfrm>
            <a:off x="7290511" y="1803288"/>
            <a:ext cx="996147" cy="386060"/>
          </a:xfrm>
          <a:prstGeom prst="roundRect">
            <a:avLst>
              <a:gd name="adj" fmla="val 49337"/>
            </a:avLst>
          </a:prstGeom>
          <a:solidFill>
            <a:srgbClr val="DFF0E6"/>
          </a:solidFill>
          <a:ln/>
        </p:spPr>
      </p:sp>
      <p:sp>
        <p:nvSpPr>
          <p:cNvPr id="21" name="Text 19"/>
          <p:cNvSpPr txBox="1"/>
          <p:nvPr/>
        </p:nvSpPr>
        <p:spPr>
          <a:xfrm>
            <a:off x="7455560" y="1833738"/>
            <a:ext cx="717347"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should</a:t>
            </a:r>
            <a:endParaRPr lang="en-US" sz="1600" dirty="0"/>
          </a:p>
        </p:txBody>
      </p:sp>
      <p:sp>
        <p:nvSpPr>
          <p:cNvPr id="22" name="Shape 20"/>
          <p:cNvSpPr/>
          <p:nvPr/>
        </p:nvSpPr>
        <p:spPr>
          <a:xfrm>
            <a:off x="8388248" y="1803288"/>
            <a:ext cx="815553" cy="386060"/>
          </a:xfrm>
          <a:prstGeom prst="roundRect">
            <a:avLst>
              <a:gd name="adj" fmla="val 49337"/>
            </a:avLst>
          </a:prstGeom>
          <a:solidFill>
            <a:srgbClr val="DFF0E6"/>
          </a:solidFill>
          <a:ln/>
        </p:spPr>
      </p:sp>
      <p:sp>
        <p:nvSpPr>
          <p:cNvPr id="23" name="Text 21"/>
          <p:cNvSpPr txBox="1"/>
          <p:nvPr/>
        </p:nvSpPr>
        <p:spPr>
          <a:xfrm>
            <a:off x="8553389" y="1833738"/>
            <a:ext cx="533187"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word</a:t>
            </a:r>
            <a:endParaRPr lang="en-US" sz="1600" dirty="0"/>
          </a:p>
        </p:txBody>
      </p:sp>
      <p:sp>
        <p:nvSpPr>
          <p:cNvPr id="24" name="Shape 22"/>
          <p:cNvSpPr/>
          <p:nvPr/>
        </p:nvSpPr>
        <p:spPr>
          <a:xfrm>
            <a:off x="812810" y="2443368"/>
            <a:ext cx="5232380" cy="609630"/>
          </a:xfrm>
          <a:prstGeom prst="roundRect">
            <a:avLst>
              <a:gd name="adj" fmla="val 16664"/>
            </a:avLst>
          </a:prstGeom>
          <a:solidFill>
            <a:srgbClr val="FFFDF8"/>
          </a:solidFill>
          <a:ln w="12700">
            <a:solidFill>
              <a:srgbClr val="E3DFD2"/>
            </a:solidFill>
            <a:prstDash val="solid"/>
          </a:ln>
        </p:spPr>
      </p:sp>
      <p:sp>
        <p:nvSpPr>
          <p:cNvPr id="25" name="Shape 23"/>
          <p:cNvSpPr/>
          <p:nvPr/>
        </p:nvSpPr>
        <p:spPr>
          <a:xfrm>
            <a:off x="1003280" y="2570378"/>
            <a:ext cx="355610" cy="355610"/>
          </a:xfrm>
          <a:prstGeom prst="ellipse">
            <a:avLst/>
          </a:prstGeom>
          <a:solidFill>
            <a:srgbClr val="14302A"/>
          </a:solidFill>
          <a:ln/>
        </p:spPr>
      </p:sp>
      <p:sp>
        <p:nvSpPr>
          <p:cNvPr id="26" name="Text 24"/>
          <p:cNvSpPr txBox="1"/>
          <p:nvPr/>
        </p:nvSpPr>
        <p:spPr>
          <a:xfrm>
            <a:off x="980694" y="257037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27" name="Text 25"/>
          <p:cNvSpPr txBox="1"/>
          <p:nvPr/>
        </p:nvSpPr>
        <p:spPr>
          <a:xfrm>
            <a:off x="1511320" y="258555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Can I have a ______ with you about …?</a:t>
            </a:r>
            <a:endParaRPr lang="en-US" sz="1600" dirty="0"/>
          </a:p>
        </p:txBody>
      </p:sp>
      <p:sp>
        <p:nvSpPr>
          <p:cNvPr id="28" name="Shape 26"/>
          <p:cNvSpPr/>
          <p:nvPr/>
        </p:nvSpPr>
        <p:spPr>
          <a:xfrm>
            <a:off x="6146780" y="2443368"/>
            <a:ext cx="5232380" cy="609630"/>
          </a:xfrm>
          <a:prstGeom prst="roundRect">
            <a:avLst>
              <a:gd name="adj" fmla="val 16664"/>
            </a:avLst>
          </a:prstGeom>
          <a:solidFill>
            <a:srgbClr val="FFFDF8"/>
          </a:solidFill>
          <a:ln w="12700">
            <a:solidFill>
              <a:srgbClr val="E3DFD2"/>
            </a:solidFill>
            <a:prstDash val="solid"/>
          </a:ln>
        </p:spPr>
      </p:sp>
      <p:sp>
        <p:nvSpPr>
          <p:cNvPr id="29" name="Shape 27"/>
          <p:cNvSpPr/>
          <p:nvPr/>
        </p:nvSpPr>
        <p:spPr>
          <a:xfrm>
            <a:off x="6337341" y="2570378"/>
            <a:ext cx="355610" cy="355610"/>
          </a:xfrm>
          <a:prstGeom prst="ellipse">
            <a:avLst/>
          </a:prstGeom>
          <a:solidFill>
            <a:srgbClr val="14302A"/>
          </a:solidFill>
          <a:ln/>
        </p:spPr>
      </p:sp>
      <p:sp>
        <p:nvSpPr>
          <p:cNvPr id="30" name="Text 28"/>
          <p:cNvSpPr txBox="1"/>
          <p:nvPr/>
        </p:nvSpPr>
        <p:spPr>
          <a:xfrm>
            <a:off x="6314664" y="257037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2</a:t>
            </a:r>
            <a:endParaRPr lang="en-US" sz="1200" dirty="0"/>
          </a:p>
        </p:txBody>
      </p:sp>
      <p:sp>
        <p:nvSpPr>
          <p:cNvPr id="31" name="Text 29"/>
          <p:cNvSpPr txBox="1"/>
          <p:nvPr/>
        </p:nvSpPr>
        <p:spPr>
          <a:xfrm>
            <a:off x="6845290" y="258555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Well, it's ______ that …</a:t>
            </a:r>
            <a:endParaRPr lang="en-US" sz="1600" dirty="0"/>
          </a:p>
        </p:txBody>
      </p:sp>
      <p:sp>
        <p:nvSpPr>
          <p:cNvPr id="32" name="Shape 30"/>
          <p:cNvSpPr/>
          <p:nvPr/>
        </p:nvSpPr>
        <p:spPr>
          <a:xfrm>
            <a:off x="812810" y="3154589"/>
            <a:ext cx="5232380" cy="609630"/>
          </a:xfrm>
          <a:prstGeom prst="roundRect">
            <a:avLst>
              <a:gd name="adj" fmla="val 16664"/>
            </a:avLst>
          </a:prstGeom>
          <a:solidFill>
            <a:srgbClr val="FFFDF8"/>
          </a:solidFill>
          <a:ln w="12700">
            <a:solidFill>
              <a:srgbClr val="E3DFD2"/>
            </a:solidFill>
            <a:prstDash val="solid"/>
          </a:ln>
        </p:spPr>
      </p:sp>
      <p:sp>
        <p:nvSpPr>
          <p:cNvPr id="33" name="Shape 31"/>
          <p:cNvSpPr/>
          <p:nvPr/>
        </p:nvSpPr>
        <p:spPr>
          <a:xfrm>
            <a:off x="1003280" y="3281599"/>
            <a:ext cx="355610" cy="355610"/>
          </a:xfrm>
          <a:prstGeom prst="ellipse">
            <a:avLst/>
          </a:prstGeom>
          <a:solidFill>
            <a:srgbClr val="14302A"/>
          </a:solidFill>
          <a:ln/>
        </p:spPr>
      </p:sp>
      <p:sp>
        <p:nvSpPr>
          <p:cNvPr id="34" name="Text 32"/>
          <p:cNvSpPr txBox="1"/>
          <p:nvPr/>
        </p:nvSpPr>
        <p:spPr>
          <a:xfrm>
            <a:off x="980694" y="3281599"/>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3</a:t>
            </a:r>
            <a:endParaRPr lang="en-US" sz="1200" dirty="0"/>
          </a:p>
        </p:txBody>
      </p:sp>
      <p:sp>
        <p:nvSpPr>
          <p:cNvPr id="35" name="Text 33"/>
          <p:cNvSpPr txBox="1"/>
          <p:nvPr/>
        </p:nvSpPr>
        <p:spPr>
          <a:xfrm>
            <a:off x="1511320" y="3296778"/>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What did you have in ______ …?</a:t>
            </a:r>
            <a:endParaRPr lang="en-US" sz="1600" dirty="0"/>
          </a:p>
        </p:txBody>
      </p:sp>
      <p:sp>
        <p:nvSpPr>
          <p:cNvPr id="36" name="Shape 34"/>
          <p:cNvSpPr/>
          <p:nvPr/>
        </p:nvSpPr>
        <p:spPr>
          <a:xfrm>
            <a:off x="6146780" y="3154589"/>
            <a:ext cx="5232380" cy="609630"/>
          </a:xfrm>
          <a:prstGeom prst="roundRect">
            <a:avLst>
              <a:gd name="adj" fmla="val 16664"/>
            </a:avLst>
          </a:prstGeom>
          <a:solidFill>
            <a:srgbClr val="FFFDF8"/>
          </a:solidFill>
          <a:ln w="12700">
            <a:solidFill>
              <a:srgbClr val="E3DFD2"/>
            </a:solidFill>
            <a:prstDash val="solid"/>
          </a:ln>
        </p:spPr>
      </p:sp>
      <p:sp>
        <p:nvSpPr>
          <p:cNvPr id="37" name="Shape 35"/>
          <p:cNvSpPr/>
          <p:nvPr/>
        </p:nvSpPr>
        <p:spPr>
          <a:xfrm>
            <a:off x="6337341" y="3281599"/>
            <a:ext cx="355610" cy="355610"/>
          </a:xfrm>
          <a:prstGeom prst="ellipse">
            <a:avLst/>
          </a:prstGeom>
          <a:solidFill>
            <a:srgbClr val="14302A"/>
          </a:solidFill>
          <a:ln/>
        </p:spPr>
      </p:sp>
      <p:sp>
        <p:nvSpPr>
          <p:cNvPr id="38" name="Text 36"/>
          <p:cNvSpPr txBox="1"/>
          <p:nvPr/>
        </p:nvSpPr>
        <p:spPr>
          <a:xfrm>
            <a:off x="6314664" y="3281599"/>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4</a:t>
            </a:r>
            <a:endParaRPr lang="en-US" sz="1200" dirty="0"/>
          </a:p>
        </p:txBody>
      </p:sp>
      <p:sp>
        <p:nvSpPr>
          <p:cNvPr id="39" name="Text 37"/>
          <p:cNvSpPr txBox="1"/>
          <p:nvPr/>
        </p:nvSpPr>
        <p:spPr>
          <a:xfrm>
            <a:off x="6845290" y="3296778"/>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 thought ______ we could …</a:t>
            </a:r>
            <a:endParaRPr lang="en-US" sz="1600" dirty="0"/>
          </a:p>
        </p:txBody>
      </p:sp>
      <p:sp>
        <p:nvSpPr>
          <p:cNvPr id="40" name="Shape 38"/>
          <p:cNvSpPr/>
          <p:nvPr/>
        </p:nvSpPr>
        <p:spPr>
          <a:xfrm>
            <a:off x="812810" y="3865717"/>
            <a:ext cx="5232380" cy="609630"/>
          </a:xfrm>
          <a:prstGeom prst="roundRect">
            <a:avLst>
              <a:gd name="adj" fmla="val 16664"/>
            </a:avLst>
          </a:prstGeom>
          <a:solidFill>
            <a:srgbClr val="FFFDF8"/>
          </a:solidFill>
          <a:ln w="12700">
            <a:solidFill>
              <a:srgbClr val="E3DFD2"/>
            </a:solidFill>
            <a:prstDash val="solid"/>
          </a:ln>
        </p:spPr>
      </p:sp>
      <p:sp>
        <p:nvSpPr>
          <p:cNvPr id="41" name="Shape 39"/>
          <p:cNvSpPr/>
          <p:nvPr/>
        </p:nvSpPr>
        <p:spPr>
          <a:xfrm>
            <a:off x="1003280" y="3992728"/>
            <a:ext cx="355610" cy="355610"/>
          </a:xfrm>
          <a:prstGeom prst="ellipse">
            <a:avLst/>
          </a:prstGeom>
          <a:solidFill>
            <a:srgbClr val="14302A"/>
          </a:solidFill>
          <a:ln/>
        </p:spPr>
      </p:sp>
      <p:sp>
        <p:nvSpPr>
          <p:cNvPr id="42" name="Text 40"/>
          <p:cNvSpPr txBox="1"/>
          <p:nvPr/>
        </p:nvSpPr>
        <p:spPr>
          <a:xfrm>
            <a:off x="980694" y="399272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5</a:t>
            </a:r>
            <a:endParaRPr lang="en-US" sz="1200" dirty="0"/>
          </a:p>
        </p:txBody>
      </p:sp>
      <p:sp>
        <p:nvSpPr>
          <p:cNvPr id="43" name="Text 41"/>
          <p:cNvSpPr txBox="1"/>
          <p:nvPr/>
        </p:nvSpPr>
        <p:spPr>
          <a:xfrm>
            <a:off x="1511320" y="4007998"/>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must ______ that …</a:t>
            </a:r>
            <a:endParaRPr lang="en-US" sz="1600" dirty="0"/>
          </a:p>
        </p:txBody>
      </p:sp>
      <p:sp>
        <p:nvSpPr>
          <p:cNvPr id="44" name="Shape 42"/>
          <p:cNvSpPr/>
          <p:nvPr/>
        </p:nvSpPr>
        <p:spPr>
          <a:xfrm>
            <a:off x="6146780" y="3865717"/>
            <a:ext cx="5232380" cy="609630"/>
          </a:xfrm>
          <a:prstGeom prst="roundRect">
            <a:avLst>
              <a:gd name="adj" fmla="val 16664"/>
            </a:avLst>
          </a:prstGeom>
          <a:solidFill>
            <a:srgbClr val="FFFDF8"/>
          </a:solidFill>
          <a:ln w="12700">
            <a:solidFill>
              <a:srgbClr val="E3DFD2"/>
            </a:solidFill>
            <a:prstDash val="solid"/>
          </a:ln>
        </p:spPr>
      </p:sp>
      <p:sp>
        <p:nvSpPr>
          <p:cNvPr id="45" name="Shape 43"/>
          <p:cNvSpPr/>
          <p:nvPr/>
        </p:nvSpPr>
        <p:spPr>
          <a:xfrm>
            <a:off x="6337341" y="3992728"/>
            <a:ext cx="355610" cy="355610"/>
          </a:xfrm>
          <a:prstGeom prst="ellipse">
            <a:avLst/>
          </a:prstGeom>
          <a:solidFill>
            <a:srgbClr val="14302A"/>
          </a:solidFill>
          <a:ln/>
        </p:spPr>
      </p:sp>
      <p:sp>
        <p:nvSpPr>
          <p:cNvPr id="46" name="Text 44"/>
          <p:cNvSpPr txBox="1"/>
          <p:nvPr/>
        </p:nvSpPr>
        <p:spPr>
          <a:xfrm>
            <a:off x="6314664" y="399272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6</a:t>
            </a:r>
            <a:endParaRPr lang="en-US" sz="1200" dirty="0"/>
          </a:p>
        </p:txBody>
      </p:sp>
      <p:sp>
        <p:nvSpPr>
          <p:cNvPr id="47" name="Text 45"/>
          <p:cNvSpPr txBox="1"/>
          <p:nvPr/>
        </p:nvSpPr>
        <p:spPr>
          <a:xfrm>
            <a:off x="6845290" y="4007998"/>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 didn't want to ______ it up, but …</a:t>
            </a:r>
            <a:endParaRPr lang="en-US" sz="1600" dirty="0"/>
          </a:p>
        </p:txBody>
      </p:sp>
      <p:sp>
        <p:nvSpPr>
          <p:cNvPr id="48" name="Shape 46"/>
          <p:cNvSpPr/>
          <p:nvPr/>
        </p:nvSpPr>
        <p:spPr>
          <a:xfrm>
            <a:off x="812810" y="4576938"/>
            <a:ext cx="5232380" cy="609630"/>
          </a:xfrm>
          <a:prstGeom prst="roundRect">
            <a:avLst>
              <a:gd name="adj" fmla="val 16664"/>
            </a:avLst>
          </a:prstGeom>
          <a:solidFill>
            <a:srgbClr val="FFFDF8"/>
          </a:solidFill>
          <a:ln w="12700">
            <a:solidFill>
              <a:srgbClr val="E3DFD2"/>
            </a:solidFill>
            <a:prstDash val="solid"/>
          </a:ln>
        </p:spPr>
      </p:sp>
      <p:sp>
        <p:nvSpPr>
          <p:cNvPr id="49" name="Shape 47"/>
          <p:cNvSpPr/>
          <p:nvPr/>
        </p:nvSpPr>
        <p:spPr>
          <a:xfrm>
            <a:off x="1003280" y="4703948"/>
            <a:ext cx="355610" cy="355610"/>
          </a:xfrm>
          <a:prstGeom prst="ellipse">
            <a:avLst/>
          </a:prstGeom>
          <a:solidFill>
            <a:srgbClr val="14302A"/>
          </a:solidFill>
          <a:ln/>
        </p:spPr>
      </p:sp>
      <p:sp>
        <p:nvSpPr>
          <p:cNvPr id="50" name="Text 48"/>
          <p:cNvSpPr txBox="1"/>
          <p:nvPr/>
        </p:nvSpPr>
        <p:spPr>
          <a:xfrm>
            <a:off x="980694" y="470394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7</a:t>
            </a:r>
            <a:endParaRPr lang="en-US" sz="1200" dirty="0"/>
          </a:p>
        </p:txBody>
      </p:sp>
      <p:sp>
        <p:nvSpPr>
          <p:cNvPr id="51" name="Text 49"/>
          <p:cNvSpPr txBox="1"/>
          <p:nvPr/>
        </p:nvSpPr>
        <p:spPr>
          <a:xfrm>
            <a:off x="1511320" y="471912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______ have said something earlier.</a:t>
            </a:r>
            <a:endParaRPr lang="en-US" sz="1600" dirty="0"/>
          </a:p>
        </p:txBody>
      </p:sp>
      <p:sp>
        <p:nvSpPr>
          <p:cNvPr id="52" name="Shape 50"/>
          <p:cNvSpPr/>
          <p:nvPr/>
        </p:nvSpPr>
        <p:spPr>
          <a:xfrm>
            <a:off x="6146780" y="4576938"/>
            <a:ext cx="5232380" cy="609630"/>
          </a:xfrm>
          <a:prstGeom prst="roundRect">
            <a:avLst>
              <a:gd name="adj" fmla="val 16664"/>
            </a:avLst>
          </a:prstGeom>
          <a:solidFill>
            <a:srgbClr val="FFFDF8"/>
          </a:solidFill>
          <a:ln w="12700">
            <a:solidFill>
              <a:srgbClr val="E3DFD2"/>
            </a:solidFill>
            <a:prstDash val="solid"/>
          </a:ln>
        </p:spPr>
      </p:sp>
      <p:sp>
        <p:nvSpPr>
          <p:cNvPr id="53" name="Shape 51"/>
          <p:cNvSpPr/>
          <p:nvPr/>
        </p:nvSpPr>
        <p:spPr>
          <a:xfrm>
            <a:off x="6337341" y="4703948"/>
            <a:ext cx="355610" cy="355610"/>
          </a:xfrm>
          <a:prstGeom prst="ellipse">
            <a:avLst/>
          </a:prstGeom>
          <a:solidFill>
            <a:srgbClr val="14302A"/>
          </a:solidFill>
          <a:ln/>
        </p:spPr>
      </p:sp>
      <p:sp>
        <p:nvSpPr>
          <p:cNvPr id="54" name="Text 52"/>
          <p:cNvSpPr txBox="1"/>
          <p:nvPr/>
        </p:nvSpPr>
        <p:spPr>
          <a:xfrm>
            <a:off x="6314664" y="470394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8</a:t>
            </a:r>
            <a:endParaRPr lang="en-US" sz="1200" dirty="0"/>
          </a:p>
        </p:txBody>
      </p:sp>
      <p:sp>
        <p:nvSpPr>
          <p:cNvPr id="55" name="Text 53"/>
          <p:cNvSpPr txBox="1"/>
          <p:nvPr/>
        </p:nvSpPr>
        <p:spPr>
          <a:xfrm>
            <a:off x="6845290" y="471912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Could we possibly agree ______ …?</a:t>
            </a:r>
            <a:endParaRPr lang="en-US" sz="1600" dirty="0"/>
          </a:p>
        </p:txBody>
      </p:sp>
      <p:sp>
        <p:nvSpPr>
          <p:cNvPr id="56" name="Text 5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57" name="Text 5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4498116"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2 · ANSWERS</a:t>
            </a:r>
            <a:endParaRPr lang="en-US" sz="1200" dirty="0"/>
          </a:p>
        </p:txBody>
      </p:sp>
      <p:sp>
        <p:nvSpPr>
          <p:cNvPr id="3" name="Text 1"/>
          <p:cNvSpPr txBox="1"/>
          <p:nvPr/>
        </p:nvSpPr>
        <p:spPr>
          <a:xfrm>
            <a:off x="812810" y="1102309"/>
            <a:ext cx="4498116"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Your diplomatic toolkit</a:t>
            </a:r>
            <a:endParaRPr lang="en-US" sz="3200" dirty="0"/>
          </a:p>
        </p:txBody>
      </p:sp>
      <p:sp>
        <p:nvSpPr>
          <p:cNvPr id="4" name="Shape 2"/>
          <p:cNvSpPr/>
          <p:nvPr/>
        </p:nvSpPr>
        <p:spPr>
          <a:xfrm>
            <a:off x="9363456" y="1209020"/>
            <a:ext cx="2015703" cy="340340"/>
          </a:xfrm>
          <a:prstGeom prst="roundRect">
            <a:avLst>
              <a:gd name="adj" fmla="val 50000"/>
            </a:avLst>
          </a:prstGeom>
          <a:solidFill>
            <a:srgbClr val="DFF0E6"/>
          </a:solidFill>
          <a:ln/>
        </p:spPr>
      </p:sp>
      <p:sp>
        <p:nvSpPr>
          <p:cNvPr id="5" name="Text 3"/>
          <p:cNvSpPr txBox="1"/>
          <p:nvPr/>
        </p:nvSpPr>
        <p:spPr>
          <a:xfrm>
            <a:off x="9515886" y="1257209"/>
            <a:ext cx="1783263"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The extra word: resolve</a:t>
            </a:r>
            <a:endParaRPr lang="en-US" sz="1200" dirty="0"/>
          </a:p>
        </p:txBody>
      </p:sp>
      <p:sp>
        <p:nvSpPr>
          <p:cNvPr id="6" name="Shape 4"/>
          <p:cNvSpPr/>
          <p:nvPr/>
        </p:nvSpPr>
        <p:spPr>
          <a:xfrm>
            <a:off x="812810" y="1803288"/>
            <a:ext cx="5219670" cy="1214049"/>
          </a:xfrm>
          <a:prstGeom prst="roundRect">
            <a:avLst>
              <a:gd name="adj" fmla="val 9415"/>
            </a:avLst>
          </a:prstGeom>
          <a:solidFill>
            <a:srgbClr val="FFFDF8"/>
          </a:solidFill>
          <a:ln w="12700">
            <a:solidFill>
              <a:srgbClr val="E3DFD2"/>
            </a:solidFill>
            <a:prstDash val="solid"/>
          </a:ln>
        </p:spPr>
      </p:sp>
      <p:sp>
        <p:nvSpPr>
          <p:cNvPr id="7" name="Text 5"/>
          <p:cNvSpPr txBox="1"/>
          <p:nvPr/>
        </p:nvSpPr>
        <p:spPr>
          <a:xfrm>
            <a:off x="1028700" y="1953158"/>
            <a:ext cx="49217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START THE TALK</a:t>
            </a:r>
            <a:endParaRPr lang="en-US" sz="1200" dirty="0"/>
          </a:p>
        </p:txBody>
      </p:sp>
      <p:sp>
        <p:nvSpPr>
          <p:cNvPr id="8" name="Text 6"/>
          <p:cNvSpPr txBox="1"/>
          <p:nvPr/>
        </p:nvSpPr>
        <p:spPr>
          <a:xfrm>
            <a:off x="1028700" y="2212208"/>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1 · Can I have a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word</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with you about…?</a:t>
            </a:r>
            <a:endParaRPr lang="en-US" sz="1600" dirty="0"/>
          </a:p>
        </p:txBody>
      </p:sp>
      <p:sp>
        <p:nvSpPr>
          <p:cNvPr id="9" name="Text 7"/>
          <p:cNvSpPr txBox="1"/>
          <p:nvPr/>
        </p:nvSpPr>
        <p:spPr>
          <a:xfrm>
            <a:off x="1028700" y="2547427"/>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6 · I didn't want to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bring</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it up, but…</a:t>
            </a:r>
            <a:endParaRPr lang="en-US" sz="1600" dirty="0"/>
          </a:p>
        </p:txBody>
      </p:sp>
      <p:sp>
        <p:nvSpPr>
          <p:cNvPr id="10" name="Shape 8"/>
          <p:cNvSpPr/>
          <p:nvPr/>
        </p:nvSpPr>
        <p:spPr>
          <a:xfrm>
            <a:off x="6159490" y="1803288"/>
            <a:ext cx="5219670" cy="1214049"/>
          </a:xfrm>
          <a:prstGeom prst="roundRect">
            <a:avLst>
              <a:gd name="adj" fmla="val 9415"/>
            </a:avLst>
          </a:prstGeom>
          <a:solidFill>
            <a:srgbClr val="FFFDF8"/>
          </a:solidFill>
          <a:ln w="12700">
            <a:solidFill>
              <a:srgbClr val="E3DFD2"/>
            </a:solidFill>
            <a:prstDash val="solid"/>
          </a:ln>
        </p:spPr>
      </p:sp>
      <p:sp>
        <p:nvSpPr>
          <p:cNvPr id="11" name="Text 9"/>
          <p:cNvSpPr txBox="1"/>
          <p:nvPr/>
        </p:nvSpPr>
        <p:spPr>
          <a:xfrm>
            <a:off x="6375380" y="1953158"/>
            <a:ext cx="49217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EXPLAIN THE PROBLEM GENTLY</a:t>
            </a:r>
            <a:endParaRPr lang="en-US" sz="1200" dirty="0"/>
          </a:p>
        </p:txBody>
      </p:sp>
      <p:sp>
        <p:nvSpPr>
          <p:cNvPr id="12" name="Text 10"/>
          <p:cNvSpPr txBox="1"/>
          <p:nvPr/>
        </p:nvSpPr>
        <p:spPr>
          <a:xfrm>
            <a:off x="6375380" y="2212208"/>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2 · Well, it's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just</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that…</a:t>
            </a:r>
            <a:endParaRPr lang="en-US" sz="1600" dirty="0"/>
          </a:p>
        </p:txBody>
      </p:sp>
      <p:sp>
        <p:nvSpPr>
          <p:cNvPr id="13" name="Shape 11"/>
          <p:cNvSpPr/>
          <p:nvPr/>
        </p:nvSpPr>
        <p:spPr>
          <a:xfrm>
            <a:off x="812810" y="3144347"/>
            <a:ext cx="5219670" cy="878738"/>
          </a:xfrm>
          <a:prstGeom prst="roundRect">
            <a:avLst>
              <a:gd name="adj" fmla="val 13007"/>
            </a:avLst>
          </a:prstGeom>
          <a:solidFill>
            <a:srgbClr val="FFFDF8"/>
          </a:solidFill>
          <a:ln w="12700">
            <a:solidFill>
              <a:srgbClr val="E3DFD2"/>
            </a:solidFill>
            <a:prstDash val="solid"/>
          </a:ln>
        </p:spPr>
      </p:sp>
      <p:sp>
        <p:nvSpPr>
          <p:cNvPr id="14" name="Text 12"/>
          <p:cNvSpPr txBox="1"/>
          <p:nvPr/>
        </p:nvSpPr>
        <p:spPr>
          <a:xfrm>
            <a:off x="1028700" y="3294217"/>
            <a:ext cx="49217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SHOW EMPATHY</a:t>
            </a:r>
            <a:endParaRPr lang="en-US" sz="1200" dirty="0"/>
          </a:p>
        </p:txBody>
      </p:sp>
      <p:sp>
        <p:nvSpPr>
          <p:cNvPr id="15" name="Text 13"/>
          <p:cNvSpPr txBox="1"/>
          <p:nvPr/>
        </p:nvSpPr>
        <p:spPr>
          <a:xfrm>
            <a:off x="1028700" y="3553267"/>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5 · You must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feel</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that…</a:t>
            </a:r>
            <a:endParaRPr lang="en-US" sz="1600" dirty="0"/>
          </a:p>
        </p:txBody>
      </p:sp>
      <p:sp>
        <p:nvSpPr>
          <p:cNvPr id="16" name="Shape 14"/>
          <p:cNvSpPr/>
          <p:nvPr/>
        </p:nvSpPr>
        <p:spPr>
          <a:xfrm>
            <a:off x="6159490" y="3144347"/>
            <a:ext cx="5219670" cy="878738"/>
          </a:xfrm>
          <a:prstGeom prst="roundRect">
            <a:avLst>
              <a:gd name="adj" fmla="val 13007"/>
            </a:avLst>
          </a:prstGeom>
          <a:solidFill>
            <a:srgbClr val="FFFDF8"/>
          </a:solidFill>
          <a:ln w="12700">
            <a:solidFill>
              <a:srgbClr val="E3DFD2"/>
            </a:solidFill>
            <a:prstDash val="solid"/>
          </a:ln>
        </p:spPr>
      </p:sp>
      <p:sp>
        <p:nvSpPr>
          <p:cNvPr id="17" name="Text 15"/>
          <p:cNvSpPr txBox="1"/>
          <p:nvPr/>
        </p:nvSpPr>
        <p:spPr>
          <a:xfrm>
            <a:off x="6375380" y="3294217"/>
            <a:ext cx="49217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ASK FOR IDEAS</a:t>
            </a:r>
            <a:endParaRPr lang="en-US" sz="1200" dirty="0"/>
          </a:p>
        </p:txBody>
      </p:sp>
      <p:sp>
        <p:nvSpPr>
          <p:cNvPr id="18" name="Text 16"/>
          <p:cNvSpPr txBox="1"/>
          <p:nvPr/>
        </p:nvSpPr>
        <p:spPr>
          <a:xfrm>
            <a:off x="6375380" y="3553267"/>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3 · What did you have in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mind</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812810" y="4150096"/>
            <a:ext cx="5219670" cy="1214049"/>
          </a:xfrm>
          <a:prstGeom prst="roundRect">
            <a:avLst>
              <a:gd name="adj" fmla="val 9415"/>
            </a:avLst>
          </a:prstGeom>
          <a:solidFill>
            <a:srgbClr val="FFFDF8"/>
          </a:solidFill>
          <a:ln w="12700">
            <a:solidFill>
              <a:srgbClr val="E3DFD2"/>
            </a:solidFill>
            <a:prstDash val="solid"/>
          </a:ln>
        </p:spPr>
      </p:sp>
      <p:sp>
        <p:nvSpPr>
          <p:cNvPr id="20" name="Text 18"/>
          <p:cNvSpPr txBox="1"/>
          <p:nvPr/>
        </p:nvSpPr>
        <p:spPr>
          <a:xfrm>
            <a:off x="1028700" y="4299966"/>
            <a:ext cx="49217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SUGGEST AND AGREE</a:t>
            </a:r>
            <a:endParaRPr lang="en-US" sz="1200" dirty="0"/>
          </a:p>
        </p:txBody>
      </p:sp>
      <p:sp>
        <p:nvSpPr>
          <p:cNvPr id="21" name="Text 19"/>
          <p:cNvSpPr txBox="1"/>
          <p:nvPr/>
        </p:nvSpPr>
        <p:spPr>
          <a:xfrm>
            <a:off x="1028700" y="4559016"/>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4 · I thought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perhaps</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we could…</a:t>
            </a:r>
            <a:endParaRPr lang="en-US" sz="1600" dirty="0"/>
          </a:p>
        </p:txBody>
      </p:sp>
      <p:sp>
        <p:nvSpPr>
          <p:cNvPr id="22" name="Text 20"/>
          <p:cNvSpPr txBox="1"/>
          <p:nvPr/>
        </p:nvSpPr>
        <p:spPr>
          <a:xfrm>
            <a:off x="1028700" y="4894326"/>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8 · Could we possibly agree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on</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6159490" y="4150096"/>
            <a:ext cx="5219670" cy="1214049"/>
          </a:xfrm>
          <a:prstGeom prst="roundRect">
            <a:avLst>
              <a:gd name="adj" fmla="val 9415"/>
            </a:avLst>
          </a:prstGeom>
          <a:solidFill>
            <a:srgbClr val="FFFDF8"/>
          </a:solidFill>
          <a:ln w="12700">
            <a:solidFill>
              <a:srgbClr val="E3DFD2"/>
            </a:solidFill>
            <a:prstDash val="solid"/>
          </a:ln>
        </p:spPr>
      </p:sp>
      <p:sp>
        <p:nvSpPr>
          <p:cNvPr id="24" name="Text 22"/>
          <p:cNvSpPr txBox="1"/>
          <p:nvPr/>
        </p:nvSpPr>
        <p:spPr>
          <a:xfrm>
            <a:off x="6375380" y="4299966"/>
            <a:ext cx="49217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REACT HONESTLY</a:t>
            </a:r>
            <a:endParaRPr lang="en-US" sz="1200" dirty="0"/>
          </a:p>
        </p:txBody>
      </p:sp>
      <p:sp>
        <p:nvSpPr>
          <p:cNvPr id="25" name="Text 23"/>
          <p:cNvSpPr txBox="1"/>
          <p:nvPr/>
        </p:nvSpPr>
        <p:spPr>
          <a:xfrm>
            <a:off x="6375380" y="4559016"/>
            <a:ext cx="492175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7 · You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should</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have said something earlier.</a:t>
            </a:r>
            <a:endParaRPr lang="en-US" sz="1600" dirty="0"/>
          </a:p>
        </p:txBody>
      </p:sp>
      <p:sp>
        <p:nvSpPr>
          <p:cNvPr id="26" name="Text 2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27" name="Text 2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782714"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2 · ROUND 2</a:t>
            </a:r>
            <a:endParaRPr lang="en-US" sz="1200" dirty="0"/>
          </a:p>
        </p:txBody>
      </p:sp>
      <p:sp>
        <p:nvSpPr>
          <p:cNvPr id="3" name="Text 1"/>
          <p:cNvSpPr txBox="1"/>
          <p:nvPr/>
        </p:nvSpPr>
        <p:spPr>
          <a:xfrm>
            <a:off x="812810" y="1102309"/>
            <a:ext cx="1782714"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Finish it!</a:t>
            </a:r>
            <a:endParaRPr lang="en-US" sz="3200" dirty="0"/>
          </a:p>
        </p:txBody>
      </p:sp>
      <p:sp>
        <p:nvSpPr>
          <p:cNvPr id="4" name="Shape 2"/>
          <p:cNvSpPr/>
          <p:nvPr/>
        </p:nvSpPr>
        <p:spPr>
          <a:xfrm>
            <a:off x="9410822" y="1209020"/>
            <a:ext cx="1968429" cy="340340"/>
          </a:xfrm>
          <a:prstGeom prst="roundRect">
            <a:avLst>
              <a:gd name="adj" fmla="val 50000"/>
            </a:avLst>
          </a:prstGeom>
          <a:solidFill>
            <a:srgbClr val="14302A"/>
          </a:solidFill>
          <a:ln/>
        </p:spPr>
      </p:sp>
      <p:sp>
        <p:nvSpPr>
          <p:cNvPr id="5" name="Text 3"/>
          <p:cNvSpPr txBox="1"/>
          <p:nvPr/>
        </p:nvSpPr>
        <p:spPr>
          <a:xfrm>
            <a:off x="9563161" y="1257209"/>
            <a:ext cx="173498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Good ending · +1 point</a:t>
            </a:r>
            <a:endParaRPr lang="en-US" sz="1200" dirty="0"/>
          </a:p>
        </p:txBody>
      </p:sp>
      <p:sp>
        <p:nvSpPr>
          <p:cNvPr id="6" name="Shape 4"/>
          <p:cNvSpPr/>
          <p:nvPr/>
        </p:nvSpPr>
        <p:spPr>
          <a:xfrm>
            <a:off x="812810" y="1803288"/>
            <a:ext cx="10566441" cy="949879"/>
          </a:xfrm>
          <a:prstGeom prst="roundRect">
            <a:avLst>
              <a:gd name="adj" fmla="val 13371"/>
            </a:avLst>
          </a:prstGeom>
          <a:solidFill>
            <a:srgbClr val="14302A"/>
          </a:solidFill>
          <a:ln/>
        </p:spPr>
      </p:sp>
      <p:sp>
        <p:nvSpPr>
          <p:cNvPr id="7" name="Text 5"/>
          <p:cNvSpPr txBox="1"/>
          <p:nvPr/>
        </p:nvSpPr>
        <p:spPr>
          <a:xfrm>
            <a:off x="1041410" y="1965869"/>
            <a:ext cx="1034945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8FD3B0"/>
                </a:solidFill>
                <a:latin typeface="Arial" pitchFamily="34" charset="0"/>
                <a:ea typeface="Arial" pitchFamily="34" charset="-122"/>
                <a:cs typeface="Arial" pitchFamily="34" charset="-120"/>
              </a:rPr>
              <a:t>EXAMPLE</a:t>
            </a:r>
            <a:endParaRPr lang="en-US" sz="1200" dirty="0"/>
          </a:p>
        </p:txBody>
      </p:sp>
      <p:sp>
        <p:nvSpPr>
          <p:cNvPr id="8" name="Text 6"/>
          <p:cNvSpPr txBox="1"/>
          <p:nvPr/>
        </p:nvSpPr>
        <p:spPr>
          <a:xfrm>
            <a:off x="1041410" y="2232508"/>
            <a:ext cx="10349454" cy="342900"/>
          </a:xfrm>
          <a:prstGeom prst="rect">
            <a:avLst/>
          </a:prstGeom>
          <a:noFill/>
          <a:ln/>
        </p:spPr>
        <p:txBody>
          <a:bodyPr wrap="square" lIns="0" tIns="0" rIns="0" bIns="0" rtlCol="0" anchor="t"/>
          <a:lstStyle/>
          <a:p>
            <a:pPr algn="l" indent="0" marL="0">
              <a:lnSpc>
                <a:spcPts val="2600"/>
              </a:lnSpc>
              <a:buNone/>
            </a:pPr>
            <a:r>
              <a:rPr lang="en-US" sz="2000" dirty="0">
                <a:solidFill>
                  <a:srgbClr val="F3F0E6"/>
                </a:solidFill>
                <a:latin typeface="Arial" pitchFamily="34" charset="0"/>
                <a:ea typeface="Arial" pitchFamily="34" charset="-122"/>
                <a:cs typeface="Arial" pitchFamily="34" charset="-120"/>
              </a:rPr>
              <a:t>I didn't want to bring it up, but </a:t>
            </a:r>
            <a:pPr algn="l" indent="0" marL="0">
              <a:lnSpc>
                <a:spcPts val="2600"/>
              </a:lnSpc>
              <a:buNone/>
            </a:pPr>
            <a:r>
              <a:rPr lang="en-US" sz="2000" b="1" dirty="0">
                <a:solidFill>
                  <a:srgbClr val="8FD3B0"/>
                </a:solidFill>
                <a:latin typeface="Arial" pitchFamily="34" charset="0"/>
                <a:ea typeface="Arial" pitchFamily="34" charset="-122"/>
                <a:cs typeface="Arial" pitchFamily="34" charset="-120"/>
              </a:rPr>
              <a:t>your friends stayed until 2 a.m.</a:t>
            </a:r>
            <a:endParaRPr lang="en-US" sz="2000" dirty="0"/>
          </a:p>
        </p:txBody>
      </p:sp>
      <p:sp>
        <p:nvSpPr>
          <p:cNvPr id="9" name="Shape 7"/>
          <p:cNvSpPr/>
          <p:nvPr/>
        </p:nvSpPr>
        <p:spPr>
          <a:xfrm>
            <a:off x="812810" y="3007187"/>
            <a:ext cx="5232380" cy="609630"/>
          </a:xfrm>
          <a:prstGeom prst="roundRect">
            <a:avLst>
              <a:gd name="adj" fmla="val 16664"/>
            </a:avLst>
          </a:prstGeom>
          <a:solidFill>
            <a:srgbClr val="FFFDF8"/>
          </a:solidFill>
          <a:ln w="12700">
            <a:solidFill>
              <a:srgbClr val="E3DFD2"/>
            </a:solidFill>
            <a:prstDash val="solid"/>
          </a:ln>
        </p:spPr>
      </p:sp>
      <p:sp>
        <p:nvSpPr>
          <p:cNvPr id="10" name="Shape 8"/>
          <p:cNvSpPr/>
          <p:nvPr/>
        </p:nvSpPr>
        <p:spPr>
          <a:xfrm>
            <a:off x="1003280" y="3134197"/>
            <a:ext cx="355610" cy="355610"/>
          </a:xfrm>
          <a:prstGeom prst="ellipse">
            <a:avLst/>
          </a:prstGeom>
          <a:solidFill>
            <a:srgbClr val="2E7D57"/>
          </a:solidFill>
          <a:ln/>
        </p:spPr>
      </p:sp>
      <p:sp>
        <p:nvSpPr>
          <p:cNvPr id="11" name="Text 9"/>
          <p:cNvSpPr txBox="1"/>
          <p:nvPr/>
        </p:nvSpPr>
        <p:spPr>
          <a:xfrm>
            <a:off x="980694" y="3134197"/>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A</a:t>
            </a:r>
            <a:endParaRPr lang="en-US" sz="1200" dirty="0"/>
          </a:p>
        </p:txBody>
      </p:sp>
      <p:sp>
        <p:nvSpPr>
          <p:cNvPr id="12" name="Text 10"/>
          <p:cNvSpPr txBox="1"/>
          <p:nvPr/>
        </p:nvSpPr>
        <p:spPr>
          <a:xfrm>
            <a:off x="1511320" y="3149376"/>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Can I have a word with you about…</a:t>
            </a:r>
            <a:endParaRPr lang="en-US" sz="1600" dirty="0"/>
          </a:p>
        </p:txBody>
      </p:sp>
      <p:sp>
        <p:nvSpPr>
          <p:cNvPr id="13" name="Shape 11"/>
          <p:cNvSpPr/>
          <p:nvPr/>
        </p:nvSpPr>
        <p:spPr>
          <a:xfrm>
            <a:off x="6146780" y="3007187"/>
            <a:ext cx="5232380" cy="609630"/>
          </a:xfrm>
          <a:prstGeom prst="roundRect">
            <a:avLst>
              <a:gd name="adj" fmla="val 16664"/>
            </a:avLst>
          </a:prstGeom>
          <a:solidFill>
            <a:srgbClr val="FFFDF8"/>
          </a:solidFill>
          <a:ln w="12700">
            <a:solidFill>
              <a:srgbClr val="E3DFD2"/>
            </a:solidFill>
            <a:prstDash val="solid"/>
          </a:ln>
        </p:spPr>
      </p:sp>
      <p:sp>
        <p:nvSpPr>
          <p:cNvPr id="14" name="Shape 12"/>
          <p:cNvSpPr/>
          <p:nvPr/>
        </p:nvSpPr>
        <p:spPr>
          <a:xfrm>
            <a:off x="6337341" y="3134197"/>
            <a:ext cx="355610" cy="355610"/>
          </a:xfrm>
          <a:prstGeom prst="ellipse">
            <a:avLst/>
          </a:prstGeom>
          <a:solidFill>
            <a:srgbClr val="2E7D57"/>
          </a:solidFill>
          <a:ln/>
        </p:spPr>
      </p:sp>
      <p:sp>
        <p:nvSpPr>
          <p:cNvPr id="15" name="Text 13"/>
          <p:cNvSpPr txBox="1"/>
          <p:nvPr/>
        </p:nvSpPr>
        <p:spPr>
          <a:xfrm>
            <a:off x="6314664" y="3134197"/>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B</a:t>
            </a:r>
            <a:endParaRPr lang="en-US" sz="1200" dirty="0"/>
          </a:p>
        </p:txBody>
      </p:sp>
      <p:sp>
        <p:nvSpPr>
          <p:cNvPr id="16" name="Text 14"/>
          <p:cNvSpPr txBox="1"/>
          <p:nvPr/>
        </p:nvSpPr>
        <p:spPr>
          <a:xfrm>
            <a:off x="6845290" y="3149376"/>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Well, it's just that…</a:t>
            </a:r>
            <a:endParaRPr lang="en-US" sz="1600" dirty="0"/>
          </a:p>
        </p:txBody>
      </p:sp>
      <p:sp>
        <p:nvSpPr>
          <p:cNvPr id="17" name="Shape 15"/>
          <p:cNvSpPr/>
          <p:nvPr/>
        </p:nvSpPr>
        <p:spPr>
          <a:xfrm>
            <a:off x="812810" y="3718408"/>
            <a:ext cx="5232380" cy="609630"/>
          </a:xfrm>
          <a:prstGeom prst="roundRect">
            <a:avLst>
              <a:gd name="adj" fmla="val 16664"/>
            </a:avLst>
          </a:prstGeom>
          <a:solidFill>
            <a:srgbClr val="FFFDF8"/>
          </a:solidFill>
          <a:ln w="12700">
            <a:solidFill>
              <a:srgbClr val="E3DFD2"/>
            </a:solidFill>
            <a:prstDash val="solid"/>
          </a:ln>
        </p:spPr>
      </p:sp>
      <p:sp>
        <p:nvSpPr>
          <p:cNvPr id="18" name="Shape 16"/>
          <p:cNvSpPr/>
          <p:nvPr/>
        </p:nvSpPr>
        <p:spPr>
          <a:xfrm>
            <a:off x="1003280" y="3845418"/>
            <a:ext cx="355610" cy="355610"/>
          </a:xfrm>
          <a:prstGeom prst="ellipse">
            <a:avLst/>
          </a:prstGeom>
          <a:solidFill>
            <a:srgbClr val="2E7D57"/>
          </a:solidFill>
          <a:ln/>
        </p:spPr>
      </p:sp>
      <p:sp>
        <p:nvSpPr>
          <p:cNvPr id="19" name="Text 17"/>
          <p:cNvSpPr txBox="1"/>
          <p:nvPr/>
        </p:nvSpPr>
        <p:spPr>
          <a:xfrm>
            <a:off x="980694" y="384541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C</a:t>
            </a:r>
            <a:endParaRPr lang="en-US" sz="1200" dirty="0"/>
          </a:p>
        </p:txBody>
      </p:sp>
      <p:sp>
        <p:nvSpPr>
          <p:cNvPr id="20" name="Text 18"/>
          <p:cNvSpPr txBox="1"/>
          <p:nvPr/>
        </p:nvSpPr>
        <p:spPr>
          <a:xfrm>
            <a:off x="1511320" y="386059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What did you have in mind for…</a:t>
            </a:r>
            <a:endParaRPr lang="en-US" sz="1600" dirty="0"/>
          </a:p>
        </p:txBody>
      </p:sp>
      <p:sp>
        <p:nvSpPr>
          <p:cNvPr id="21" name="Shape 19"/>
          <p:cNvSpPr/>
          <p:nvPr/>
        </p:nvSpPr>
        <p:spPr>
          <a:xfrm>
            <a:off x="6146780" y="3718408"/>
            <a:ext cx="5232380" cy="609630"/>
          </a:xfrm>
          <a:prstGeom prst="roundRect">
            <a:avLst>
              <a:gd name="adj" fmla="val 16664"/>
            </a:avLst>
          </a:prstGeom>
          <a:solidFill>
            <a:srgbClr val="FFFDF8"/>
          </a:solidFill>
          <a:ln w="12700">
            <a:solidFill>
              <a:srgbClr val="E3DFD2"/>
            </a:solidFill>
            <a:prstDash val="solid"/>
          </a:ln>
        </p:spPr>
      </p:sp>
      <p:sp>
        <p:nvSpPr>
          <p:cNvPr id="22" name="Shape 20"/>
          <p:cNvSpPr/>
          <p:nvPr/>
        </p:nvSpPr>
        <p:spPr>
          <a:xfrm>
            <a:off x="6337341" y="3845418"/>
            <a:ext cx="355610" cy="355610"/>
          </a:xfrm>
          <a:prstGeom prst="ellipse">
            <a:avLst/>
          </a:prstGeom>
          <a:solidFill>
            <a:srgbClr val="2E7D57"/>
          </a:solidFill>
          <a:ln/>
        </p:spPr>
      </p:sp>
      <p:sp>
        <p:nvSpPr>
          <p:cNvPr id="23" name="Text 21"/>
          <p:cNvSpPr txBox="1"/>
          <p:nvPr/>
        </p:nvSpPr>
        <p:spPr>
          <a:xfrm>
            <a:off x="6314664" y="384541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D</a:t>
            </a:r>
            <a:endParaRPr lang="en-US" sz="1200" dirty="0"/>
          </a:p>
        </p:txBody>
      </p:sp>
      <p:sp>
        <p:nvSpPr>
          <p:cNvPr id="24" name="Text 22"/>
          <p:cNvSpPr txBox="1"/>
          <p:nvPr/>
        </p:nvSpPr>
        <p:spPr>
          <a:xfrm>
            <a:off x="6845290" y="386059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 thought perhaps we could…</a:t>
            </a:r>
            <a:endParaRPr lang="en-US" sz="1600" dirty="0"/>
          </a:p>
        </p:txBody>
      </p:sp>
      <p:sp>
        <p:nvSpPr>
          <p:cNvPr id="25" name="Shape 23"/>
          <p:cNvSpPr/>
          <p:nvPr/>
        </p:nvSpPr>
        <p:spPr>
          <a:xfrm>
            <a:off x="812810" y="4429628"/>
            <a:ext cx="5232380" cy="609630"/>
          </a:xfrm>
          <a:prstGeom prst="roundRect">
            <a:avLst>
              <a:gd name="adj" fmla="val 16664"/>
            </a:avLst>
          </a:prstGeom>
          <a:solidFill>
            <a:srgbClr val="FFFDF8"/>
          </a:solidFill>
          <a:ln w="12700">
            <a:solidFill>
              <a:srgbClr val="E3DFD2"/>
            </a:solidFill>
            <a:prstDash val="solid"/>
          </a:ln>
        </p:spPr>
      </p:sp>
      <p:sp>
        <p:nvSpPr>
          <p:cNvPr id="26" name="Shape 24"/>
          <p:cNvSpPr/>
          <p:nvPr/>
        </p:nvSpPr>
        <p:spPr>
          <a:xfrm>
            <a:off x="1003280" y="4556638"/>
            <a:ext cx="355610" cy="355610"/>
          </a:xfrm>
          <a:prstGeom prst="ellipse">
            <a:avLst/>
          </a:prstGeom>
          <a:solidFill>
            <a:srgbClr val="2E7D57"/>
          </a:solidFill>
          <a:ln/>
        </p:spPr>
      </p:sp>
      <p:sp>
        <p:nvSpPr>
          <p:cNvPr id="27" name="Text 25"/>
          <p:cNvSpPr txBox="1"/>
          <p:nvPr/>
        </p:nvSpPr>
        <p:spPr>
          <a:xfrm>
            <a:off x="980694" y="455663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E</a:t>
            </a:r>
            <a:endParaRPr lang="en-US" sz="1200" dirty="0"/>
          </a:p>
        </p:txBody>
      </p:sp>
      <p:sp>
        <p:nvSpPr>
          <p:cNvPr id="28" name="Text 26"/>
          <p:cNvSpPr txBox="1"/>
          <p:nvPr/>
        </p:nvSpPr>
        <p:spPr>
          <a:xfrm>
            <a:off x="1511320" y="457181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must feel that…</a:t>
            </a:r>
            <a:endParaRPr lang="en-US" sz="1600" dirty="0"/>
          </a:p>
        </p:txBody>
      </p:sp>
      <p:sp>
        <p:nvSpPr>
          <p:cNvPr id="29" name="Shape 27"/>
          <p:cNvSpPr/>
          <p:nvPr/>
        </p:nvSpPr>
        <p:spPr>
          <a:xfrm>
            <a:off x="6146780" y="4429628"/>
            <a:ext cx="5232380" cy="609630"/>
          </a:xfrm>
          <a:prstGeom prst="roundRect">
            <a:avLst>
              <a:gd name="adj" fmla="val 16664"/>
            </a:avLst>
          </a:prstGeom>
          <a:solidFill>
            <a:srgbClr val="FFFDF8"/>
          </a:solidFill>
          <a:ln w="12700">
            <a:solidFill>
              <a:srgbClr val="E3DFD2"/>
            </a:solidFill>
            <a:prstDash val="solid"/>
          </a:ln>
        </p:spPr>
      </p:sp>
      <p:sp>
        <p:nvSpPr>
          <p:cNvPr id="30" name="Shape 28"/>
          <p:cNvSpPr/>
          <p:nvPr/>
        </p:nvSpPr>
        <p:spPr>
          <a:xfrm>
            <a:off x="6337341" y="4556638"/>
            <a:ext cx="355610" cy="355610"/>
          </a:xfrm>
          <a:prstGeom prst="ellipse">
            <a:avLst/>
          </a:prstGeom>
          <a:solidFill>
            <a:srgbClr val="2E7D57"/>
          </a:solidFill>
          <a:ln/>
        </p:spPr>
      </p:sp>
      <p:sp>
        <p:nvSpPr>
          <p:cNvPr id="31" name="Text 29"/>
          <p:cNvSpPr txBox="1"/>
          <p:nvPr/>
        </p:nvSpPr>
        <p:spPr>
          <a:xfrm>
            <a:off x="6314664" y="455663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F</a:t>
            </a:r>
            <a:endParaRPr lang="en-US" sz="1200" dirty="0"/>
          </a:p>
        </p:txBody>
      </p:sp>
      <p:sp>
        <p:nvSpPr>
          <p:cNvPr id="32" name="Text 30"/>
          <p:cNvSpPr txBox="1"/>
          <p:nvPr/>
        </p:nvSpPr>
        <p:spPr>
          <a:xfrm>
            <a:off x="6845290" y="457181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 should have said something earlier about…</a:t>
            </a:r>
            <a:endParaRPr lang="en-US" sz="1600" dirty="0"/>
          </a:p>
        </p:txBody>
      </p:sp>
      <p:sp>
        <p:nvSpPr>
          <p:cNvPr id="33" name="Shape 31"/>
          <p:cNvSpPr/>
          <p:nvPr/>
        </p:nvSpPr>
        <p:spPr>
          <a:xfrm>
            <a:off x="812810" y="5140848"/>
            <a:ext cx="5232380" cy="609630"/>
          </a:xfrm>
          <a:prstGeom prst="roundRect">
            <a:avLst>
              <a:gd name="adj" fmla="val 16664"/>
            </a:avLst>
          </a:prstGeom>
          <a:solidFill>
            <a:srgbClr val="FFFDF8"/>
          </a:solidFill>
          <a:ln w="12700">
            <a:solidFill>
              <a:srgbClr val="E3DFD2"/>
            </a:solidFill>
            <a:prstDash val="solid"/>
          </a:ln>
        </p:spPr>
      </p:sp>
      <p:sp>
        <p:nvSpPr>
          <p:cNvPr id="34" name="Shape 32"/>
          <p:cNvSpPr/>
          <p:nvPr/>
        </p:nvSpPr>
        <p:spPr>
          <a:xfrm>
            <a:off x="1003280" y="5267858"/>
            <a:ext cx="355610" cy="355610"/>
          </a:xfrm>
          <a:prstGeom prst="ellipse">
            <a:avLst/>
          </a:prstGeom>
          <a:solidFill>
            <a:srgbClr val="2E7D57"/>
          </a:solidFill>
          <a:ln/>
        </p:spPr>
      </p:sp>
      <p:sp>
        <p:nvSpPr>
          <p:cNvPr id="35" name="Text 33"/>
          <p:cNvSpPr txBox="1"/>
          <p:nvPr/>
        </p:nvSpPr>
        <p:spPr>
          <a:xfrm>
            <a:off x="980694" y="526785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G</a:t>
            </a:r>
            <a:endParaRPr lang="en-US" sz="1200" dirty="0"/>
          </a:p>
        </p:txBody>
      </p:sp>
      <p:sp>
        <p:nvSpPr>
          <p:cNvPr id="36" name="Text 34"/>
          <p:cNvSpPr txBox="1"/>
          <p:nvPr/>
        </p:nvSpPr>
        <p:spPr>
          <a:xfrm>
            <a:off x="1511320" y="528303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Could we possibly agree on…</a:t>
            </a:r>
            <a:endParaRPr lang="en-US" sz="1600" dirty="0"/>
          </a:p>
        </p:txBody>
      </p:sp>
      <p:sp>
        <p:nvSpPr>
          <p:cNvPr id="37" name="Shape 35"/>
          <p:cNvSpPr/>
          <p:nvPr/>
        </p:nvSpPr>
        <p:spPr>
          <a:xfrm>
            <a:off x="6146780" y="5140848"/>
            <a:ext cx="5232380" cy="609630"/>
          </a:xfrm>
          <a:prstGeom prst="roundRect">
            <a:avLst>
              <a:gd name="adj" fmla="val 16664"/>
            </a:avLst>
          </a:prstGeom>
          <a:solidFill>
            <a:srgbClr val="FFFDF8"/>
          </a:solidFill>
          <a:ln w="12700">
            <a:solidFill>
              <a:srgbClr val="E3DFD2"/>
            </a:solidFill>
            <a:prstDash val="solid"/>
          </a:ln>
        </p:spPr>
      </p:sp>
      <p:sp>
        <p:nvSpPr>
          <p:cNvPr id="38" name="Shape 36"/>
          <p:cNvSpPr/>
          <p:nvPr/>
        </p:nvSpPr>
        <p:spPr>
          <a:xfrm>
            <a:off x="6337341" y="5267858"/>
            <a:ext cx="355610" cy="355610"/>
          </a:xfrm>
          <a:prstGeom prst="ellipse">
            <a:avLst/>
          </a:prstGeom>
          <a:solidFill>
            <a:srgbClr val="2E7D57"/>
          </a:solidFill>
          <a:ln/>
        </p:spPr>
      </p:sp>
      <p:sp>
        <p:nvSpPr>
          <p:cNvPr id="39" name="Text 37"/>
          <p:cNvSpPr txBox="1"/>
          <p:nvPr/>
        </p:nvSpPr>
        <p:spPr>
          <a:xfrm>
            <a:off x="6314664" y="526785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H</a:t>
            </a:r>
            <a:endParaRPr lang="en-US" sz="1200" dirty="0"/>
          </a:p>
        </p:txBody>
      </p:sp>
      <p:sp>
        <p:nvSpPr>
          <p:cNvPr id="40" name="Text 38"/>
          <p:cNvSpPr txBox="1"/>
          <p:nvPr/>
        </p:nvSpPr>
        <p:spPr>
          <a:xfrm>
            <a:off x="6845290" y="5283037"/>
            <a:ext cx="4468398"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 didn't want to bring it up, but…</a:t>
            </a:r>
            <a:endParaRPr lang="en-US" sz="1600" dirty="0"/>
          </a:p>
        </p:txBody>
      </p:sp>
      <p:sp>
        <p:nvSpPr>
          <p:cNvPr id="41" name="Text 39"/>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42" name="Text 40"/>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302A"/>
        </a:solidFill>
      </p:bgPr>
    </p:bg>
    <p:spTree>
      <p:nvGrpSpPr>
        <p:cNvPr id="1" name=""/>
        <p:cNvGrpSpPr/>
        <p:nvPr/>
      </p:nvGrpSpPr>
      <p:grpSpPr>
        <a:xfrm>
          <a:off x="0" y="0"/>
          <a:ext cx="0" cy="0"/>
          <a:chOff x="0" y="0"/>
          <a:chExt cx="0" cy="0"/>
        </a:xfrm>
      </p:grpSpPr>
      <p:sp>
        <p:nvSpPr>
          <p:cNvPr id="2" name="Shape 0"/>
          <p:cNvSpPr/>
          <p:nvPr/>
        </p:nvSpPr>
        <p:spPr>
          <a:xfrm>
            <a:off x="812810" y="1482151"/>
            <a:ext cx="1003371" cy="340340"/>
          </a:xfrm>
          <a:prstGeom prst="roundRect">
            <a:avLst>
              <a:gd name="adj" fmla="val 50000"/>
            </a:avLst>
          </a:prstGeom>
          <a:solidFill>
            <a:srgbClr val="8FD3B0"/>
          </a:solidFill>
          <a:ln/>
        </p:spPr>
      </p:sp>
      <p:sp>
        <p:nvSpPr>
          <p:cNvPr id="3" name="Text 1"/>
          <p:cNvSpPr txBox="1"/>
          <p:nvPr/>
        </p:nvSpPr>
        <p:spPr>
          <a:xfrm>
            <a:off x="965241" y="1530431"/>
            <a:ext cx="75063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14302A"/>
                </a:solidFill>
                <a:latin typeface="Arial" pitchFamily="34" charset="0"/>
                <a:ea typeface="Arial" pitchFamily="34" charset="-122"/>
                <a:cs typeface="Arial" pitchFamily="34" charset="-120"/>
              </a:rPr>
              <a:t>GAME 3</a:t>
            </a:r>
            <a:endParaRPr lang="en-US" sz="1200" dirty="0"/>
          </a:p>
        </p:txBody>
      </p:sp>
      <p:sp>
        <p:nvSpPr>
          <p:cNvPr id="4" name="Shape 2"/>
          <p:cNvSpPr/>
          <p:nvPr/>
        </p:nvSpPr>
        <p:spPr>
          <a:xfrm>
            <a:off x="1917771" y="1482151"/>
            <a:ext cx="3016514" cy="340340"/>
          </a:xfrm>
          <a:prstGeom prst="roundRect">
            <a:avLst>
              <a:gd name="adj" fmla="val 50000"/>
            </a:avLst>
          </a:prstGeom>
          <a:ln w="12700">
            <a:solidFill>
              <a:srgbClr val="8FD3B0"/>
            </a:solidFill>
            <a:prstDash val="solid"/>
          </a:ln>
        </p:spPr>
      </p:sp>
      <p:sp>
        <p:nvSpPr>
          <p:cNvPr id="5" name="Text 3"/>
          <p:cNvSpPr txBox="1"/>
          <p:nvPr/>
        </p:nvSpPr>
        <p:spPr>
          <a:xfrm>
            <a:off x="2070202" y="1530431"/>
            <a:ext cx="2804099"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FD3B0"/>
                </a:solidFill>
                <a:latin typeface="Arial" pitchFamily="34" charset="0"/>
                <a:ea typeface="Arial" pitchFamily="34" charset="-122"/>
                <a:cs typeface="Arial" pitchFamily="34" charset="-120"/>
              </a:rPr>
              <a:t>POLITE REQUESTS · 8 CARDS</a:t>
            </a:r>
            <a:endParaRPr lang="en-US" sz="1200" dirty="0"/>
          </a:p>
        </p:txBody>
      </p:sp>
      <p:sp>
        <p:nvSpPr>
          <p:cNvPr id="6" name="Text 4"/>
          <p:cNvSpPr txBox="1"/>
          <p:nvPr/>
        </p:nvSpPr>
        <p:spPr>
          <a:xfrm>
            <a:off x="812810" y="2051091"/>
            <a:ext cx="10815798" cy="800100"/>
          </a:xfrm>
          <a:prstGeom prst="rect">
            <a:avLst/>
          </a:prstGeom>
          <a:noFill/>
          <a:ln/>
        </p:spPr>
        <p:txBody>
          <a:bodyPr wrap="square" lIns="0" tIns="0" rIns="0" bIns="0" rtlCol="0" anchor="t"/>
          <a:lstStyle/>
          <a:p>
            <a:pPr algn="l" indent="0" marL="0">
              <a:lnSpc>
                <a:spcPts val="6300"/>
              </a:lnSpc>
              <a:buNone/>
            </a:pPr>
            <a:r>
              <a:rPr lang="en-US" sz="6000" b="1" dirty="0">
                <a:solidFill>
                  <a:srgbClr val="F3F0E6"/>
                </a:solidFill>
                <a:latin typeface="Arial" pitchFamily="34" charset="0"/>
                <a:ea typeface="Arial" pitchFamily="34" charset="-122"/>
                <a:cs typeface="Arial" pitchFamily="34" charset="-120"/>
              </a:rPr>
              <a:t>Diplomatic Makeover</a:t>
            </a:r>
            <a:endParaRPr lang="en-US" sz="6000" dirty="0"/>
          </a:p>
        </p:txBody>
      </p:sp>
      <p:sp>
        <p:nvSpPr>
          <p:cNvPr id="7" name="Shape 5"/>
          <p:cNvSpPr/>
          <p:nvPr/>
        </p:nvSpPr>
        <p:spPr>
          <a:xfrm>
            <a:off x="812810" y="3079791"/>
            <a:ext cx="355610" cy="355610"/>
          </a:xfrm>
          <a:prstGeom prst="ellipse">
            <a:avLst/>
          </a:prstGeom>
          <a:solidFill>
            <a:srgbClr val="8FD3B0"/>
          </a:solidFill>
          <a:ln/>
        </p:spPr>
      </p:sp>
      <p:sp>
        <p:nvSpPr>
          <p:cNvPr id="8" name="Text 6"/>
          <p:cNvSpPr txBox="1"/>
          <p:nvPr/>
        </p:nvSpPr>
        <p:spPr>
          <a:xfrm>
            <a:off x="790224" y="30797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320759" y="30594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A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rude</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sentence appears. All three teams have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60 seconds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to rewrite it diplomatically on paper.</a:t>
            </a:r>
            <a:endParaRPr lang="en-US" sz="1600" dirty="0"/>
          </a:p>
        </p:txBody>
      </p:sp>
      <p:sp>
        <p:nvSpPr>
          <p:cNvPr id="10" name="Shape 8"/>
          <p:cNvSpPr/>
          <p:nvPr/>
        </p:nvSpPr>
        <p:spPr>
          <a:xfrm>
            <a:off x="812810" y="3536991"/>
            <a:ext cx="355610" cy="355610"/>
          </a:xfrm>
          <a:prstGeom prst="ellipse">
            <a:avLst/>
          </a:prstGeom>
          <a:solidFill>
            <a:srgbClr val="8FD3B0"/>
          </a:solidFill>
          <a:ln/>
        </p:spPr>
      </p:sp>
      <p:sp>
        <p:nvSpPr>
          <p:cNvPr id="11" name="Text 9"/>
          <p:cNvSpPr txBox="1"/>
          <p:nvPr/>
        </p:nvSpPr>
        <p:spPr>
          <a:xfrm>
            <a:off x="790224" y="35369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320759" y="35166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Each team reads its new version aloud. Use the toolkit from Game 2!</a:t>
            </a:r>
            <a:endParaRPr lang="en-US" sz="1600" dirty="0"/>
          </a:p>
        </p:txBody>
      </p:sp>
      <p:sp>
        <p:nvSpPr>
          <p:cNvPr id="13" name="Shape 11"/>
          <p:cNvSpPr/>
          <p:nvPr/>
        </p:nvSpPr>
        <p:spPr>
          <a:xfrm>
            <a:off x="812810" y="3994191"/>
            <a:ext cx="355610" cy="355610"/>
          </a:xfrm>
          <a:prstGeom prst="ellipse">
            <a:avLst/>
          </a:prstGeom>
          <a:solidFill>
            <a:srgbClr val="8FD3B0"/>
          </a:solidFill>
          <a:ln/>
        </p:spPr>
      </p:sp>
      <p:sp>
        <p:nvSpPr>
          <p:cNvPr id="14" name="Text 12"/>
          <p:cNvSpPr txBox="1"/>
          <p:nvPr/>
        </p:nvSpPr>
        <p:spPr>
          <a:xfrm>
            <a:off x="790224" y="39941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1320759" y="3973800"/>
            <a:ext cx="10297698" cy="304770"/>
          </a:xfrm>
          <a:prstGeom prst="rect">
            <a:avLst/>
          </a:prstGeom>
          <a:noFill/>
          <a:ln/>
        </p:spPr>
        <p:txBody>
          <a:bodyPr wrap="square" lIns="0" tIns="0" rIns="0" bIns="0" rtlCol="0" anchor="t"/>
          <a:lstStyle/>
          <a:p>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for each toolkit phrase (up to 2), and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for empathy or a question tag.</a:t>
            </a:r>
            <a:endParaRPr lang="en-US" sz="1600" dirty="0"/>
          </a:p>
        </p:txBody>
      </p:sp>
      <p:sp>
        <p:nvSpPr>
          <p:cNvPr id="16" name="Shape 14"/>
          <p:cNvSpPr/>
          <p:nvPr/>
        </p:nvSpPr>
        <p:spPr>
          <a:xfrm>
            <a:off x="812810" y="4451391"/>
            <a:ext cx="355610" cy="355610"/>
          </a:xfrm>
          <a:prstGeom prst="ellipse">
            <a:avLst/>
          </a:prstGeom>
          <a:solidFill>
            <a:srgbClr val="8FD3B0"/>
          </a:solidFill>
          <a:ln/>
        </p:spPr>
      </p:sp>
      <p:sp>
        <p:nvSpPr>
          <p:cNvPr id="17" name="Text 15"/>
          <p:cNvSpPr txBox="1"/>
          <p:nvPr/>
        </p:nvSpPr>
        <p:spPr>
          <a:xfrm>
            <a:off x="790224" y="44513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4</a:t>
            </a:r>
            <a:endParaRPr lang="en-US" sz="1200" dirty="0"/>
          </a:p>
        </p:txBody>
      </p:sp>
      <p:sp>
        <p:nvSpPr>
          <p:cNvPr id="18" name="Text 16"/>
          <p:cNvSpPr txBox="1"/>
          <p:nvPr/>
        </p:nvSpPr>
        <p:spPr>
          <a:xfrm>
            <a:off x="1320759" y="4431000"/>
            <a:ext cx="10297698" cy="304770"/>
          </a:xfrm>
          <a:prstGeom prst="rect">
            <a:avLst/>
          </a:prstGeom>
          <a:noFill/>
          <a:ln/>
        </p:spPr>
        <p:txBody>
          <a:bodyPr wrap="square" lIns="0" tIns="0" rIns="0" bIns="0" rtlCol="0" anchor="t"/>
          <a:lstStyle/>
          <a:p>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for the most diplomatic version: the teacher decides. Up to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4 points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per card!</a:t>
            </a:r>
            <a:endParaRPr lang="en-US" sz="1600" dirty="0"/>
          </a:p>
        </p:txBody>
      </p:sp>
      <p:sp>
        <p:nvSpPr>
          <p:cNvPr id="19" name="Shape 17"/>
          <p:cNvSpPr/>
          <p:nvPr/>
        </p:nvSpPr>
        <p:spPr>
          <a:xfrm>
            <a:off x="812810" y="5035509"/>
            <a:ext cx="2152589" cy="340340"/>
          </a:xfrm>
          <a:prstGeom prst="roundRect">
            <a:avLst>
              <a:gd name="adj" fmla="val 50000"/>
            </a:avLst>
          </a:prstGeom>
          <a:solidFill>
            <a:srgbClr val="F3F0E6"/>
          </a:solidFill>
          <a:ln/>
        </p:spPr>
      </p:sp>
      <p:sp>
        <p:nvSpPr>
          <p:cNvPr id="20" name="Text 18"/>
          <p:cNvSpPr txBox="1"/>
          <p:nvPr/>
        </p:nvSpPr>
        <p:spPr>
          <a:xfrm>
            <a:off x="952530" y="5083790"/>
            <a:ext cx="1948678"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Toolkit phrase: +1 (max 2)</a:t>
            </a:r>
            <a:endParaRPr lang="en-US" sz="1200" dirty="0"/>
          </a:p>
        </p:txBody>
      </p:sp>
      <p:sp>
        <p:nvSpPr>
          <p:cNvPr id="21" name="Shape 19"/>
          <p:cNvSpPr/>
          <p:nvPr/>
        </p:nvSpPr>
        <p:spPr>
          <a:xfrm>
            <a:off x="3066989" y="5035509"/>
            <a:ext cx="1655521" cy="340340"/>
          </a:xfrm>
          <a:prstGeom prst="roundRect">
            <a:avLst>
              <a:gd name="adj" fmla="val 50000"/>
            </a:avLst>
          </a:prstGeom>
          <a:solidFill>
            <a:srgbClr val="F3F0E6"/>
          </a:solidFill>
          <a:ln/>
        </p:spPr>
      </p:sp>
      <p:sp>
        <p:nvSpPr>
          <p:cNvPr id="22" name="Text 20"/>
          <p:cNvSpPr txBox="1"/>
          <p:nvPr/>
        </p:nvSpPr>
        <p:spPr>
          <a:xfrm>
            <a:off x="3206618" y="5083790"/>
            <a:ext cx="1441826"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Empathy or tag: +1</a:t>
            </a:r>
            <a:endParaRPr lang="en-US" sz="1200" dirty="0"/>
          </a:p>
        </p:txBody>
      </p:sp>
      <p:sp>
        <p:nvSpPr>
          <p:cNvPr id="23" name="Shape 21"/>
          <p:cNvSpPr/>
          <p:nvPr/>
        </p:nvSpPr>
        <p:spPr>
          <a:xfrm>
            <a:off x="4824100" y="5035509"/>
            <a:ext cx="1706270" cy="340340"/>
          </a:xfrm>
          <a:prstGeom prst="roundRect">
            <a:avLst>
              <a:gd name="adj" fmla="val 50000"/>
            </a:avLst>
          </a:prstGeom>
          <a:solidFill>
            <a:srgbClr val="F3F0E6"/>
          </a:solidFill>
          <a:ln/>
        </p:spPr>
      </p:sp>
      <p:sp>
        <p:nvSpPr>
          <p:cNvPr id="24" name="Text 22"/>
          <p:cNvSpPr txBox="1"/>
          <p:nvPr/>
        </p:nvSpPr>
        <p:spPr>
          <a:xfrm>
            <a:off x="4963820" y="5083790"/>
            <a:ext cx="1493490"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Most diplomatic: +1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3 · HOW TO WIN</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From rude to diplomatic</a:t>
            </a:r>
            <a:endParaRPr lang="en-US" sz="3200" dirty="0"/>
          </a:p>
        </p:txBody>
      </p:sp>
      <p:sp>
        <p:nvSpPr>
          <p:cNvPr id="4" name="Shape 2"/>
          <p:cNvSpPr/>
          <p:nvPr/>
        </p:nvSpPr>
        <p:spPr>
          <a:xfrm>
            <a:off x="812810" y="1803288"/>
            <a:ext cx="3906957" cy="1706636"/>
          </a:xfrm>
          <a:prstGeom prst="roundRect">
            <a:avLst>
              <a:gd name="adj" fmla="val 7442"/>
            </a:avLst>
          </a:prstGeom>
          <a:solidFill>
            <a:srgbClr val="F6E2DF"/>
          </a:solidFill>
          <a:ln/>
        </p:spPr>
      </p:sp>
      <p:sp>
        <p:nvSpPr>
          <p:cNvPr id="5" name="Text 3"/>
          <p:cNvSpPr txBox="1"/>
          <p:nvPr/>
        </p:nvSpPr>
        <p:spPr>
          <a:xfrm>
            <a:off x="1066830" y="2179107"/>
            <a:ext cx="3504987"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A33A3A"/>
                </a:solidFill>
                <a:latin typeface="Arial" pitchFamily="34" charset="0"/>
                <a:ea typeface="Arial" pitchFamily="34" charset="-122"/>
                <a:cs typeface="Arial" pitchFamily="34" charset="-120"/>
              </a:rPr>
              <a:t>RUDE</a:t>
            </a:r>
            <a:endParaRPr lang="en-US" sz="1200" dirty="0"/>
          </a:p>
        </p:txBody>
      </p:sp>
      <p:sp>
        <p:nvSpPr>
          <p:cNvPr id="6" name="Text 4"/>
          <p:cNvSpPr txBox="1"/>
          <p:nvPr/>
        </p:nvSpPr>
        <p:spPr>
          <a:xfrm>
            <a:off x="1066830" y="2509205"/>
            <a:ext cx="3504987" cy="60963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“Wash your dirty dishes. Now!”</a:t>
            </a:r>
            <a:endParaRPr lang="en-US" sz="2000" dirty="0"/>
          </a:p>
        </p:txBody>
      </p:sp>
      <p:sp>
        <p:nvSpPr>
          <p:cNvPr id="7" name="Shape 5"/>
          <p:cNvSpPr/>
          <p:nvPr/>
        </p:nvSpPr>
        <p:spPr>
          <a:xfrm>
            <a:off x="4922947" y="1803288"/>
            <a:ext cx="6456304" cy="1706636"/>
          </a:xfrm>
          <a:prstGeom prst="roundRect">
            <a:avLst>
              <a:gd name="adj" fmla="val 7442"/>
            </a:avLst>
          </a:prstGeom>
          <a:solidFill>
            <a:srgbClr val="DFF0E6"/>
          </a:solidFill>
          <a:ln/>
        </p:spPr>
      </p:sp>
      <p:sp>
        <p:nvSpPr>
          <p:cNvPr id="8" name="Text 6"/>
          <p:cNvSpPr txBox="1"/>
          <p:nvPr/>
        </p:nvSpPr>
        <p:spPr>
          <a:xfrm>
            <a:off x="5176967" y="2042038"/>
            <a:ext cx="6105357"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DIPLOMATIC</a:t>
            </a:r>
            <a:endParaRPr lang="en-US" sz="1200" dirty="0"/>
          </a:p>
        </p:txBody>
      </p:sp>
      <p:sp>
        <p:nvSpPr>
          <p:cNvPr id="9" name="Text 7"/>
          <p:cNvSpPr txBox="1"/>
          <p:nvPr/>
        </p:nvSpPr>
        <p:spPr>
          <a:xfrm>
            <a:off x="5176967" y="2346808"/>
            <a:ext cx="6105357" cy="909096"/>
          </a:xfrm>
          <a:prstGeom prst="rect">
            <a:avLst/>
          </a:prstGeom>
          <a:noFill/>
          <a:ln/>
        </p:spPr>
        <p:txBody>
          <a:bodyPr wrap="square" lIns="0" tIns="0" rIns="0" bIns="0" rtlCol="0" anchor="t"/>
          <a:lstStyle/>
          <a:p>
            <a:pPr algn="l" indent="0" marL="0">
              <a:lnSpc>
                <a:spcPts val="2320"/>
              </a:lnSpc>
              <a:buNone/>
            </a:pPr>
            <a:r>
              <a:rPr lang="en-US" sz="1600" dirty="0">
                <a:solidFill>
                  <a:srgbClr val="14302A"/>
                </a:solidFill>
                <a:latin typeface="Arial" pitchFamily="34" charset="0"/>
                <a:ea typeface="Arial" pitchFamily="34" charset="-122"/>
                <a:cs typeface="Arial" pitchFamily="34" charset="-120"/>
              </a:rPr>
              <a:t>“</a:t>
            </a:r>
            <a:pPr algn="l" indent="0" marL="0">
              <a:lnSpc>
                <a:spcPts val="2320"/>
              </a:lnSpc>
              <a:buNone/>
            </a:pPr>
            <a:r>
              <a:rPr lang="en-US" sz="1600" b="1" dirty="0">
                <a:solidFill>
                  <a:srgbClr val="2E7D57"/>
                </a:solidFill>
                <a:latin typeface="Arial" pitchFamily="34" charset="0"/>
                <a:ea typeface="Arial" pitchFamily="34" charset="-122"/>
                <a:cs typeface="Arial" pitchFamily="34" charset="-120"/>
              </a:rPr>
              <a:t>Can I have a word with you</a:t>
            </a:r>
            <a:pPr algn="l" indent="0" marL="0">
              <a:lnSpc>
                <a:spcPts val="2320"/>
              </a:lnSpc>
              <a:buNone/>
            </a:pPr>
            <a:r>
              <a:rPr lang="en-US" sz="1600" dirty="0">
                <a:solidFill>
                  <a:srgbClr val="14302A"/>
                </a:solidFill>
                <a:latin typeface="Arial" pitchFamily="34" charset="0"/>
                <a:ea typeface="Arial" pitchFamily="34" charset="-122"/>
                <a:cs typeface="Arial" pitchFamily="34" charset="-120"/>
              </a:rPr>
              <a:t> about the dishes? </a:t>
            </a:r>
            <a:pPr algn="l" indent="0" marL="0">
              <a:lnSpc>
                <a:spcPts val="2320"/>
              </a:lnSpc>
              <a:buNone/>
            </a:pPr>
            <a:r>
              <a:rPr lang="en-US" sz="1600" b="1" dirty="0">
                <a:solidFill>
                  <a:srgbClr val="2E7D57"/>
                </a:solidFill>
                <a:latin typeface="Arial" pitchFamily="34" charset="0"/>
                <a:ea typeface="Arial" pitchFamily="34" charset="-122"/>
                <a:cs typeface="Arial" pitchFamily="34" charset="-120"/>
              </a:rPr>
              <a:t>I didn't want to bring it up, but</a:t>
            </a:r>
            <a:pPr algn="l" indent="0" marL="0">
              <a:lnSpc>
                <a:spcPts val="2320"/>
              </a:lnSpc>
              <a:buNone/>
            </a:pPr>
            <a:r>
              <a:rPr lang="en-US" sz="1600" dirty="0">
                <a:solidFill>
                  <a:srgbClr val="14302A"/>
                </a:solidFill>
                <a:latin typeface="Arial" pitchFamily="34" charset="0"/>
                <a:ea typeface="Arial" pitchFamily="34" charset="-122"/>
                <a:cs typeface="Arial" pitchFamily="34" charset="-120"/>
              </a:rPr>
              <a:t> the kitchen gets messy so quickly, </a:t>
            </a:r>
            <a:pPr algn="l" indent="0" marL="0">
              <a:lnSpc>
                <a:spcPts val="2320"/>
              </a:lnSpc>
              <a:buNone/>
            </a:pPr>
            <a:r>
              <a:rPr lang="en-US" sz="1600" b="1" dirty="0">
                <a:solidFill>
                  <a:srgbClr val="2E7D57"/>
                </a:solidFill>
                <a:latin typeface="Arial" pitchFamily="34" charset="0"/>
                <a:ea typeface="Arial" pitchFamily="34" charset="-122"/>
                <a:cs typeface="Arial" pitchFamily="34" charset="-120"/>
              </a:rPr>
              <a:t>doesn't it?</a:t>
            </a:r>
            <a:pPr algn="l" indent="0" marL="0">
              <a:lnSpc>
                <a:spcPts val="2320"/>
              </a:lnSpc>
              <a:buNone/>
            </a:pPr>
            <a:r>
              <a:rPr lang="en-US" sz="1600" dirty="0">
                <a:solidFill>
                  <a:srgbClr val="14302A"/>
                </a:solidFill>
                <a:latin typeface="Arial" pitchFamily="34" charset="0"/>
                <a:ea typeface="Arial" pitchFamily="34" charset="-122"/>
                <a:cs typeface="Arial" pitchFamily="34" charset="-120"/>
              </a:rPr>
              <a:t> </a:t>
            </a:r>
            <a:pPr algn="l" indent="0" marL="0">
              <a:lnSpc>
                <a:spcPts val="2320"/>
              </a:lnSpc>
              <a:buNone/>
            </a:pPr>
            <a:r>
              <a:rPr lang="en-US" sz="1600" b="1" dirty="0">
                <a:solidFill>
                  <a:srgbClr val="2E7D57"/>
                </a:solidFill>
                <a:latin typeface="Arial" pitchFamily="34" charset="0"/>
                <a:ea typeface="Arial" pitchFamily="34" charset="-122"/>
                <a:cs typeface="Arial" pitchFamily="34" charset="-120"/>
              </a:rPr>
              <a:t>I thought perhaps we could</a:t>
            </a:r>
            <a:pPr algn="l" indent="0" marL="0">
              <a:lnSpc>
                <a:spcPts val="2320"/>
              </a:lnSpc>
              <a:buNone/>
            </a:pPr>
            <a:r>
              <a:rPr lang="en-US" sz="1600" dirty="0">
                <a:solidFill>
                  <a:srgbClr val="14302A"/>
                </a:solidFill>
                <a:latin typeface="Arial" pitchFamily="34" charset="0"/>
                <a:ea typeface="Arial" pitchFamily="34" charset="-122"/>
                <a:cs typeface="Arial" pitchFamily="34" charset="-120"/>
              </a:rPr>
              <a:t> wash up straight after dinner.”</a:t>
            </a:r>
            <a:endParaRPr lang="en-US" sz="1600" dirty="0"/>
          </a:p>
        </p:txBody>
      </p:sp>
      <p:sp>
        <p:nvSpPr>
          <p:cNvPr id="10" name="Shape 8"/>
          <p:cNvSpPr/>
          <p:nvPr/>
        </p:nvSpPr>
        <p:spPr>
          <a:xfrm>
            <a:off x="812810" y="3763945"/>
            <a:ext cx="2812969" cy="365760"/>
          </a:xfrm>
          <a:prstGeom prst="roundRect">
            <a:avLst>
              <a:gd name="adj" fmla="val 50000"/>
            </a:avLst>
          </a:prstGeom>
          <a:solidFill>
            <a:srgbClr val="FFFDF8"/>
          </a:solidFill>
          <a:ln w="12700">
            <a:solidFill>
              <a:srgbClr val="E3DFD2"/>
            </a:solidFill>
            <a:prstDash val="solid"/>
          </a:ln>
        </p:spPr>
      </p:sp>
      <p:sp>
        <p:nvSpPr>
          <p:cNvPr id="11" name="Text 9"/>
          <p:cNvSpPr txBox="1"/>
          <p:nvPr/>
        </p:nvSpPr>
        <p:spPr>
          <a:xfrm>
            <a:off x="965241" y="3824935"/>
            <a:ext cx="2596439"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Toolkit phrases: +2 (the maximum)</a:t>
            </a:r>
            <a:endParaRPr lang="en-US" sz="1200" dirty="0"/>
          </a:p>
        </p:txBody>
      </p:sp>
      <p:sp>
        <p:nvSpPr>
          <p:cNvPr id="12" name="Shape 10"/>
          <p:cNvSpPr/>
          <p:nvPr/>
        </p:nvSpPr>
        <p:spPr>
          <a:xfrm>
            <a:off x="3727369" y="3763945"/>
            <a:ext cx="1503091" cy="365760"/>
          </a:xfrm>
          <a:prstGeom prst="roundRect">
            <a:avLst>
              <a:gd name="adj" fmla="val 50000"/>
            </a:avLst>
          </a:prstGeom>
          <a:solidFill>
            <a:srgbClr val="FFFDF8"/>
          </a:solidFill>
          <a:ln w="12700">
            <a:solidFill>
              <a:srgbClr val="E3DFD2"/>
            </a:solidFill>
            <a:prstDash val="solid"/>
          </a:ln>
        </p:spPr>
      </p:sp>
      <p:sp>
        <p:nvSpPr>
          <p:cNvPr id="13" name="Text 11"/>
          <p:cNvSpPr txBox="1"/>
          <p:nvPr/>
        </p:nvSpPr>
        <p:spPr>
          <a:xfrm>
            <a:off x="3879708" y="3824935"/>
            <a:ext cx="1260318"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Question tag: +1</a:t>
            </a:r>
            <a:endParaRPr lang="en-US" sz="1200" dirty="0"/>
          </a:p>
        </p:txBody>
      </p:sp>
      <p:sp>
        <p:nvSpPr>
          <p:cNvPr id="14" name="Shape 12"/>
          <p:cNvSpPr/>
          <p:nvPr/>
        </p:nvSpPr>
        <p:spPr>
          <a:xfrm>
            <a:off x="5332049" y="3763945"/>
            <a:ext cx="3572744" cy="365760"/>
          </a:xfrm>
          <a:prstGeom prst="roundRect">
            <a:avLst>
              <a:gd name="adj" fmla="val 50000"/>
            </a:avLst>
          </a:prstGeom>
          <a:solidFill>
            <a:srgbClr val="2E7D57"/>
          </a:solidFill>
          <a:ln/>
        </p:spPr>
      </p:sp>
      <p:sp>
        <p:nvSpPr>
          <p:cNvPr id="15" name="Text 13"/>
          <p:cNvSpPr txBox="1"/>
          <p:nvPr/>
        </p:nvSpPr>
        <p:spPr>
          <a:xfrm>
            <a:off x="5484388" y="3824935"/>
            <a:ext cx="337139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Total: 3 points, or 4 if it's the most diplomatic</a:t>
            </a:r>
            <a:endParaRPr lang="en-US" sz="1200" dirty="0"/>
          </a:p>
        </p:txBody>
      </p:sp>
      <p:sp>
        <p:nvSpPr>
          <p:cNvPr id="16" name="Text 1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17" name="Text 1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376943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3 · CARDS 1–4</a:t>
            </a:r>
            <a:endParaRPr lang="en-US" sz="1200" dirty="0"/>
          </a:p>
        </p:txBody>
      </p:sp>
      <p:sp>
        <p:nvSpPr>
          <p:cNvPr id="3" name="Text 1"/>
          <p:cNvSpPr txBox="1"/>
          <p:nvPr/>
        </p:nvSpPr>
        <p:spPr>
          <a:xfrm>
            <a:off x="812810" y="1102309"/>
            <a:ext cx="3769431"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Make it diplomatic!</a:t>
            </a:r>
            <a:endParaRPr lang="en-US" sz="3200" dirty="0"/>
          </a:p>
        </p:txBody>
      </p:sp>
      <p:sp>
        <p:nvSpPr>
          <p:cNvPr id="4" name="Shape 2"/>
          <p:cNvSpPr/>
          <p:nvPr/>
        </p:nvSpPr>
        <p:spPr>
          <a:xfrm>
            <a:off x="9109893" y="1209020"/>
            <a:ext cx="2269358" cy="340340"/>
          </a:xfrm>
          <a:prstGeom prst="roundRect">
            <a:avLst>
              <a:gd name="adj" fmla="val 50000"/>
            </a:avLst>
          </a:prstGeom>
          <a:solidFill>
            <a:srgbClr val="14302A"/>
          </a:solidFill>
          <a:ln/>
        </p:spPr>
      </p:sp>
      <p:sp>
        <p:nvSpPr>
          <p:cNvPr id="5" name="Text 3"/>
          <p:cNvSpPr txBox="1"/>
          <p:nvPr/>
        </p:nvSpPr>
        <p:spPr>
          <a:xfrm>
            <a:off x="9262232" y="1257209"/>
            <a:ext cx="2041947"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60 seconds · up to 4 points</a:t>
            </a:r>
            <a:endParaRPr lang="en-US" sz="1200" dirty="0"/>
          </a:p>
        </p:txBody>
      </p:sp>
      <p:sp>
        <p:nvSpPr>
          <p:cNvPr id="6" name="Shape 4"/>
          <p:cNvSpPr/>
          <p:nvPr/>
        </p:nvSpPr>
        <p:spPr>
          <a:xfrm>
            <a:off x="812810" y="1803288"/>
            <a:ext cx="5181630" cy="1407079"/>
          </a:xfrm>
          <a:prstGeom prst="roundRect">
            <a:avLst>
              <a:gd name="adj" fmla="val 9027"/>
            </a:avLst>
          </a:prstGeom>
          <a:solidFill>
            <a:srgbClr val="FFFDF8"/>
          </a:solidFill>
          <a:ln w="12700">
            <a:solidFill>
              <a:srgbClr val="E3DFD2"/>
            </a:solidFill>
            <a:prstDash val="solid"/>
          </a:ln>
        </p:spPr>
      </p:sp>
      <p:sp>
        <p:nvSpPr>
          <p:cNvPr id="7" name="Text 5"/>
          <p:cNvSpPr txBox="1"/>
          <p:nvPr/>
        </p:nvSpPr>
        <p:spPr>
          <a:xfrm>
            <a:off x="1079541" y="202932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1 · WASHING THE DISHES</a:t>
            </a:r>
            <a:endParaRPr lang="en-US" sz="1200" dirty="0"/>
          </a:p>
        </p:txBody>
      </p:sp>
      <p:sp>
        <p:nvSpPr>
          <p:cNvPr id="8" name="Text 6"/>
          <p:cNvSpPr txBox="1"/>
          <p:nvPr/>
        </p:nvSpPr>
        <p:spPr>
          <a:xfrm>
            <a:off x="1079541" y="2359518"/>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“Wash your dirty dishes. Now!”</a:t>
            </a:r>
            <a:endParaRPr lang="en-US" sz="2000" dirty="0"/>
          </a:p>
        </p:txBody>
      </p:sp>
      <p:sp>
        <p:nvSpPr>
          <p:cNvPr id="9" name="Shape 7"/>
          <p:cNvSpPr/>
          <p:nvPr/>
        </p:nvSpPr>
        <p:spPr>
          <a:xfrm>
            <a:off x="6197620" y="1803288"/>
            <a:ext cx="5181630" cy="1407079"/>
          </a:xfrm>
          <a:prstGeom prst="roundRect">
            <a:avLst>
              <a:gd name="adj" fmla="val 9027"/>
            </a:avLst>
          </a:prstGeom>
          <a:solidFill>
            <a:srgbClr val="FFFDF8"/>
          </a:solidFill>
          <a:ln w="12700">
            <a:solidFill>
              <a:srgbClr val="E3DFD2"/>
            </a:solidFill>
            <a:prstDash val="solid"/>
          </a:ln>
        </p:spPr>
      </p:sp>
      <p:sp>
        <p:nvSpPr>
          <p:cNvPr id="10" name="Text 8"/>
          <p:cNvSpPr txBox="1"/>
          <p:nvPr/>
        </p:nvSpPr>
        <p:spPr>
          <a:xfrm>
            <a:off x="6464259" y="202932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2 · THE BATH AND TOILET</a:t>
            </a:r>
            <a:endParaRPr lang="en-US" sz="1200" dirty="0"/>
          </a:p>
        </p:txBody>
      </p:sp>
      <p:sp>
        <p:nvSpPr>
          <p:cNvPr id="11" name="Text 9"/>
          <p:cNvSpPr txBox="1"/>
          <p:nvPr/>
        </p:nvSpPr>
        <p:spPr>
          <a:xfrm>
            <a:off x="6464259" y="2359518"/>
            <a:ext cx="4779294" cy="60963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“The bathroom is disgusting. Clean it!”</a:t>
            </a:r>
            <a:endParaRPr lang="en-US" sz="2000" dirty="0"/>
          </a:p>
        </p:txBody>
      </p:sp>
      <p:sp>
        <p:nvSpPr>
          <p:cNvPr id="12" name="Shape 10"/>
          <p:cNvSpPr/>
          <p:nvPr/>
        </p:nvSpPr>
        <p:spPr>
          <a:xfrm>
            <a:off x="812810" y="3413638"/>
            <a:ext cx="5181630" cy="1102309"/>
          </a:xfrm>
          <a:prstGeom prst="roundRect">
            <a:avLst>
              <a:gd name="adj" fmla="val 11522"/>
            </a:avLst>
          </a:prstGeom>
          <a:solidFill>
            <a:srgbClr val="FFFDF8"/>
          </a:solidFill>
          <a:ln w="12700">
            <a:solidFill>
              <a:srgbClr val="E3DFD2"/>
            </a:solidFill>
            <a:prstDash val="solid"/>
          </a:ln>
        </p:spPr>
      </p:sp>
      <p:sp>
        <p:nvSpPr>
          <p:cNvPr id="13" name="Text 11"/>
          <p:cNvSpPr txBox="1"/>
          <p:nvPr/>
        </p:nvSpPr>
        <p:spPr>
          <a:xfrm>
            <a:off x="1079541" y="363967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3 · VACUUMING THE CARPETS</a:t>
            </a:r>
            <a:endParaRPr lang="en-US" sz="1200" dirty="0"/>
          </a:p>
        </p:txBody>
      </p:sp>
      <p:sp>
        <p:nvSpPr>
          <p:cNvPr id="14" name="Text 12"/>
          <p:cNvSpPr txBox="1"/>
          <p:nvPr/>
        </p:nvSpPr>
        <p:spPr>
          <a:xfrm>
            <a:off x="1079541" y="3969868"/>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“You never vacuum. You're so lazy.”</a:t>
            </a:r>
            <a:endParaRPr lang="en-US" sz="2000" dirty="0"/>
          </a:p>
        </p:txBody>
      </p:sp>
      <p:sp>
        <p:nvSpPr>
          <p:cNvPr id="15" name="Shape 13"/>
          <p:cNvSpPr/>
          <p:nvPr/>
        </p:nvSpPr>
        <p:spPr>
          <a:xfrm>
            <a:off x="6197620" y="3413638"/>
            <a:ext cx="5181630" cy="1102309"/>
          </a:xfrm>
          <a:prstGeom prst="roundRect">
            <a:avLst>
              <a:gd name="adj" fmla="val 11522"/>
            </a:avLst>
          </a:prstGeom>
          <a:solidFill>
            <a:srgbClr val="FFFDF8"/>
          </a:solidFill>
          <a:ln w="12700">
            <a:solidFill>
              <a:srgbClr val="E3DFD2"/>
            </a:solidFill>
            <a:prstDash val="solid"/>
          </a:ln>
        </p:spPr>
      </p:sp>
      <p:sp>
        <p:nvSpPr>
          <p:cNvPr id="16" name="Text 14"/>
          <p:cNvSpPr txBox="1"/>
          <p:nvPr/>
        </p:nvSpPr>
        <p:spPr>
          <a:xfrm>
            <a:off x="6464259" y="363967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4 · TAKING OUT THE RUBBISH</a:t>
            </a:r>
            <a:endParaRPr lang="en-US" sz="1200" dirty="0"/>
          </a:p>
        </p:txBody>
      </p:sp>
      <p:sp>
        <p:nvSpPr>
          <p:cNvPr id="17" name="Text 15"/>
          <p:cNvSpPr txBox="1"/>
          <p:nvPr/>
        </p:nvSpPr>
        <p:spPr>
          <a:xfrm>
            <a:off x="6464259" y="3969868"/>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“Take the rubbish out. It stinks!”</a:t>
            </a:r>
            <a:endParaRPr lang="en-US" sz="2000" dirty="0"/>
          </a:p>
        </p:txBody>
      </p:sp>
      <p:sp>
        <p:nvSpPr>
          <p:cNvPr id="18" name="Text 16"/>
          <p:cNvSpPr txBox="1"/>
          <p:nvPr/>
        </p:nvSpPr>
        <p:spPr>
          <a:xfrm>
            <a:off x="812810" y="4749576"/>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Start with: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Can I have a word with you about…?</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I didn't want to bring it up, but…</a:t>
            </a:r>
            <a:endParaRPr lang="en-US" sz="1600" dirty="0"/>
          </a:p>
        </p:txBody>
      </p:sp>
      <p:sp>
        <p:nvSpPr>
          <p:cNvPr id="19" name="Text 1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20" name="Text 1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376943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3 · CARDS 5–8</a:t>
            </a:r>
            <a:endParaRPr lang="en-US" sz="1200" dirty="0"/>
          </a:p>
        </p:txBody>
      </p:sp>
      <p:sp>
        <p:nvSpPr>
          <p:cNvPr id="3" name="Text 1"/>
          <p:cNvSpPr txBox="1"/>
          <p:nvPr/>
        </p:nvSpPr>
        <p:spPr>
          <a:xfrm>
            <a:off x="812810" y="1102309"/>
            <a:ext cx="3769431"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Make it diplomatic!</a:t>
            </a:r>
            <a:endParaRPr lang="en-US" sz="3200" dirty="0"/>
          </a:p>
        </p:txBody>
      </p:sp>
      <p:sp>
        <p:nvSpPr>
          <p:cNvPr id="4" name="Shape 2"/>
          <p:cNvSpPr/>
          <p:nvPr/>
        </p:nvSpPr>
        <p:spPr>
          <a:xfrm>
            <a:off x="9109893" y="1209020"/>
            <a:ext cx="2269358" cy="340340"/>
          </a:xfrm>
          <a:prstGeom prst="roundRect">
            <a:avLst>
              <a:gd name="adj" fmla="val 50000"/>
            </a:avLst>
          </a:prstGeom>
          <a:solidFill>
            <a:srgbClr val="14302A"/>
          </a:solidFill>
          <a:ln/>
        </p:spPr>
      </p:sp>
      <p:sp>
        <p:nvSpPr>
          <p:cNvPr id="5" name="Text 3"/>
          <p:cNvSpPr txBox="1"/>
          <p:nvPr/>
        </p:nvSpPr>
        <p:spPr>
          <a:xfrm>
            <a:off x="9262232" y="1257209"/>
            <a:ext cx="2041947"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60 seconds · up to 4 points</a:t>
            </a:r>
            <a:endParaRPr lang="en-US" sz="1200" dirty="0"/>
          </a:p>
        </p:txBody>
      </p:sp>
      <p:sp>
        <p:nvSpPr>
          <p:cNvPr id="6" name="Shape 4"/>
          <p:cNvSpPr/>
          <p:nvPr/>
        </p:nvSpPr>
        <p:spPr>
          <a:xfrm>
            <a:off x="812810" y="1803288"/>
            <a:ext cx="5181630" cy="1407079"/>
          </a:xfrm>
          <a:prstGeom prst="roundRect">
            <a:avLst>
              <a:gd name="adj" fmla="val 9027"/>
            </a:avLst>
          </a:prstGeom>
          <a:solidFill>
            <a:srgbClr val="FFFDF8"/>
          </a:solidFill>
          <a:ln w="12700">
            <a:solidFill>
              <a:srgbClr val="E3DFD2"/>
            </a:solidFill>
            <a:prstDash val="solid"/>
          </a:ln>
        </p:spPr>
      </p:sp>
      <p:sp>
        <p:nvSpPr>
          <p:cNvPr id="7" name="Text 5"/>
          <p:cNvSpPr txBox="1"/>
          <p:nvPr/>
        </p:nvSpPr>
        <p:spPr>
          <a:xfrm>
            <a:off x="1079541" y="202932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5 · BORROWING THINGS</a:t>
            </a:r>
            <a:endParaRPr lang="en-US" sz="1200" dirty="0"/>
          </a:p>
        </p:txBody>
      </p:sp>
      <p:sp>
        <p:nvSpPr>
          <p:cNvPr id="8" name="Text 6"/>
          <p:cNvSpPr txBox="1"/>
          <p:nvPr/>
        </p:nvSpPr>
        <p:spPr>
          <a:xfrm>
            <a:off x="1079541" y="2359518"/>
            <a:ext cx="4779294" cy="60963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“Stop using my things without asking!”</a:t>
            </a:r>
            <a:endParaRPr lang="en-US" sz="2000" dirty="0"/>
          </a:p>
        </p:txBody>
      </p:sp>
      <p:sp>
        <p:nvSpPr>
          <p:cNvPr id="9" name="Shape 7"/>
          <p:cNvSpPr/>
          <p:nvPr/>
        </p:nvSpPr>
        <p:spPr>
          <a:xfrm>
            <a:off x="6197620" y="1803288"/>
            <a:ext cx="5181630" cy="1407079"/>
          </a:xfrm>
          <a:prstGeom prst="roundRect">
            <a:avLst>
              <a:gd name="adj" fmla="val 9027"/>
            </a:avLst>
          </a:prstGeom>
          <a:solidFill>
            <a:srgbClr val="FFFDF8"/>
          </a:solidFill>
          <a:ln w="12700">
            <a:solidFill>
              <a:srgbClr val="E3DFD2"/>
            </a:solidFill>
            <a:prstDash val="solid"/>
          </a:ln>
        </p:spPr>
      </p:sp>
      <p:sp>
        <p:nvSpPr>
          <p:cNvPr id="10" name="Text 8"/>
          <p:cNvSpPr txBox="1"/>
          <p:nvPr/>
        </p:nvSpPr>
        <p:spPr>
          <a:xfrm>
            <a:off x="6464259" y="202932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6 · PLAYING MUSIC</a:t>
            </a:r>
            <a:endParaRPr lang="en-US" sz="1200" dirty="0"/>
          </a:p>
        </p:txBody>
      </p:sp>
      <p:sp>
        <p:nvSpPr>
          <p:cNvPr id="11" name="Text 9"/>
          <p:cNvSpPr txBox="1"/>
          <p:nvPr/>
        </p:nvSpPr>
        <p:spPr>
          <a:xfrm>
            <a:off x="6464259" y="2359518"/>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“Your music is terrible and too loud!”</a:t>
            </a:r>
            <a:endParaRPr lang="en-US" sz="2000" dirty="0"/>
          </a:p>
        </p:txBody>
      </p:sp>
      <p:sp>
        <p:nvSpPr>
          <p:cNvPr id="12" name="Shape 10"/>
          <p:cNvSpPr/>
          <p:nvPr/>
        </p:nvSpPr>
        <p:spPr>
          <a:xfrm>
            <a:off x="812810" y="3413638"/>
            <a:ext cx="5181630" cy="1407079"/>
          </a:xfrm>
          <a:prstGeom prst="roundRect">
            <a:avLst>
              <a:gd name="adj" fmla="val 9027"/>
            </a:avLst>
          </a:prstGeom>
          <a:solidFill>
            <a:srgbClr val="FFFDF8"/>
          </a:solidFill>
          <a:ln w="12700">
            <a:solidFill>
              <a:srgbClr val="E3DFD2"/>
            </a:solidFill>
            <a:prstDash val="solid"/>
          </a:ln>
        </p:spPr>
      </p:sp>
      <p:sp>
        <p:nvSpPr>
          <p:cNvPr id="13" name="Text 11"/>
          <p:cNvSpPr txBox="1"/>
          <p:nvPr/>
        </p:nvSpPr>
        <p:spPr>
          <a:xfrm>
            <a:off x="1079541" y="363967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7 · VISITORS</a:t>
            </a:r>
            <a:endParaRPr lang="en-US" sz="1200" dirty="0"/>
          </a:p>
        </p:txBody>
      </p:sp>
      <p:sp>
        <p:nvSpPr>
          <p:cNvPr id="14" name="Text 12"/>
          <p:cNvSpPr txBox="1"/>
          <p:nvPr/>
        </p:nvSpPr>
        <p:spPr>
          <a:xfrm>
            <a:off x="1079541" y="3969868"/>
            <a:ext cx="4779294" cy="60963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“Your friends are here every night. I hate it.”</a:t>
            </a:r>
            <a:endParaRPr lang="en-US" sz="2000" dirty="0"/>
          </a:p>
        </p:txBody>
      </p:sp>
      <p:sp>
        <p:nvSpPr>
          <p:cNvPr id="15" name="Shape 13"/>
          <p:cNvSpPr/>
          <p:nvPr/>
        </p:nvSpPr>
        <p:spPr>
          <a:xfrm>
            <a:off x="6197620" y="3413638"/>
            <a:ext cx="5181630" cy="1407079"/>
          </a:xfrm>
          <a:prstGeom prst="roundRect">
            <a:avLst>
              <a:gd name="adj" fmla="val 9027"/>
            </a:avLst>
          </a:prstGeom>
          <a:solidFill>
            <a:srgbClr val="FFFDF8"/>
          </a:solidFill>
          <a:ln w="12700">
            <a:solidFill>
              <a:srgbClr val="E3DFD2"/>
            </a:solidFill>
            <a:prstDash val="solid"/>
          </a:ln>
        </p:spPr>
      </p:sp>
      <p:sp>
        <p:nvSpPr>
          <p:cNvPr id="16" name="Text 14"/>
          <p:cNvSpPr txBox="1"/>
          <p:nvPr/>
        </p:nvSpPr>
        <p:spPr>
          <a:xfrm>
            <a:off x="6464259" y="3639678"/>
            <a:ext cx="477929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CARD 8 · NOISE</a:t>
            </a:r>
            <a:endParaRPr lang="en-US" sz="1200" dirty="0"/>
          </a:p>
        </p:txBody>
      </p:sp>
      <p:sp>
        <p:nvSpPr>
          <p:cNvPr id="17" name="Text 15"/>
          <p:cNvSpPr txBox="1"/>
          <p:nvPr/>
        </p:nvSpPr>
        <p:spPr>
          <a:xfrm>
            <a:off x="6464259" y="3969868"/>
            <a:ext cx="4779294" cy="304770"/>
          </a:xfrm>
          <a:prstGeom prst="rect">
            <a:avLst/>
          </a:prstGeom>
          <a:noFill/>
          <a:ln/>
        </p:spPr>
        <p:txBody>
          <a:bodyPr wrap="square" lIns="0" tIns="0" rIns="0" bIns="0" rtlCol="0" anchor="t"/>
          <a:lstStyle/>
          <a:p>
            <a:pPr algn="l" indent="0" marL="0">
              <a:lnSpc>
                <a:spcPts val="2400"/>
              </a:lnSpc>
              <a:buNone/>
            </a:pPr>
            <a:r>
              <a:rPr lang="en-US" sz="2000" b="1" dirty="0">
                <a:solidFill>
                  <a:srgbClr val="A33A3A"/>
                </a:solidFill>
                <a:latin typeface="Arial" pitchFamily="34" charset="0"/>
                <a:ea typeface="Arial" pitchFamily="34" charset="-122"/>
                <a:cs typeface="Arial" pitchFamily="34" charset="-120"/>
              </a:rPr>
              <a:t>“It's 2 a.m. Be quiet!”</a:t>
            </a:r>
            <a:endParaRPr lang="en-US" sz="2000" dirty="0"/>
          </a:p>
        </p:txBody>
      </p:sp>
      <p:sp>
        <p:nvSpPr>
          <p:cNvPr id="18" name="Text 16"/>
          <p:cNvSpPr txBox="1"/>
          <p:nvPr/>
        </p:nvSpPr>
        <p:spPr>
          <a:xfrm>
            <a:off x="812810" y="5054437"/>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Add empathy: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Oh dear…</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I'm sorry…</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I didn't realise…</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 or a question tag</a:t>
            </a:r>
            <a:endParaRPr lang="en-US" sz="1600" dirty="0"/>
          </a:p>
        </p:txBody>
      </p:sp>
      <p:sp>
        <p:nvSpPr>
          <p:cNvPr id="19" name="Text 1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20" name="Text 1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LANGUAGE · LEARN THIS!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be supposed to</a:t>
            </a:r>
            <a:endParaRPr lang="en-US" sz="3200" dirty="0"/>
          </a:p>
        </p:txBody>
      </p:sp>
      <p:sp>
        <p:nvSpPr>
          <p:cNvPr id="4" name="Text 2"/>
          <p:cNvSpPr txBox="1"/>
          <p:nvPr/>
        </p:nvSpPr>
        <p:spPr>
          <a:xfrm>
            <a:off x="812810" y="1782989"/>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We use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be supposed to</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for rules and duties: what other people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expect</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you to do.</a:t>
            </a:r>
            <a:endParaRPr lang="en-US" sz="1600" dirty="0"/>
          </a:p>
        </p:txBody>
      </p:sp>
      <p:sp>
        <p:nvSpPr>
          <p:cNvPr id="5" name="Shape 3"/>
          <p:cNvSpPr/>
          <p:nvPr/>
        </p:nvSpPr>
        <p:spPr>
          <a:xfrm>
            <a:off x="812810" y="2341778"/>
            <a:ext cx="3793023" cy="2610978"/>
          </a:xfrm>
          <a:prstGeom prst="roundRect">
            <a:avLst>
              <a:gd name="adj" fmla="val 4864"/>
            </a:avLst>
          </a:prstGeom>
          <a:solidFill>
            <a:srgbClr val="14302A"/>
          </a:solidFill>
          <a:ln/>
        </p:spPr>
      </p:sp>
      <p:sp>
        <p:nvSpPr>
          <p:cNvPr id="6" name="Text 4"/>
          <p:cNvSpPr txBox="1"/>
          <p:nvPr/>
        </p:nvSpPr>
        <p:spPr>
          <a:xfrm>
            <a:off x="1066830" y="2979207"/>
            <a:ext cx="3388858"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8FD3B0"/>
                </a:solidFill>
                <a:latin typeface="Arial" pitchFamily="34" charset="0"/>
                <a:ea typeface="Arial" pitchFamily="34" charset="-122"/>
                <a:cs typeface="Arial" pitchFamily="34" charset="-120"/>
              </a:rPr>
              <a:t>THE FORM</a:t>
            </a:r>
            <a:endParaRPr lang="en-US" sz="1200" dirty="0"/>
          </a:p>
        </p:txBody>
      </p:sp>
      <p:sp>
        <p:nvSpPr>
          <p:cNvPr id="7" name="Text 5"/>
          <p:cNvSpPr txBox="1"/>
          <p:nvPr/>
        </p:nvSpPr>
        <p:spPr>
          <a:xfrm>
            <a:off x="1066830" y="3296686"/>
            <a:ext cx="3388858" cy="1003280"/>
          </a:xfrm>
          <a:prstGeom prst="rect">
            <a:avLst/>
          </a:prstGeom>
          <a:noFill/>
          <a:ln/>
        </p:spPr>
        <p:txBody>
          <a:bodyPr wrap="square" lIns="0" tIns="0" rIns="0" bIns="0" rtlCol="0" anchor="t"/>
          <a:lstStyle/>
          <a:p>
            <a:pPr algn="l" indent="0" marL="0">
              <a:lnSpc>
                <a:spcPts val="2600"/>
              </a:lnSpc>
              <a:buNone/>
            </a:pPr>
            <a:r>
              <a:rPr lang="en-US" sz="2000" b="1" dirty="0">
                <a:solidFill>
                  <a:srgbClr val="F3F0E6"/>
                </a:solidFill>
                <a:latin typeface="Arial" pitchFamily="34" charset="0"/>
                <a:ea typeface="Arial" pitchFamily="34" charset="-122"/>
                <a:cs typeface="Arial" pitchFamily="34" charset="-120"/>
              </a:rPr>
              <a:t>am / is / are</a:t>
            </a:r>
            <a:endParaRPr lang="en-US" sz="2000" dirty="0"/>
          </a:p>
          <a:p>
            <a:pPr algn="l" indent="0" marL="0">
              <a:lnSpc>
                <a:spcPts val="2600"/>
              </a:lnSpc>
              <a:buNone/>
            </a:pPr>
            <a:r>
              <a:rPr lang="en-US" sz="2000" b="1" dirty="0">
                <a:solidFill>
                  <a:srgbClr val="8FD3B0"/>
                </a:solidFill>
                <a:latin typeface="Arial" pitchFamily="34" charset="0"/>
                <a:ea typeface="Arial" pitchFamily="34" charset="-122"/>
                <a:cs typeface="Arial" pitchFamily="34" charset="-120"/>
              </a:rPr>
              <a:t>+ supposed to</a:t>
            </a:r>
            <a:endParaRPr lang="en-US" sz="2000" dirty="0"/>
          </a:p>
          <a:p>
            <a:pPr algn="l" indent="0" marL="0">
              <a:lnSpc>
                <a:spcPts val="2600"/>
              </a:lnSpc>
              <a:buNone/>
            </a:pPr>
            <a:r>
              <a:rPr lang="en-US" sz="2000" b="1" dirty="0">
                <a:solidFill>
                  <a:srgbClr val="F3F0E6"/>
                </a:solidFill>
                <a:latin typeface="Arial" pitchFamily="34" charset="0"/>
                <a:ea typeface="Arial" pitchFamily="34" charset="-122"/>
                <a:cs typeface="Arial" pitchFamily="34" charset="-120"/>
              </a:rPr>
              <a:t>+ verb</a:t>
            </a:r>
            <a:endParaRPr lang="en-US" sz="2000" dirty="0"/>
          </a:p>
        </p:txBody>
      </p:sp>
      <p:sp>
        <p:nvSpPr>
          <p:cNvPr id="8" name="Shape 6"/>
          <p:cNvSpPr/>
          <p:nvPr/>
        </p:nvSpPr>
        <p:spPr>
          <a:xfrm>
            <a:off x="4809012" y="2341778"/>
            <a:ext cx="6570147" cy="802569"/>
          </a:xfrm>
          <a:prstGeom prst="roundRect">
            <a:avLst>
              <a:gd name="adj" fmla="val 12658"/>
            </a:avLst>
          </a:prstGeom>
          <a:solidFill>
            <a:srgbClr val="FFFDF8"/>
          </a:solidFill>
          <a:ln w="12700">
            <a:solidFill>
              <a:srgbClr val="E3DFD2"/>
            </a:solidFill>
            <a:prstDash val="solid"/>
          </a:ln>
        </p:spPr>
      </p:sp>
      <p:sp>
        <p:nvSpPr>
          <p:cNvPr id="9" name="Text 7"/>
          <p:cNvSpPr txBox="1"/>
          <p:nvPr/>
        </p:nvSpPr>
        <p:spPr>
          <a:xfrm>
            <a:off x="5024902" y="2466228"/>
            <a:ext cx="62992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POSITIVE</a:t>
            </a:r>
            <a:endParaRPr lang="en-US" sz="1200" dirty="0"/>
          </a:p>
        </p:txBody>
      </p:sp>
      <p:sp>
        <p:nvSpPr>
          <p:cNvPr id="10" name="Text 8"/>
          <p:cNvSpPr txBox="1"/>
          <p:nvPr/>
        </p:nvSpPr>
        <p:spPr>
          <a:xfrm>
            <a:off x="5024902" y="2699857"/>
            <a:ext cx="629921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're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pay the bills on time.</a:t>
            </a:r>
            <a:endParaRPr lang="en-US" sz="1600" dirty="0"/>
          </a:p>
        </p:txBody>
      </p:sp>
      <p:sp>
        <p:nvSpPr>
          <p:cNvPr id="11" name="Shape 9"/>
          <p:cNvSpPr/>
          <p:nvPr/>
        </p:nvSpPr>
        <p:spPr>
          <a:xfrm>
            <a:off x="4809012" y="3245937"/>
            <a:ext cx="6570147" cy="802569"/>
          </a:xfrm>
          <a:prstGeom prst="roundRect">
            <a:avLst>
              <a:gd name="adj" fmla="val 12658"/>
            </a:avLst>
          </a:prstGeom>
          <a:solidFill>
            <a:srgbClr val="FFFDF8"/>
          </a:solidFill>
          <a:ln w="12700">
            <a:solidFill>
              <a:srgbClr val="E3DFD2"/>
            </a:solidFill>
            <a:prstDash val="solid"/>
          </a:ln>
        </p:spPr>
      </p:sp>
      <p:sp>
        <p:nvSpPr>
          <p:cNvPr id="12" name="Text 10"/>
          <p:cNvSpPr txBox="1"/>
          <p:nvPr/>
        </p:nvSpPr>
        <p:spPr>
          <a:xfrm>
            <a:off x="5024902" y="3370387"/>
            <a:ext cx="62992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NEGATIVE</a:t>
            </a:r>
            <a:endParaRPr lang="en-US" sz="1200" dirty="0"/>
          </a:p>
        </p:txBody>
      </p:sp>
      <p:sp>
        <p:nvSpPr>
          <p:cNvPr id="13" name="Text 11"/>
          <p:cNvSpPr txBox="1"/>
          <p:nvPr/>
        </p:nvSpPr>
        <p:spPr>
          <a:xfrm>
            <a:off x="5024902" y="3604016"/>
            <a:ext cx="629921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'm not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stay out late on weekdays.</a:t>
            </a:r>
            <a:endParaRPr lang="en-US" sz="1600" dirty="0"/>
          </a:p>
        </p:txBody>
      </p:sp>
      <p:sp>
        <p:nvSpPr>
          <p:cNvPr id="14" name="Shape 12"/>
          <p:cNvSpPr/>
          <p:nvPr/>
        </p:nvSpPr>
        <p:spPr>
          <a:xfrm>
            <a:off x="4809012" y="4150096"/>
            <a:ext cx="6570147" cy="802569"/>
          </a:xfrm>
          <a:prstGeom prst="roundRect">
            <a:avLst>
              <a:gd name="adj" fmla="val 12658"/>
            </a:avLst>
          </a:prstGeom>
          <a:solidFill>
            <a:srgbClr val="FFFDF8"/>
          </a:solidFill>
          <a:ln w="12700">
            <a:solidFill>
              <a:srgbClr val="E3DFD2"/>
            </a:solidFill>
            <a:prstDash val="solid"/>
          </a:ln>
        </p:spPr>
      </p:sp>
      <p:sp>
        <p:nvSpPr>
          <p:cNvPr id="15" name="Text 13"/>
          <p:cNvSpPr txBox="1"/>
          <p:nvPr/>
        </p:nvSpPr>
        <p:spPr>
          <a:xfrm>
            <a:off x="5024902" y="4274546"/>
            <a:ext cx="6299210"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QUESTION</a:t>
            </a:r>
            <a:endParaRPr lang="en-US" sz="1200" dirty="0"/>
          </a:p>
        </p:txBody>
      </p:sp>
      <p:sp>
        <p:nvSpPr>
          <p:cNvPr id="16" name="Text 14"/>
          <p:cNvSpPr txBox="1"/>
          <p:nvPr/>
        </p:nvSpPr>
        <p:spPr>
          <a:xfrm>
            <a:off x="5024902" y="4508266"/>
            <a:ext cx="6299210" cy="304770"/>
          </a:xfrm>
          <a:prstGeom prst="rect">
            <a:avLst/>
          </a:prstGeom>
          <a:noFill/>
          <a:ln/>
        </p:spPr>
        <p:txBody>
          <a:bodyPr wrap="square" lIns="0" tIns="0" rIns="0" bIns="0" rtlCol="0" anchor="t"/>
          <a:lstStyle/>
          <a:p>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we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clean the bathroom every week?</a:t>
            </a:r>
            <a:endParaRPr lang="en-US" sz="1600" dirty="0"/>
          </a:p>
        </p:txBody>
      </p:sp>
      <p:sp>
        <p:nvSpPr>
          <p:cNvPr id="17" name="Shape 15"/>
          <p:cNvSpPr/>
          <p:nvPr/>
        </p:nvSpPr>
        <p:spPr>
          <a:xfrm>
            <a:off x="812810" y="5206685"/>
            <a:ext cx="10566441" cy="513070"/>
          </a:xfrm>
          <a:prstGeom prst="roundRect">
            <a:avLst>
              <a:gd name="adj" fmla="val 19800"/>
            </a:avLst>
          </a:prstGeom>
          <a:solidFill>
            <a:srgbClr val="F6E2DF"/>
          </a:solidFill>
          <a:ln/>
        </p:spPr>
      </p:sp>
      <p:sp>
        <p:nvSpPr>
          <p:cNvPr id="18" name="Text 16"/>
          <p:cNvSpPr txBox="1"/>
          <p:nvPr/>
        </p:nvSpPr>
        <p:spPr>
          <a:xfrm>
            <a:off x="1015990" y="5300685"/>
            <a:ext cx="10401300" cy="304770"/>
          </a:xfrm>
          <a:prstGeom prst="rect">
            <a:avLst/>
          </a:prstGeom>
          <a:noFill/>
          <a:ln/>
        </p:spPr>
        <p:txBody>
          <a:bodyPr wrap="square" lIns="0" tIns="0" rIns="0" bIns="0" rtlCol="0" anchor="t"/>
          <a:lstStyle/>
          <a:p>
            <a:pPr algn="l" indent="0" marL="0">
              <a:lnSpc>
                <a:spcPts val="2240"/>
              </a:lnSpc>
              <a:buNone/>
            </a:pPr>
            <a:r>
              <a:rPr lang="en-US" sz="1600" b="1" dirty="0">
                <a:solidFill>
                  <a:srgbClr val="A33A3A"/>
                </a:solidFill>
                <a:latin typeface="Arial" pitchFamily="34" charset="0"/>
                <a:ea typeface="Arial" pitchFamily="34" charset="-122"/>
                <a:cs typeface="Arial" pitchFamily="34" charset="-120"/>
              </a:rPr>
              <a:t>Don't forget be!</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Wrong: </a:t>
            </a:r>
            <a:pPr algn="l" indent="0" marL="0">
              <a:lnSpc>
                <a:spcPts val="2240"/>
              </a:lnSpc>
              <a:buNone/>
            </a:pPr>
            <a:r>
              <a:rPr lang="en-US" sz="1600" i="1" dirty="0">
                <a:solidFill>
                  <a:srgbClr val="14302A"/>
                </a:solidFill>
                <a:latin typeface="Arial" pitchFamily="34" charset="0"/>
                <a:ea typeface="Arial" pitchFamily="34" charset="-122"/>
                <a:cs typeface="Arial" pitchFamily="34" charset="-120"/>
              </a:rPr>
              <a:t>We supposed to pay.</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Right: </a:t>
            </a:r>
            <a:pPr algn="l" indent="0" marL="0">
              <a:lnSpc>
                <a:spcPts val="2240"/>
              </a:lnSpc>
              <a:buNone/>
            </a:pPr>
            <a:r>
              <a:rPr lang="en-US" sz="1600" b="1" dirty="0">
                <a:solidFill>
                  <a:srgbClr val="14302A"/>
                </a:solidFill>
                <a:latin typeface="Arial" pitchFamily="34" charset="0"/>
                <a:ea typeface="Arial" pitchFamily="34" charset="-122"/>
                <a:cs typeface="Arial" pitchFamily="34" charset="-120"/>
              </a:rPr>
              <a:t>We're supposed to pay.</a:t>
            </a:r>
            <a:endParaRPr lang="en-US" sz="1600" dirty="0"/>
          </a:p>
        </p:txBody>
      </p:sp>
      <p:sp>
        <p:nvSpPr>
          <p:cNvPr id="19" name="Text 1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20" name="Text 1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302A"/>
        </a:solidFill>
      </p:bgPr>
    </p:bg>
    <p:spTree>
      <p:nvGrpSpPr>
        <p:cNvPr id="1" name=""/>
        <p:cNvGrpSpPr/>
        <p:nvPr/>
      </p:nvGrpSpPr>
      <p:grpSpPr>
        <a:xfrm>
          <a:off x="0" y="0"/>
          <a:ext cx="0" cy="0"/>
          <a:chOff x="0" y="0"/>
          <a:chExt cx="0" cy="0"/>
        </a:xfrm>
      </p:grpSpPr>
      <p:sp>
        <p:nvSpPr>
          <p:cNvPr id="2" name="Shape 0"/>
          <p:cNvSpPr/>
          <p:nvPr/>
        </p:nvSpPr>
        <p:spPr>
          <a:xfrm>
            <a:off x="812810" y="1162111"/>
            <a:ext cx="1003371" cy="340340"/>
          </a:xfrm>
          <a:prstGeom prst="roundRect">
            <a:avLst>
              <a:gd name="adj" fmla="val 50000"/>
            </a:avLst>
          </a:prstGeom>
          <a:solidFill>
            <a:srgbClr val="8FD3B0"/>
          </a:solidFill>
          <a:ln/>
        </p:spPr>
      </p:sp>
      <p:sp>
        <p:nvSpPr>
          <p:cNvPr id="3" name="Text 1"/>
          <p:cNvSpPr txBox="1"/>
          <p:nvPr/>
        </p:nvSpPr>
        <p:spPr>
          <a:xfrm>
            <a:off x="965241" y="1210391"/>
            <a:ext cx="75063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14302A"/>
                </a:solidFill>
                <a:latin typeface="Arial" pitchFamily="34" charset="0"/>
                <a:ea typeface="Arial" pitchFamily="34" charset="-122"/>
                <a:cs typeface="Arial" pitchFamily="34" charset="-120"/>
              </a:rPr>
              <a:t>GAME 4</a:t>
            </a:r>
            <a:endParaRPr lang="en-US" sz="1200" dirty="0"/>
          </a:p>
        </p:txBody>
      </p:sp>
      <p:sp>
        <p:nvSpPr>
          <p:cNvPr id="4" name="Shape 2"/>
          <p:cNvSpPr/>
          <p:nvPr/>
        </p:nvSpPr>
        <p:spPr>
          <a:xfrm>
            <a:off x="1917771" y="1162111"/>
            <a:ext cx="3056199" cy="340340"/>
          </a:xfrm>
          <a:prstGeom prst="roundRect">
            <a:avLst>
              <a:gd name="adj" fmla="val 50000"/>
            </a:avLst>
          </a:prstGeom>
          <a:ln w="12700">
            <a:solidFill>
              <a:srgbClr val="8FD3B0"/>
            </a:solidFill>
            <a:prstDash val="solid"/>
          </a:ln>
        </p:spPr>
      </p:sp>
      <p:sp>
        <p:nvSpPr>
          <p:cNvPr id="5" name="Text 3"/>
          <p:cNvSpPr txBox="1"/>
          <p:nvPr/>
        </p:nvSpPr>
        <p:spPr>
          <a:xfrm>
            <a:off x="2070202" y="1210391"/>
            <a:ext cx="2844607"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FD3B0"/>
                </a:solidFill>
                <a:latin typeface="Arial" pitchFamily="34" charset="0"/>
                <a:ea typeface="Arial" pitchFamily="34" charset="-122"/>
                <a:cs typeface="Arial" pitchFamily="34" charset="-120"/>
              </a:rPr>
              <a:t>BE SUPPOSED TO · 2 ROUNDS</a:t>
            </a:r>
            <a:endParaRPr lang="en-US" sz="1200" dirty="0"/>
          </a:p>
        </p:txBody>
      </p:sp>
      <p:sp>
        <p:nvSpPr>
          <p:cNvPr id="6" name="Text 4"/>
          <p:cNvSpPr txBox="1"/>
          <p:nvPr/>
        </p:nvSpPr>
        <p:spPr>
          <a:xfrm>
            <a:off x="812810" y="1731051"/>
            <a:ext cx="10815798" cy="800100"/>
          </a:xfrm>
          <a:prstGeom prst="rect">
            <a:avLst/>
          </a:prstGeom>
          <a:noFill/>
          <a:ln/>
        </p:spPr>
        <p:txBody>
          <a:bodyPr wrap="square" lIns="0" tIns="0" rIns="0" bIns="0" rtlCol="0" anchor="t"/>
          <a:lstStyle/>
          <a:p>
            <a:pPr algn="l" indent="0" marL="0">
              <a:lnSpc>
                <a:spcPts val="6300"/>
              </a:lnSpc>
              <a:buNone/>
            </a:pPr>
            <a:r>
              <a:rPr lang="en-US" sz="6000" b="1" dirty="0">
                <a:solidFill>
                  <a:srgbClr val="F3F0E6"/>
                </a:solidFill>
                <a:latin typeface="Arial" pitchFamily="34" charset="0"/>
                <a:ea typeface="Arial" pitchFamily="34" charset="-122"/>
                <a:cs typeface="Arial" pitchFamily="34" charset="-120"/>
              </a:rPr>
              <a:t>House Rules</a:t>
            </a:r>
            <a:endParaRPr lang="en-US" sz="6000" dirty="0"/>
          </a:p>
        </p:txBody>
      </p:sp>
      <p:sp>
        <p:nvSpPr>
          <p:cNvPr id="7" name="Shape 5"/>
          <p:cNvSpPr/>
          <p:nvPr/>
        </p:nvSpPr>
        <p:spPr>
          <a:xfrm>
            <a:off x="812810" y="2759751"/>
            <a:ext cx="355610" cy="355610"/>
          </a:xfrm>
          <a:prstGeom prst="ellipse">
            <a:avLst/>
          </a:prstGeom>
          <a:solidFill>
            <a:srgbClr val="8FD3B0"/>
          </a:solidFill>
          <a:ln/>
        </p:spPr>
      </p:sp>
      <p:sp>
        <p:nvSpPr>
          <p:cNvPr id="8" name="Text 6"/>
          <p:cNvSpPr txBox="1"/>
          <p:nvPr/>
        </p:nvSpPr>
        <p:spPr>
          <a:xfrm>
            <a:off x="790224" y="275975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320759" y="2739451"/>
            <a:ext cx="10297698" cy="589239"/>
          </a:xfrm>
          <a:prstGeom prst="rect">
            <a:avLst/>
          </a:prstGeom>
          <a:noFill/>
          <a:ln/>
        </p:spPr>
        <p:txBody>
          <a:bodyPr wrap="square" lIns="0" tIns="0" rIns="0" bIns="0" rtlCol="0" anchor="t"/>
          <a:lstStyle/>
          <a:p>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Round 1 · Unique rules (3 minutes):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write as many house rules for a shared flat as you can, with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(not) supposed to</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812810" y="3430280"/>
            <a:ext cx="355610" cy="355610"/>
          </a:xfrm>
          <a:prstGeom prst="ellipse">
            <a:avLst/>
          </a:prstGeom>
          <a:solidFill>
            <a:srgbClr val="8FD3B0"/>
          </a:solidFill>
          <a:ln/>
        </p:spPr>
      </p:sp>
      <p:sp>
        <p:nvSpPr>
          <p:cNvPr id="11" name="Text 9"/>
          <p:cNvSpPr txBox="1"/>
          <p:nvPr/>
        </p:nvSpPr>
        <p:spPr>
          <a:xfrm>
            <a:off x="790224" y="3430280"/>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320759" y="3409980"/>
            <a:ext cx="10297698" cy="589239"/>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Teams read their rules aloud. If another team has the same rule, cross it out. Each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unique, correct</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rule: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2 points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812810" y="4100810"/>
            <a:ext cx="355610" cy="355610"/>
          </a:xfrm>
          <a:prstGeom prst="ellipse">
            <a:avLst/>
          </a:prstGeom>
          <a:solidFill>
            <a:srgbClr val="8FD3B0"/>
          </a:solidFill>
          <a:ln/>
        </p:spPr>
      </p:sp>
      <p:sp>
        <p:nvSpPr>
          <p:cNvPr id="14" name="Text 12"/>
          <p:cNvSpPr txBox="1"/>
          <p:nvPr/>
        </p:nvSpPr>
        <p:spPr>
          <a:xfrm>
            <a:off x="790224" y="4100810"/>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1320759" y="4080510"/>
            <a:ext cx="10297698" cy="589239"/>
          </a:xfrm>
          <a:prstGeom prst="rect">
            <a:avLst/>
          </a:prstGeom>
          <a:noFill/>
          <a:ln/>
        </p:spPr>
        <p:txBody>
          <a:bodyPr wrap="square" lIns="0" tIns="0" rIns="0" bIns="0" rtlCol="0" anchor="t"/>
          <a:lstStyle/>
          <a:p>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Round 2 · Rule breakers: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a situation appears. In turn, each team says what the person is (not) supposed to do.</a:t>
            </a:r>
            <a:endParaRPr lang="en-US" sz="1600" dirty="0"/>
          </a:p>
        </p:txBody>
      </p:sp>
      <p:sp>
        <p:nvSpPr>
          <p:cNvPr id="16" name="Shape 14"/>
          <p:cNvSpPr/>
          <p:nvPr/>
        </p:nvSpPr>
        <p:spPr>
          <a:xfrm>
            <a:off x="812810" y="4771339"/>
            <a:ext cx="355610" cy="355610"/>
          </a:xfrm>
          <a:prstGeom prst="ellipse">
            <a:avLst/>
          </a:prstGeom>
          <a:solidFill>
            <a:srgbClr val="8FD3B0"/>
          </a:solidFill>
          <a:ln/>
        </p:spPr>
      </p:sp>
      <p:sp>
        <p:nvSpPr>
          <p:cNvPr id="17" name="Text 15"/>
          <p:cNvSpPr txBox="1"/>
          <p:nvPr/>
        </p:nvSpPr>
        <p:spPr>
          <a:xfrm>
            <a:off x="790224" y="4771339"/>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4</a:t>
            </a:r>
            <a:endParaRPr lang="en-US" sz="1200" dirty="0"/>
          </a:p>
        </p:txBody>
      </p:sp>
      <p:sp>
        <p:nvSpPr>
          <p:cNvPr id="18" name="Text 16"/>
          <p:cNvSpPr txBox="1"/>
          <p:nvPr/>
        </p:nvSpPr>
        <p:spPr>
          <a:xfrm>
            <a:off x="1320759" y="475104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Correct in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15 seconds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2 points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If not, the next team can steal it for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1 point</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812810" y="5355549"/>
            <a:ext cx="1384584" cy="340340"/>
          </a:xfrm>
          <a:prstGeom prst="roundRect">
            <a:avLst>
              <a:gd name="adj" fmla="val 50000"/>
            </a:avLst>
          </a:prstGeom>
          <a:solidFill>
            <a:srgbClr val="F3F0E6"/>
          </a:solidFill>
          <a:ln/>
        </p:spPr>
      </p:sp>
      <p:sp>
        <p:nvSpPr>
          <p:cNvPr id="20" name="Text 18"/>
          <p:cNvSpPr txBox="1"/>
          <p:nvPr/>
        </p:nvSpPr>
        <p:spPr>
          <a:xfrm>
            <a:off x="952530" y="5403830"/>
            <a:ext cx="1165403"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Unique rule: +2</a:t>
            </a:r>
            <a:endParaRPr lang="en-US" sz="1200" dirty="0"/>
          </a:p>
        </p:txBody>
      </p:sp>
      <p:sp>
        <p:nvSpPr>
          <p:cNvPr id="21" name="Shape 19"/>
          <p:cNvSpPr/>
          <p:nvPr/>
        </p:nvSpPr>
        <p:spPr>
          <a:xfrm>
            <a:off x="2298984" y="5355549"/>
            <a:ext cx="1469624" cy="340340"/>
          </a:xfrm>
          <a:prstGeom prst="roundRect">
            <a:avLst>
              <a:gd name="adj" fmla="val 50000"/>
            </a:avLst>
          </a:prstGeom>
          <a:solidFill>
            <a:srgbClr val="F3F0E6"/>
          </a:solidFill>
          <a:ln/>
        </p:spPr>
      </p:sp>
      <p:sp>
        <p:nvSpPr>
          <p:cNvPr id="22" name="Text 20"/>
          <p:cNvSpPr txBox="1"/>
          <p:nvPr/>
        </p:nvSpPr>
        <p:spPr>
          <a:xfrm>
            <a:off x="2438705" y="5403830"/>
            <a:ext cx="1252088"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Rule breaker: +2</a:t>
            </a:r>
            <a:endParaRPr lang="en-US" sz="1200" dirty="0"/>
          </a:p>
        </p:txBody>
      </p:sp>
      <p:sp>
        <p:nvSpPr>
          <p:cNvPr id="23" name="Shape 21"/>
          <p:cNvSpPr/>
          <p:nvPr/>
        </p:nvSpPr>
        <p:spPr>
          <a:xfrm>
            <a:off x="3870198" y="5355549"/>
            <a:ext cx="910560" cy="340340"/>
          </a:xfrm>
          <a:prstGeom prst="roundRect">
            <a:avLst>
              <a:gd name="adj" fmla="val 50000"/>
            </a:avLst>
          </a:prstGeom>
          <a:solidFill>
            <a:srgbClr val="F3F0E6"/>
          </a:solidFill>
          <a:ln/>
        </p:spPr>
      </p:sp>
      <p:sp>
        <p:nvSpPr>
          <p:cNvPr id="24" name="Text 22"/>
          <p:cNvSpPr txBox="1"/>
          <p:nvPr/>
        </p:nvSpPr>
        <p:spPr>
          <a:xfrm>
            <a:off x="4009918" y="5403830"/>
            <a:ext cx="681868"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Steal: +1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2780142"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4 · ROUND 2</a:t>
            </a:r>
            <a:endParaRPr lang="en-US" sz="1200" dirty="0"/>
          </a:p>
        </p:txBody>
      </p:sp>
      <p:sp>
        <p:nvSpPr>
          <p:cNvPr id="3" name="Text 1"/>
          <p:cNvSpPr txBox="1"/>
          <p:nvPr/>
        </p:nvSpPr>
        <p:spPr>
          <a:xfrm>
            <a:off x="812810" y="1102309"/>
            <a:ext cx="2780142"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Rule breakers</a:t>
            </a:r>
            <a:endParaRPr lang="en-US" sz="3200" dirty="0"/>
          </a:p>
        </p:txBody>
      </p:sp>
      <p:sp>
        <p:nvSpPr>
          <p:cNvPr id="4" name="Shape 2"/>
          <p:cNvSpPr/>
          <p:nvPr/>
        </p:nvSpPr>
        <p:spPr>
          <a:xfrm>
            <a:off x="9435511" y="1209020"/>
            <a:ext cx="1943740" cy="340340"/>
          </a:xfrm>
          <a:prstGeom prst="roundRect">
            <a:avLst>
              <a:gd name="adj" fmla="val 50000"/>
            </a:avLst>
          </a:prstGeom>
          <a:solidFill>
            <a:srgbClr val="14302A"/>
          </a:solidFill>
          <a:ln/>
        </p:spPr>
      </p:sp>
      <p:sp>
        <p:nvSpPr>
          <p:cNvPr id="5" name="Text 3"/>
          <p:cNvSpPr txBox="1"/>
          <p:nvPr/>
        </p:nvSpPr>
        <p:spPr>
          <a:xfrm>
            <a:off x="9587941" y="1257209"/>
            <a:ext cx="1709745"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15 seconds · +2 points</a:t>
            </a:r>
            <a:endParaRPr lang="en-US" sz="1200" dirty="0"/>
          </a:p>
        </p:txBody>
      </p:sp>
      <p:sp>
        <p:nvSpPr>
          <p:cNvPr id="6" name="Shape 4"/>
          <p:cNvSpPr/>
          <p:nvPr/>
        </p:nvSpPr>
        <p:spPr>
          <a:xfrm>
            <a:off x="812810" y="1803288"/>
            <a:ext cx="5206959" cy="899130"/>
          </a:xfrm>
          <a:prstGeom prst="roundRect">
            <a:avLst>
              <a:gd name="adj" fmla="val 12712"/>
            </a:avLst>
          </a:prstGeom>
          <a:solidFill>
            <a:srgbClr val="FFFDF8"/>
          </a:solidFill>
          <a:ln w="12700">
            <a:solidFill>
              <a:srgbClr val="E3DFD2"/>
            </a:solidFill>
            <a:prstDash val="solid"/>
          </a:ln>
        </p:spPr>
      </p:sp>
      <p:sp>
        <p:nvSpPr>
          <p:cNvPr id="7" name="Shape 5"/>
          <p:cNvSpPr/>
          <p:nvPr/>
        </p:nvSpPr>
        <p:spPr>
          <a:xfrm>
            <a:off x="1003280" y="2075048"/>
            <a:ext cx="355610" cy="355610"/>
          </a:xfrm>
          <a:prstGeom prst="ellipse">
            <a:avLst/>
          </a:prstGeom>
          <a:solidFill>
            <a:srgbClr val="14302A"/>
          </a:solidFill>
          <a:ln/>
        </p:spPr>
      </p:sp>
      <p:sp>
        <p:nvSpPr>
          <p:cNvPr id="8" name="Text 6"/>
          <p:cNvSpPr txBox="1"/>
          <p:nvPr/>
        </p:nvSpPr>
        <p:spPr>
          <a:xfrm>
            <a:off x="980694" y="207504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511320" y="1948038"/>
            <a:ext cx="4442430" cy="589239"/>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It's Tom's turn to clean the bathroom, but he's playing video games.</a:t>
            </a:r>
            <a:endParaRPr lang="en-US" sz="1600" dirty="0"/>
          </a:p>
        </p:txBody>
      </p:sp>
      <p:sp>
        <p:nvSpPr>
          <p:cNvPr id="10" name="Shape 8"/>
          <p:cNvSpPr/>
          <p:nvPr/>
        </p:nvSpPr>
        <p:spPr>
          <a:xfrm>
            <a:off x="6172200" y="1803288"/>
            <a:ext cx="5206959" cy="899130"/>
          </a:xfrm>
          <a:prstGeom prst="roundRect">
            <a:avLst>
              <a:gd name="adj" fmla="val 12712"/>
            </a:avLst>
          </a:prstGeom>
          <a:solidFill>
            <a:srgbClr val="FFFDF8"/>
          </a:solidFill>
          <a:ln w="12700">
            <a:solidFill>
              <a:srgbClr val="E3DFD2"/>
            </a:solidFill>
            <a:prstDash val="solid"/>
          </a:ln>
        </p:spPr>
      </p:sp>
      <p:sp>
        <p:nvSpPr>
          <p:cNvPr id="11" name="Shape 9"/>
          <p:cNvSpPr/>
          <p:nvPr/>
        </p:nvSpPr>
        <p:spPr>
          <a:xfrm>
            <a:off x="6362670" y="2075048"/>
            <a:ext cx="355610" cy="355610"/>
          </a:xfrm>
          <a:prstGeom prst="ellipse">
            <a:avLst/>
          </a:prstGeom>
          <a:solidFill>
            <a:srgbClr val="14302A"/>
          </a:solidFill>
          <a:ln/>
        </p:spPr>
      </p:sp>
      <p:sp>
        <p:nvSpPr>
          <p:cNvPr id="12" name="Text 10"/>
          <p:cNvSpPr txBox="1"/>
          <p:nvPr/>
        </p:nvSpPr>
        <p:spPr>
          <a:xfrm>
            <a:off x="6340084" y="2075048"/>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6870710" y="2090227"/>
            <a:ext cx="444243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Anna borrowed your laptop without asking.</a:t>
            </a:r>
            <a:endParaRPr lang="en-US" sz="1600" dirty="0"/>
          </a:p>
        </p:txBody>
      </p:sp>
      <p:sp>
        <p:nvSpPr>
          <p:cNvPr id="14" name="Shape 12"/>
          <p:cNvSpPr/>
          <p:nvPr/>
        </p:nvSpPr>
        <p:spPr>
          <a:xfrm>
            <a:off x="812810" y="2854848"/>
            <a:ext cx="5206959" cy="685800"/>
          </a:xfrm>
          <a:prstGeom prst="roundRect">
            <a:avLst>
              <a:gd name="adj" fmla="val 16667"/>
            </a:avLst>
          </a:prstGeom>
          <a:solidFill>
            <a:srgbClr val="FFFDF8"/>
          </a:solidFill>
          <a:ln w="12700">
            <a:solidFill>
              <a:srgbClr val="E3DFD2"/>
            </a:solidFill>
            <a:prstDash val="solid"/>
          </a:ln>
        </p:spPr>
      </p:sp>
      <p:sp>
        <p:nvSpPr>
          <p:cNvPr id="15" name="Shape 13"/>
          <p:cNvSpPr/>
          <p:nvPr/>
        </p:nvSpPr>
        <p:spPr>
          <a:xfrm>
            <a:off x="1003280" y="3019897"/>
            <a:ext cx="355610" cy="355610"/>
          </a:xfrm>
          <a:prstGeom prst="ellipse">
            <a:avLst/>
          </a:prstGeom>
          <a:solidFill>
            <a:srgbClr val="14302A"/>
          </a:solidFill>
          <a:ln/>
        </p:spPr>
      </p:sp>
      <p:sp>
        <p:nvSpPr>
          <p:cNvPr id="16" name="Text 14"/>
          <p:cNvSpPr txBox="1"/>
          <p:nvPr/>
        </p:nvSpPr>
        <p:spPr>
          <a:xfrm>
            <a:off x="980694" y="3019897"/>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511320" y="3035076"/>
            <a:ext cx="444243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Your flatmate is playing the drums at midnight.</a:t>
            </a:r>
            <a:endParaRPr lang="en-US" sz="1600" dirty="0"/>
          </a:p>
        </p:txBody>
      </p:sp>
      <p:sp>
        <p:nvSpPr>
          <p:cNvPr id="18" name="Shape 16"/>
          <p:cNvSpPr/>
          <p:nvPr/>
        </p:nvSpPr>
        <p:spPr>
          <a:xfrm>
            <a:off x="6172200" y="2854848"/>
            <a:ext cx="5206959" cy="685800"/>
          </a:xfrm>
          <a:prstGeom prst="roundRect">
            <a:avLst>
              <a:gd name="adj" fmla="val 16667"/>
            </a:avLst>
          </a:prstGeom>
          <a:solidFill>
            <a:srgbClr val="FFFDF8"/>
          </a:solidFill>
          <a:ln w="12700">
            <a:solidFill>
              <a:srgbClr val="E3DFD2"/>
            </a:solidFill>
            <a:prstDash val="solid"/>
          </a:ln>
        </p:spPr>
      </p:sp>
      <p:sp>
        <p:nvSpPr>
          <p:cNvPr id="19" name="Shape 17"/>
          <p:cNvSpPr/>
          <p:nvPr/>
        </p:nvSpPr>
        <p:spPr>
          <a:xfrm>
            <a:off x="6362670" y="3019897"/>
            <a:ext cx="355610" cy="355610"/>
          </a:xfrm>
          <a:prstGeom prst="ellipse">
            <a:avLst/>
          </a:prstGeom>
          <a:solidFill>
            <a:srgbClr val="14302A"/>
          </a:solidFill>
          <a:ln/>
        </p:spPr>
      </p:sp>
      <p:sp>
        <p:nvSpPr>
          <p:cNvPr id="20" name="Text 18"/>
          <p:cNvSpPr txBox="1"/>
          <p:nvPr/>
        </p:nvSpPr>
        <p:spPr>
          <a:xfrm>
            <a:off x="6340084" y="3019897"/>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4</a:t>
            </a:r>
            <a:endParaRPr lang="en-US" sz="1200" dirty="0"/>
          </a:p>
        </p:txBody>
      </p:sp>
      <p:sp>
        <p:nvSpPr>
          <p:cNvPr id="21" name="Text 19"/>
          <p:cNvSpPr txBox="1"/>
          <p:nvPr/>
        </p:nvSpPr>
        <p:spPr>
          <a:xfrm>
            <a:off x="6870710" y="3035076"/>
            <a:ext cx="4442430"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Nobody has paid the electricity bill, and it's late.</a:t>
            </a:r>
            <a:endParaRPr lang="en-US" sz="1600" dirty="0"/>
          </a:p>
        </p:txBody>
      </p:sp>
      <p:sp>
        <p:nvSpPr>
          <p:cNvPr id="22" name="Shape 20"/>
          <p:cNvSpPr/>
          <p:nvPr/>
        </p:nvSpPr>
        <p:spPr>
          <a:xfrm>
            <a:off x="812810" y="3692987"/>
            <a:ext cx="5206959" cy="899130"/>
          </a:xfrm>
          <a:prstGeom prst="roundRect">
            <a:avLst>
              <a:gd name="adj" fmla="val 12712"/>
            </a:avLst>
          </a:prstGeom>
          <a:solidFill>
            <a:srgbClr val="FFFDF8"/>
          </a:solidFill>
          <a:ln w="12700">
            <a:solidFill>
              <a:srgbClr val="E3DFD2"/>
            </a:solidFill>
            <a:prstDash val="solid"/>
          </a:ln>
        </p:spPr>
      </p:sp>
      <p:sp>
        <p:nvSpPr>
          <p:cNvPr id="23" name="Shape 21"/>
          <p:cNvSpPr/>
          <p:nvPr/>
        </p:nvSpPr>
        <p:spPr>
          <a:xfrm>
            <a:off x="1003280" y="3964747"/>
            <a:ext cx="355610" cy="355610"/>
          </a:xfrm>
          <a:prstGeom prst="ellipse">
            <a:avLst/>
          </a:prstGeom>
          <a:solidFill>
            <a:srgbClr val="14302A"/>
          </a:solidFill>
          <a:ln/>
        </p:spPr>
      </p:sp>
      <p:sp>
        <p:nvSpPr>
          <p:cNvPr id="24" name="Text 22"/>
          <p:cNvSpPr txBox="1"/>
          <p:nvPr/>
        </p:nvSpPr>
        <p:spPr>
          <a:xfrm>
            <a:off x="980694" y="3964747"/>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5</a:t>
            </a:r>
            <a:endParaRPr lang="en-US" sz="1200" dirty="0"/>
          </a:p>
        </p:txBody>
      </p:sp>
      <p:sp>
        <p:nvSpPr>
          <p:cNvPr id="25" name="Text 23"/>
          <p:cNvSpPr txBox="1"/>
          <p:nvPr/>
        </p:nvSpPr>
        <p:spPr>
          <a:xfrm>
            <a:off x="1511320" y="3837828"/>
            <a:ext cx="4442430" cy="589239"/>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Max's friends are staying for the third night this week.</a:t>
            </a:r>
            <a:endParaRPr lang="en-US" sz="1600" dirty="0"/>
          </a:p>
        </p:txBody>
      </p:sp>
      <p:sp>
        <p:nvSpPr>
          <p:cNvPr id="26" name="Shape 24"/>
          <p:cNvSpPr/>
          <p:nvPr/>
        </p:nvSpPr>
        <p:spPr>
          <a:xfrm>
            <a:off x="6172200" y="3692987"/>
            <a:ext cx="5206959" cy="899130"/>
          </a:xfrm>
          <a:prstGeom prst="roundRect">
            <a:avLst>
              <a:gd name="adj" fmla="val 12712"/>
            </a:avLst>
          </a:prstGeom>
          <a:solidFill>
            <a:srgbClr val="FFFDF8"/>
          </a:solidFill>
          <a:ln w="12700">
            <a:solidFill>
              <a:srgbClr val="E3DFD2"/>
            </a:solidFill>
            <a:prstDash val="solid"/>
          </a:ln>
        </p:spPr>
      </p:sp>
      <p:sp>
        <p:nvSpPr>
          <p:cNvPr id="27" name="Shape 25"/>
          <p:cNvSpPr/>
          <p:nvPr/>
        </p:nvSpPr>
        <p:spPr>
          <a:xfrm>
            <a:off x="6362670" y="3964747"/>
            <a:ext cx="355610" cy="355610"/>
          </a:xfrm>
          <a:prstGeom prst="ellipse">
            <a:avLst/>
          </a:prstGeom>
          <a:solidFill>
            <a:srgbClr val="14302A"/>
          </a:solidFill>
          <a:ln/>
        </p:spPr>
      </p:sp>
      <p:sp>
        <p:nvSpPr>
          <p:cNvPr id="28" name="Text 26"/>
          <p:cNvSpPr txBox="1"/>
          <p:nvPr/>
        </p:nvSpPr>
        <p:spPr>
          <a:xfrm>
            <a:off x="6340084" y="3964747"/>
            <a:ext cx="400782" cy="35561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6</a:t>
            </a:r>
            <a:endParaRPr lang="en-US" sz="1200" dirty="0"/>
          </a:p>
        </p:txBody>
      </p:sp>
      <p:sp>
        <p:nvSpPr>
          <p:cNvPr id="29" name="Text 27"/>
          <p:cNvSpPr txBox="1"/>
          <p:nvPr/>
        </p:nvSpPr>
        <p:spPr>
          <a:xfrm>
            <a:off x="6870710" y="3837828"/>
            <a:ext cx="4442430" cy="589239"/>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The rubbish has been in the kitchen for five days.</a:t>
            </a:r>
            <a:endParaRPr lang="en-US" sz="1600" dirty="0"/>
          </a:p>
        </p:txBody>
      </p:sp>
      <p:sp>
        <p:nvSpPr>
          <p:cNvPr id="30" name="Text 28"/>
          <p:cNvSpPr txBox="1"/>
          <p:nvPr/>
        </p:nvSpPr>
        <p:spPr>
          <a:xfrm>
            <a:off x="812810" y="4825837"/>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Start with: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He's supposed to…</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We aren't supposed to…</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 ·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Guests are supposed to…</a:t>
            </a:r>
            <a:endParaRPr lang="en-US" sz="1600" dirty="0"/>
          </a:p>
        </p:txBody>
      </p:sp>
      <p:sp>
        <p:nvSpPr>
          <p:cNvPr id="31" name="Text 29"/>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2" name="Text 30"/>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4 · POSSIBLE ANSWERS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Rule breakers: answers</a:t>
            </a:r>
            <a:endParaRPr lang="en-US" sz="3200" dirty="0"/>
          </a:p>
        </p:txBody>
      </p:sp>
      <p:sp>
        <p:nvSpPr>
          <p:cNvPr id="4" name="Shape 2"/>
          <p:cNvSpPr/>
          <p:nvPr/>
        </p:nvSpPr>
        <p:spPr>
          <a:xfrm>
            <a:off x="812810" y="1803288"/>
            <a:ext cx="10566441" cy="482620"/>
          </a:xfrm>
          <a:prstGeom prst="roundRect">
            <a:avLst>
              <a:gd name="adj" fmla="val 21050"/>
            </a:avLst>
          </a:prstGeom>
          <a:solidFill>
            <a:srgbClr val="FFFDF8"/>
          </a:solidFill>
          <a:ln w="12700">
            <a:solidFill>
              <a:srgbClr val="E3DFD2"/>
            </a:solidFill>
            <a:prstDash val="solid"/>
          </a:ln>
        </p:spPr>
      </p:sp>
      <p:sp>
        <p:nvSpPr>
          <p:cNvPr id="5" name="Shape 3"/>
          <p:cNvSpPr/>
          <p:nvPr/>
        </p:nvSpPr>
        <p:spPr>
          <a:xfrm>
            <a:off x="1003280" y="1892168"/>
            <a:ext cx="304770" cy="304770"/>
          </a:xfrm>
          <a:prstGeom prst="ellipse">
            <a:avLst/>
          </a:prstGeom>
          <a:solidFill>
            <a:srgbClr val="2E7D57"/>
          </a:solidFill>
          <a:ln/>
        </p:spPr>
      </p:sp>
      <p:sp>
        <p:nvSpPr>
          <p:cNvPr id="6" name="Text 4"/>
          <p:cNvSpPr txBox="1"/>
          <p:nvPr/>
        </p:nvSpPr>
        <p:spPr>
          <a:xfrm>
            <a:off x="981243" y="189216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460480" y="1882018"/>
            <a:ext cx="9960834"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Tom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is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clean the bathroom today.</a:t>
            </a:r>
            <a:endParaRPr lang="en-US" sz="1600" dirty="0"/>
          </a:p>
        </p:txBody>
      </p:sp>
      <p:sp>
        <p:nvSpPr>
          <p:cNvPr id="8" name="Shape 6"/>
          <p:cNvSpPr/>
          <p:nvPr/>
        </p:nvSpPr>
        <p:spPr>
          <a:xfrm>
            <a:off x="812810" y="2387498"/>
            <a:ext cx="10566441" cy="482620"/>
          </a:xfrm>
          <a:prstGeom prst="roundRect">
            <a:avLst>
              <a:gd name="adj" fmla="val 21050"/>
            </a:avLst>
          </a:prstGeom>
          <a:solidFill>
            <a:srgbClr val="FFFDF8"/>
          </a:solidFill>
          <a:ln w="12700">
            <a:solidFill>
              <a:srgbClr val="E3DFD2"/>
            </a:solidFill>
            <a:prstDash val="solid"/>
          </a:ln>
        </p:spPr>
      </p:sp>
      <p:sp>
        <p:nvSpPr>
          <p:cNvPr id="9" name="Shape 7"/>
          <p:cNvSpPr/>
          <p:nvPr/>
        </p:nvSpPr>
        <p:spPr>
          <a:xfrm>
            <a:off x="1003280" y="2476378"/>
            <a:ext cx="304770" cy="304770"/>
          </a:xfrm>
          <a:prstGeom prst="ellipse">
            <a:avLst/>
          </a:prstGeom>
          <a:solidFill>
            <a:srgbClr val="2E7D57"/>
          </a:solidFill>
          <a:ln/>
        </p:spPr>
      </p:sp>
      <p:sp>
        <p:nvSpPr>
          <p:cNvPr id="10" name="Text 8"/>
          <p:cNvSpPr txBox="1"/>
          <p:nvPr/>
        </p:nvSpPr>
        <p:spPr>
          <a:xfrm>
            <a:off x="981243" y="247637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1460480" y="2466228"/>
            <a:ext cx="9960834"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aren't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borrow things without asking.</a:t>
            </a:r>
            <a:endParaRPr lang="en-US" sz="1600" dirty="0"/>
          </a:p>
        </p:txBody>
      </p:sp>
      <p:sp>
        <p:nvSpPr>
          <p:cNvPr id="12" name="Shape 10"/>
          <p:cNvSpPr/>
          <p:nvPr/>
        </p:nvSpPr>
        <p:spPr>
          <a:xfrm>
            <a:off x="812810" y="2971709"/>
            <a:ext cx="10566441" cy="482620"/>
          </a:xfrm>
          <a:prstGeom prst="roundRect">
            <a:avLst>
              <a:gd name="adj" fmla="val 21050"/>
            </a:avLst>
          </a:prstGeom>
          <a:solidFill>
            <a:srgbClr val="FFFDF8"/>
          </a:solidFill>
          <a:ln w="12700">
            <a:solidFill>
              <a:srgbClr val="E3DFD2"/>
            </a:solidFill>
            <a:prstDash val="solid"/>
          </a:ln>
        </p:spPr>
      </p:sp>
      <p:sp>
        <p:nvSpPr>
          <p:cNvPr id="13" name="Shape 11"/>
          <p:cNvSpPr/>
          <p:nvPr/>
        </p:nvSpPr>
        <p:spPr>
          <a:xfrm>
            <a:off x="1003280" y="3060588"/>
            <a:ext cx="304770" cy="304770"/>
          </a:xfrm>
          <a:prstGeom prst="ellipse">
            <a:avLst/>
          </a:prstGeom>
          <a:solidFill>
            <a:srgbClr val="2E7D57"/>
          </a:solidFill>
          <a:ln/>
        </p:spPr>
      </p:sp>
      <p:sp>
        <p:nvSpPr>
          <p:cNvPr id="14" name="Text 12"/>
          <p:cNvSpPr txBox="1"/>
          <p:nvPr/>
        </p:nvSpPr>
        <p:spPr>
          <a:xfrm>
            <a:off x="981243" y="306058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1460480" y="3050438"/>
            <a:ext cx="9960834"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aren't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make noise after 11 p.m.</a:t>
            </a:r>
            <a:endParaRPr lang="en-US" sz="1600" dirty="0"/>
          </a:p>
        </p:txBody>
      </p:sp>
      <p:sp>
        <p:nvSpPr>
          <p:cNvPr id="16" name="Shape 14"/>
          <p:cNvSpPr/>
          <p:nvPr/>
        </p:nvSpPr>
        <p:spPr>
          <a:xfrm>
            <a:off x="812810" y="3555919"/>
            <a:ext cx="10566441" cy="482620"/>
          </a:xfrm>
          <a:prstGeom prst="roundRect">
            <a:avLst>
              <a:gd name="adj" fmla="val 21050"/>
            </a:avLst>
          </a:prstGeom>
          <a:solidFill>
            <a:srgbClr val="FFFDF8"/>
          </a:solidFill>
          <a:ln w="12700">
            <a:solidFill>
              <a:srgbClr val="E3DFD2"/>
            </a:solidFill>
            <a:prstDash val="solid"/>
          </a:ln>
        </p:spPr>
      </p:sp>
      <p:sp>
        <p:nvSpPr>
          <p:cNvPr id="17" name="Shape 15"/>
          <p:cNvSpPr/>
          <p:nvPr/>
        </p:nvSpPr>
        <p:spPr>
          <a:xfrm>
            <a:off x="1003280" y="3644798"/>
            <a:ext cx="304770" cy="304770"/>
          </a:xfrm>
          <a:prstGeom prst="ellipse">
            <a:avLst/>
          </a:prstGeom>
          <a:solidFill>
            <a:srgbClr val="2E7D57"/>
          </a:solidFill>
          <a:ln/>
        </p:spPr>
      </p:sp>
      <p:sp>
        <p:nvSpPr>
          <p:cNvPr id="18" name="Text 16"/>
          <p:cNvSpPr txBox="1"/>
          <p:nvPr/>
        </p:nvSpPr>
        <p:spPr>
          <a:xfrm>
            <a:off x="981243" y="3644798"/>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4</a:t>
            </a:r>
            <a:endParaRPr lang="en-US" sz="1200" dirty="0"/>
          </a:p>
        </p:txBody>
      </p:sp>
      <p:sp>
        <p:nvSpPr>
          <p:cNvPr id="19" name="Text 17"/>
          <p:cNvSpPr txBox="1"/>
          <p:nvPr/>
        </p:nvSpPr>
        <p:spPr>
          <a:xfrm>
            <a:off x="1460480" y="3634557"/>
            <a:ext cx="9960834"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're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pay the bills on time.</a:t>
            </a:r>
            <a:endParaRPr lang="en-US" sz="1600" dirty="0"/>
          </a:p>
        </p:txBody>
      </p:sp>
      <p:sp>
        <p:nvSpPr>
          <p:cNvPr id="20" name="Shape 18"/>
          <p:cNvSpPr/>
          <p:nvPr/>
        </p:nvSpPr>
        <p:spPr>
          <a:xfrm>
            <a:off x="812810" y="4140129"/>
            <a:ext cx="10566441" cy="482620"/>
          </a:xfrm>
          <a:prstGeom prst="roundRect">
            <a:avLst>
              <a:gd name="adj" fmla="val 21050"/>
            </a:avLst>
          </a:prstGeom>
          <a:solidFill>
            <a:srgbClr val="FFFDF8"/>
          </a:solidFill>
          <a:ln w="12700">
            <a:solidFill>
              <a:srgbClr val="E3DFD2"/>
            </a:solidFill>
            <a:prstDash val="solid"/>
          </a:ln>
        </p:spPr>
      </p:sp>
      <p:sp>
        <p:nvSpPr>
          <p:cNvPr id="21" name="Shape 19"/>
          <p:cNvSpPr/>
          <p:nvPr/>
        </p:nvSpPr>
        <p:spPr>
          <a:xfrm>
            <a:off x="1003280" y="4229009"/>
            <a:ext cx="304770" cy="304770"/>
          </a:xfrm>
          <a:prstGeom prst="ellipse">
            <a:avLst/>
          </a:prstGeom>
          <a:solidFill>
            <a:srgbClr val="2E7D57"/>
          </a:solidFill>
          <a:ln/>
        </p:spPr>
      </p:sp>
      <p:sp>
        <p:nvSpPr>
          <p:cNvPr id="22" name="Text 20"/>
          <p:cNvSpPr txBox="1"/>
          <p:nvPr/>
        </p:nvSpPr>
        <p:spPr>
          <a:xfrm>
            <a:off x="981243" y="422900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5</a:t>
            </a:r>
            <a:endParaRPr lang="en-US" sz="1200" dirty="0"/>
          </a:p>
        </p:txBody>
      </p:sp>
      <p:sp>
        <p:nvSpPr>
          <p:cNvPr id="23" name="Text 21"/>
          <p:cNvSpPr txBox="1"/>
          <p:nvPr/>
        </p:nvSpPr>
        <p:spPr>
          <a:xfrm>
            <a:off x="1460480" y="4218767"/>
            <a:ext cx="9960834"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Guests </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aren't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stay more than two nights.</a:t>
            </a:r>
            <a:endParaRPr lang="en-US" sz="1600" dirty="0"/>
          </a:p>
        </p:txBody>
      </p:sp>
      <p:sp>
        <p:nvSpPr>
          <p:cNvPr id="24" name="Shape 22"/>
          <p:cNvSpPr/>
          <p:nvPr/>
        </p:nvSpPr>
        <p:spPr>
          <a:xfrm>
            <a:off x="812810" y="4724339"/>
            <a:ext cx="10566441" cy="482620"/>
          </a:xfrm>
          <a:prstGeom prst="roundRect">
            <a:avLst>
              <a:gd name="adj" fmla="val 21050"/>
            </a:avLst>
          </a:prstGeom>
          <a:solidFill>
            <a:srgbClr val="FFFDF8"/>
          </a:solidFill>
          <a:ln w="12700">
            <a:solidFill>
              <a:srgbClr val="E3DFD2"/>
            </a:solidFill>
            <a:prstDash val="solid"/>
          </a:ln>
        </p:spPr>
      </p:sp>
      <p:sp>
        <p:nvSpPr>
          <p:cNvPr id="25" name="Shape 23"/>
          <p:cNvSpPr/>
          <p:nvPr/>
        </p:nvSpPr>
        <p:spPr>
          <a:xfrm>
            <a:off x="1003280" y="4813219"/>
            <a:ext cx="304770" cy="304770"/>
          </a:xfrm>
          <a:prstGeom prst="ellipse">
            <a:avLst/>
          </a:prstGeom>
          <a:solidFill>
            <a:srgbClr val="2E7D57"/>
          </a:solidFill>
          <a:ln/>
        </p:spPr>
      </p:sp>
      <p:sp>
        <p:nvSpPr>
          <p:cNvPr id="26" name="Text 24"/>
          <p:cNvSpPr txBox="1"/>
          <p:nvPr/>
        </p:nvSpPr>
        <p:spPr>
          <a:xfrm>
            <a:off x="981243" y="4813219"/>
            <a:ext cx="349026" cy="304770"/>
          </a:xfrm>
          <a:prstGeom prst="rect">
            <a:avLst/>
          </a:prstGeom>
          <a:noFill/>
          <a:ln/>
        </p:spPr>
        <p:txBody>
          <a:bodyPr wrap="square" lIns="0" tIns="0" rIns="0" bIns="0" rtlCol="0" anchor="ctr"/>
          <a:lstStyle/>
          <a:p>
            <a:pPr algn="ctr" indent="0" marL="0">
              <a:buNone/>
            </a:pPr>
            <a:r>
              <a:rPr lang="en-US" sz="1200" b="1" dirty="0">
                <a:solidFill>
                  <a:srgbClr val="F3F0E6"/>
                </a:solidFill>
                <a:latin typeface="Arial" pitchFamily="34" charset="0"/>
                <a:ea typeface="Arial" pitchFamily="34" charset="-122"/>
                <a:cs typeface="Arial" pitchFamily="34" charset="-120"/>
              </a:rPr>
              <a:t>6</a:t>
            </a:r>
            <a:endParaRPr lang="en-US" sz="1200" dirty="0"/>
          </a:p>
        </p:txBody>
      </p:sp>
      <p:sp>
        <p:nvSpPr>
          <p:cNvPr id="27" name="Text 25"/>
          <p:cNvSpPr txBox="1"/>
          <p:nvPr/>
        </p:nvSpPr>
        <p:spPr>
          <a:xfrm>
            <a:off x="1460480" y="4802977"/>
            <a:ext cx="9960834" cy="304770"/>
          </a:xfrm>
          <a:prstGeom prst="rect">
            <a:avLst/>
          </a:prstGeom>
          <a:noFill/>
          <a:ln/>
        </p:spPr>
        <p:txBody>
          <a:bodyPr wrap="square" lIns="0" tIns="0" rIns="0" bIns="0" rtlCol="0" anchor="t"/>
          <a:lstStyle/>
          <a:p>
            <a:pPr algn="l" indent="0" marL="0">
              <a:lnSpc>
                <a:spcPts val="2240"/>
              </a:lnSpc>
              <a:buNone/>
            </a:pPr>
            <a:r>
              <a:rPr lang="en-US" sz="1600" dirty="0">
                <a:solidFill>
                  <a:srgbClr val="14302A"/>
                </a:solidFill>
                <a:latin typeface="Arial" pitchFamily="34" charset="0"/>
                <a:ea typeface="Arial" pitchFamily="34" charset="-122"/>
                <a:cs typeface="Arial" pitchFamily="34" charset="-120"/>
              </a:rPr>
              <a:t>We</a:t>
            </a:r>
            <a:pPr algn="l" indent="0" marL="0">
              <a:lnSpc>
                <a:spcPts val="2240"/>
              </a:lnSpc>
              <a:buNone/>
            </a:pPr>
            <a:r>
              <a:rPr lang="en-US" sz="1600" b="1" dirty="0">
                <a:solidFill>
                  <a:srgbClr val="2E7D57"/>
                </a:solidFill>
                <a:latin typeface="Arial" pitchFamily="34" charset="0"/>
                <a:ea typeface="Arial" pitchFamily="34" charset="-122"/>
                <a:cs typeface="Arial" pitchFamily="34" charset="-120"/>
              </a:rPr>
              <a:t>'re supposed to</a:t>
            </a:r>
            <a:pPr algn="l" indent="0" marL="0">
              <a:lnSpc>
                <a:spcPts val="2240"/>
              </a:lnSpc>
              <a:buNone/>
            </a:pPr>
            <a:r>
              <a:rPr lang="en-US" sz="1600" dirty="0">
                <a:solidFill>
                  <a:srgbClr val="14302A"/>
                </a:solidFill>
                <a:latin typeface="Arial" pitchFamily="34" charset="0"/>
                <a:ea typeface="Arial" pitchFamily="34" charset="-122"/>
                <a:cs typeface="Arial" pitchFamily="34" charset="-120"/>
              </a:rPr>
              <a:t> take out the rubbish every day.</a:t>
            </a:r>
            <a:endParaRPr lang="en-US" sz="1600" dirty="0"/>
          </a:p>
        </p:txBody>
      </p:sp>
      <p:sp>
        <p:nvSpPr>
          <p:cNvPr id="28" name="Text 26"/>
          <p:cNvSpPr txBox="1"/>
          <p:nvPr/>
        </p:nvSpPr>
        <p:spPr>
          <a:xfrm>
            <a:off x="812810" y="5440589"/>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Other answers are fine too. Check the form: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be + supposed to + verb</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a:t>
            </a:r>
            <a:endParaRPr lang="en-US" sz="1600" dirty="0"/>
          </a:p>
        </p:txBody>
      </p:sp>
      <p:sp>
        <p:nvSpPr>
          <p:cNvPr id="29" name="Text 27"/>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0" name="Text 28"/>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302A"/>
        </a:solidFill>
      </p:bgPr>
    </p:bg>
    <p:spTree>
      <p:nvGrpSpPr>
        <p:cNvPr id="1" name=""/>
        <p:cNvGrpSpPr/>
        <p:nvPr/>
      </p:nvGrpSpPr>
      <p:grpSpPr>
        <a:xfrm>
          <a:off x="0" y="0"/>
          <a:ext cx="0" cy="0"/>
          <a:chOff x="0" y="0"/>
          <a:chExt cx="0" cy="0"/>
        </a:xfrm>
      </p:grpSpPr>
      <p:sp>
        <p:nvSpPr>
          <p:cNvPr id="2" name="Shape 0"/>
          <p:cNvSpPr/>
          <p:nvPr/>
        </p:nvSpPr>
        <p:spPr>
          <a:xfrm>
            <a:off x="812810" y="1482151"/>
            <a:ext cx="2163288" cy="340340"/>
          </a:xfrm>
          <a:prstGeom prst="roundRect">
            <a:avLst>
              <a:gd name="adj" fmla="val 50000"/>
            </a:avLst>
          </a:prstGeom>
          <a:solidFill>
            <a:srgbClr val="8FD3B0"/>
          </a:solidFill>
          <a:ln/>
        </p:spPr>
      </p:sp>
      <p:sp>
        <p:nvSpPr>
          <p:cNvPr id="3" name="Text 1"/>
          <p:cNvSpPr txBox="1"/>
          <p:nvPr/>
        </p:nvSpPr>
        <p:spPr>
          <a:xfrm>
            <a:off x="965241" y="1530431"/>
            <a:ext cx="1933773"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14302A"/>
                </a:solidFill>
                <a:latin typeface="Arial" pitchFamily="34" charset="0"/>
                <a:ea typeface="Arial" pitchFamily="34" charset="-122"/>
                <a:cs typeface="Arial" pitchFamily="34" charset="-120"/>
              </a:rPr>
              <a:t>GAME 5 · THE FINAL</a:t>
            </a:r>
            <a:endParaRPr lang="en-US" sz="1200" dirty="0"/>
          </a:p>
        </p:txBody>
      </p:sp>
      <p:sp>
        <p:nvSpPr>
          <p:cNvPr id="4" name="Shape 2"/>
          <p:cNvSpPr/>
          <p:nvPr/>
        </p:nvSpPr>
        <p:spPr>
          <a:xfrm>
            <a:off x="3077688" y="1482151"/>
            <a:ext cx="2573396" cy="340340"/>
          </a:xfrm>
          <a:prstGeom prst="roundRect">
            <a:avLst>
              <a:gd name="adj" fmla="val 50000"/>
            </a:avLst>
          </a:prstGeom>
          <a:ln w="12700">
            <a:solidFill>
              <a:srgbClr val="8FD3B0"/>
            </a:solidFill>
            <a:prstDash val="solid"/>
          </a:ln>
        </p:spPr>
      </p:sp>
      <p:sp>
        <p:nvSpPr>
          <p:cNvPr id="5" name="Text 3"/>
          <p:cNvSpPr txBox="1"/>
          <p:nvPr/>
        </p:nvSpPr>
        <p:spPr>
          <a:xfrm>
            <a:off x="3230027" y="1530431"/>
            <a:ext cx="2352111"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FD3B0"/>
                </a:solidFill>
                <a:latin typeface="Arial" pitchFamily="34" charset="0"/>
                <a:ea typeface="Arial" pitchFamily="34" charset="-122"/>
                <a:cs typeface="Arial" pitchFamily="34" charset="-120"/>
              </a:rPr>
              <a:t>ROLE-PLAY · 3 MATCHES</a:t>
            </a:r>
            <a:endParaRPr lang="en-US" sz="1200" dirty="0"/>
          </a:p>
        </p:txBody>
      </p:sp>
      <p:sp>
        <p:nvSpPr>
          <p:cNvPr id="6" name="Text 4"/>
          <p:cNvSpPr txBox="1"/>
          <p:nvPr/>
        </p:nvSpPr>
        <p:spPr>
          <a:xfrm>
            <a:off x="812810" y="2051091"/>
            <a:ext cx="10815798" cy="800100"/>
          </a:xfrm>
          <a:prstGeom prst="rect">
            <a:avLst/>
          </a:prstGeom>
          <a:noFill/>
          <a:ln/>
        </p:spPr>
        <p:txBody>
          <a:bodyPr wrap="square" lIns="0" tIns="0" rIns="0" bIns="0" rtlCol="0" anchor="t"/>
          <a:lstStyle/>
          <a:p>
            <a:pPr algn="l" indent="0" marL="0">
              <a:lnSpc>
                <a:spcPts val="6300"/>
              </a:lnSpc>
              <a:buNone/>
            </a:pPr>
            <a:r>
              <a:rPr lang="en-US" sz="6000" b="1" dirty="0">
                <a:solidFill>
                  <a:srgbClr val="F3F0E6"/>
                </a:solidFill>
                <a:latin typeface="Arial" pitchFamily="34" charset="0"/>
                <a:ea typeface="Arial" pitchFamily="34" charset="-122"/>
                <a:cs typeface="Arial" pitchFamily="34" charset="-120"/>
              </a:rPr>
              <a:t>Flatmate Showdown</a:t>
            </a:r>
            <a:endParaRPr lang="en-US" sz="6000" dirty="0"/>
          </a:p>
        </p:txBody>
      </p:sp>
      <p:sp>
        <p:nvSpPr>
          <p:cNvPr id="7" name="Shape 5"/>
          <p:cNvSpPr/>
          <p:nvPr/>
        </p:nvSpPr>
        <p:spPr>
          <a:xfrm>
            <a:off x="812810" y="3079791"/>
            <a:ext cx="355610" cy="355610"/>
          </a:xfrm>
          <a:prstGeom prst="ellipse">
            <a:avLst/>
          </a:prstGeom>
          <a:solidFill>
            <a:srgbClr val="8FD3B0"/>
          </a:solidFill>
          <a:ln/>
        </p:spPr>
      </p:sp>
      <p:sp>
        <p:nvSpPr>
          <p:cNvPr id="8" name="Text 6"/>
          <p:cNvSpPr txBox="1"/>
          <p:nvPr/>
        </p:nvSpPr>
        <p:spPr>
          <a:xfrm>
            <a:off x="790224" y="30797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320759" y="30594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In each match, one player is the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Diplomat</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and a player from another team is the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Difficult flatmate</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812810" y="3536991"/>
            <a:ext cx="355610" cy="355610"/>
          </a:xfrm>
          <a:prstGeom prst="ellipse">
            <a:avLst/>
          </a:prstGeom>
          <a:solidFill>
            <a:srgbClr val="8FD3B0"/>
          </a:solidFill>
          <a:ln/>
        </p:spPr>
      </p:sp>
      <p:sp>
        <p:nvSpPr>
          <p:cNvPr id="11" name="Text 9"/>
          <p:cNvSpPr txBox="1"/>
          <p:nvPr/>
        </p:nvSpPr>
        <p:spPr>
          <a:xfrm>
            <a:off x="790224" y="35369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320759" y="35166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The third team is the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Jury</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They score the match with the scorecard.</a:t>
            </a:r>
            <a:endParaRPr lang="en-US" sz="1600" dirty="0"/>
          </a:p>
        </p:txBody>
      </p:sp>
      <p:sp>
        <p:nvSpPr>
          <p:cNvPr id="13" name="Shape 11"/>
          <p:cNvSpPr/>
          <p:nvPr/>
        </p:nvSpPr>
        <p:spPr>
          <a:xfrm>
            <a:off x="812810" y="3994191"/>
            <a:ext cx="355610" cy="355610"/>
          </a:xfrm>
          <a:prstGeom prst="ellipse">
            <a:avLst/>
          </a:prstGeom>
          <a:solidFill>
            <a:srgbClr val="8FD3B0"/>
          </a:solidFill>
          <a:ln/>
        </p:spPr>
      </p:sp>
      <p:sp>
        <p:nvSpPr>
          <p:cNvPr id="14" name="Text 12"/>
          <p:cNvSpPr txBox="1"/>
          <p:nvPr/>
        </p:nvSpPr>
        <p:spPr>
          <a:xfrm>
            <a:off x="790224" y="39941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1320759" y="39738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Pick a topic card from 1 to 8. Talk for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3 minutes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and agree on clear rules for the flat.</a:t>
            </a:r>
            <a:endParaRPr lang="en-US" sz="1600" dirty="0"/>
          </a:p>
        </p:txBody>
      </p:sp>
      <p:sp>
        <p:nvSpPr>
          <p:cNvPr id="16" name="Shape 14"/>
          <p:cNvSpPr/>
          <p:nvPr/>
        </p:nvSpPr>
        <p:spPr>
          <a:xfrm>
            <a:off x="812810" y="4451391"/>
            <a:ext cx="355610" cy="355610"/>
          </a:xfrm>
          <a:prstGeom prst="ellipse">
            <a:avLst/>
          </a:prstGeom>
          <a:solidFill>
            <a:srgbClr val="8FD3B0"/>
          </a:solidFill>
          <a:ln/>
        </p:spPr>
      </p:sp>
      <p:sp>
        <p:nvSpPr>
          <p:cNvPr id="17" name="Text 15"/>
          <p:cNvSpPr txBox="1"/>
          <p:nvPr/>
        </p:nvSpPr>
        <p:spPr>
          <a:xfrm>
            <a:off x="790224" y="4451391"/>
            <a:ext cx="400782" cy="355610"/>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4</a:t>
            </a:r>
            <a:endParaRPr lang="en-US" sz="1200" dirty="0"/>
          </a:p>
        </p:txBody>
      </p:sp>
      <p:sp>
        <p:nvSpPr>
          <p:cNvPr id="18" name="Text 16"/>
          <p:cNvSpPr txBox="1"/>
          <p:nvPr/>
        </p:nvSpPr>
        <p:spPr>
          <a:xfrm>
            <a:off x="1320759" y="4431000"/>
            <a:ext cx="10297698" cy="304770"/>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The Diplomat's team can win up to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7 points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The Difficult flatmate's team can win up to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2 points</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812810" y="5035509"/>
            <a:ext cx="1612910" cy="340340"/>
          </a:xfrm>
          <a:prstGeom prst="roundRect">
            <a:avLst>
              <a:gd name="adj" fmla="val 50000"/>
            </a:avLst>
          </a:prstGeom>
          <a:solidFill>
            <a:srgbClr val="F3F0E6"/>
          </a:solidFill>
          <a:ln/>
        </p:spPr>
      </p:sp>
      <p:sp>
        <p:nvSpPr>
          <p:cNvPr id="20" name="Text 18"/>
          <p:cNvSpPr txBox="1"/>
          <p:nvPr/>
        </p:nvSpPr>
        <p:spPr>
          <a:xfrm>
            <a:off x="952530" y="5083790"/>
            <a:ext cx="1398300"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Diplomat: up to +7</a:t>
            </a:r>
            <a:endParaRPr lang="en-US" sz="1200" dirty="0"/>
          </a:p>
        </p:txBody>
      </p:sp>
      <p:sp>
        <p:nvSpPr>
          <p:cNvPr id="21" name="Shape 19"/>
          <p:cNvSpPr/>
          <p:nvPr/>
        </p:nvSpPr>
        <p:spPr>
          <a:xfrm>
            <a:off x="2527310" y="5035509"/>
            <a:ext cx="2154966" cy="340340"/>
          </a:xfrm>
          <a:prstGeom prst="roundRect">
            <a:avLst>
              <a:gd name="adj" fmla="val 50000"/>
            </a:avLst>
          </a:prstGeom>
          <a:solidFill>
            <a:srgbClr val="F3F0E6"/>
          </a:solidFill>
          <a:ln/>
        </p:spPr>
      </p:sp>
      <p:sp>
        <p:nvSpPr>
          <p:cNvPr id="22" name="Text 20"/>
          <p:cNvSpPr txBox="1"/>
          <p:nvPr/>
        </p:nvSpPr>
        <p:spPr>
          <a:xfrm>
            <a:off x="2667030" y="5083790"/>
            <a:ext cx="1951147"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Difficult flatmate: up to +2</a:t>
            </a:r>
            <a:endParaRPr lang="en-US" sz="1200" dirty="0"/>
          </a:p>
        </p:txBody>
      </p:sp>
      <p:sp>
        <p:nvSpPr>
          <p:cNvPr id="23" name="Shape 21"/>
          <p:cNvSpPr/>
          <p:nvPr/>
        </p:nvSpPr>
        <p:spPr>
          <a:xfrm>
            <a:off x="4783866" y="5035509"/>
            <a:ext cx="1761500" cy="340340"/>
          </a:xfrm>
          <a:prstGeom prst="roundRect">
            <a:avLst>
              <a:gd name="adj" fmla="val 50000"/>
            </a:avLst>
          </a:prstGeom>
          <a:solidFill>
            <a:srgbClr val="F3F0E6"/>
          </a:solidFill>
          <a:ln/>
        </p:spPr>
      </p:sp>
      <p:sp>
        <p:nvSpPr>
          <p:cNvPr id="24" name="Text 22"/>
          <p:cNvSpPr txBox="1"/>
          <p:nvPr/>
        </p:nvSpPr>
        <p:spPr>
          <a:xfrm>
            <a:off x="4923495" y="5083790"/>
            <a:ext cx="1549908" cy="228600"/>
          </a:xfrm>
          <a:prstGeom prst="rect">
            <a:avLst/>
          </a:prstGeom>
          <a:noFill/>
          <a:ln/>
        </p:spPr>
        <p:txBody>
          <a:bodyPr wrap="square" lIns="0" tIns="0" rIns="0" bIns="0" rtlCol="0" anchor="t"/>
          <a:lstStyle/>
          <a:p>
            <a:pPr algn="l" indent="0" marL="0">
              <a:lnSpc>
                <a:spcPts val="1680"/>
              </a:lnSpc>
              <a:buNone/>
            </a:pPr>
            <a:r>
              <a:rPr lang="en-US" sz="1200" b="1" dirty="0">
                <a:solidFill>
                  <a:srgbClr val="14302A"/>
                </a:solidFill>
                <a:latin typeface="Arial" pitchFamily="34" charset="0"/>
                <a:ea typeface="Arial" pitchFamily="34" charset="-122"/>
                <a:cs typeface="Arial" pitchFamily="34" charset="-120"/>
              </a:rPr>
              <a:t>3 minutes per match</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5 · THE ORDER OF PLAY</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Who plays which role?</a:t>
            </a:r>
            <a:endParaRPr lang="en-US" sz="3200" dirty="0"/>
          </a:p>
        </p:txBody>
      </p:sp>
      <p:sp>
        <p:nvSpPr>
          <p:cNvPr id="4" name="Text 2"/>
          <p:cNvSpPr txBox="1"/>
          <p:nvPr/>
        </p:nvSpPr>
        <p:spPr>
          <a:xfrm>
            <a:off x="812810" y="1988637"/>
            <a:ext cx="1463040" cy="381030"/>
          </a:xfrm>
          <a:prstGeom prst="rect">
            <a:avLst/>
          </a:prstGeom>
          <a:noFill/>
          <a:ln/>
        </p:spPr>
        <p:txBody>
          <a:bodyPr wrap="square" lIns="0" tIns="0" rIns="0" bIns="0" rtlCol="0" anchor="t"/>
          <a:lstStyle/>
          <a:p>
            <a:pPr algn="l" indent="0" marL="0">
              <a:lnSpc>
                <a:spcPts val="2800"/>
              </a:lnSpc>
              <a:buNone/>
            </a:pPr>
            <a:r>
              <a:rPr lang="en-US" sz="2000" b="1" dirty="0">
                <a:solidFill>
                  <a:srgbClr val="14302A"/>
                </a:solidFill>
                <a:latin typeface="Arial" pitchFamily="34" charset="0"/>
                <a:ea typeface="Arial" pitchFamily="34" charset="-122"/>
                <a:cs typeface="Arial" pitchFamily="34" charset="-120"/>
              </a:rPr>
              <a:t>Match 1</a:t>
            </a:r>
            <a:endParaRPr lang="en-US" sz="2000" dirty="0"/>
          </a:p>
        </p:txBody>
      </p:sp>
      <p:sp>
        <p:nvSpPr>
          <p:cNvPr id="5" name="Shape 3"/>
          <p:cNvSpPr/>
          <p:nvPr/>
        </p:nvSpPr>
        <p:spPr>
          <a:xfrm>
            <a:off x="2362170" y="1803288"/>
            <a:ext cx="2904043" cy="777149"/>
          </a:xfrm>
          <a:prstGeom prst="roundRect">
            <a:avLst>
              <a:gd name="adj" fmla="val 13072"/>
            </a:avLst>
          </a:prstGeom>
          <a:solidFill>
            <a:srgbClr val="E3EAFA"/>
          </a:solidFill>
          <a:ln/>
        </p:spPr>
      </p:sp>
      <p:sp>
        <p:nvSpPr>
          <p:cNvPr id="6" name="Text 4"/>
          <p:cNvSpPr txBox="1"/>
          <p:nvPr/>
        </p:nvSpPr>
        <p:spPr>
          <a:xfrm>
            <a:off x="2540020" y="1915028"/>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DIPLOMAT</a:t>
            </a:r>
            <a:endParaRPr lang="en-US" sz="1200" dirty="0"/>
          </a:p>
        </p:txBody>
      </p:sp>
      <p:sp>
        <p:nvSpPr>
          <p:cNvPr id="7" name="Text 5"/>
          <p:cNvSpPr txBox="1"/>
          <p:nvPr/>
        </p:nvSpPr>
        <p:spPr>
          <a:xfrm>
            <a:off x="2540020" y="2148657"/>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2F62C9"/>
                </a:solidFill>
                <a:latin typeface="Arial" pitchFamily="34" charset="0"/>
                <a:ea typeface="Arial" pitchFamily="34" charset="-122"/>
                <a:cs typeface="Arial" pitchFamily="34" charset="-120"/>
              </a:rPr>
              <a:t>Team 1 · Diplomats</a:t>
            </a:r>
            <a:endParaRPr lang="en-US" sz="1600" dirty="0"/>
          </a:p>
        </p:txBody>
      </p:sp>
      <p:sp>
        <p:nvSpPr>
          <p:cNvPr id="8" name="Shape 6"/>
          <p:cNvSpPr/>
          <p:nvPr/>
        </p:nvSpPr>
        <p:spPr>
          <a:xfrm>
            <a:off x="5418643" y="1803288"/>
            <a:ext cx="2904043" cy="777149"/>
          </a:xfrm>
          <a:prstGeom prst="roundRect">
            <a:avLst>
              <a:gd name="adj" fmla="val 13072"/>
            </a:avLst>
          </a:prstGeom>
          <a:solidFill>
            <a:srgbClr val="FBE9D6"/>
          </a:solidFill>
          <a:ln/>
        </p:spPr>
      </p:sp>
      <p:sp>
        <p:nvSpPr>
          <p:cNvPr id="9" name="Text 7"/>
          <p:cNvSpPr txBox="1"/>
          <p:nvPr/>
        </p:nvSpPr>
        <p:spPr>
          <a:xfrm>
            <a:off x="5596402" y="1915028"/>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DIFFICULT FLATMATE</a:t>
            </a:r>
            <a:endParaRPr lang="en-US" sz="1200" dirty="0"/>
          </a:p>
        </p:txBody>
      </p:sp>
      <p:sp>
        <p:nvSpPr>
          <p:cNvPr id="10" name="Text 8"/>
          <p:cNvSpPr txBox="1"/>
          <p:nvPr/>
        </p:nvSpPr>
        <p:spPr>
          <a:xfrm>
            <a:off x="5596402" y="2148657"/>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9A4C0C"/>
                </a:solidFill>
                <a:latin typeface="Arial" pitchFamily="34" charset="0"/>
                <a:ea typeface="Arial" pitchFamily="34" charset="-122"/>
                <a:cs typeface="Arial" pitchFamily="34" charset="-120"/>
              </a:rPr>
              <a:t>Team 2 · Negotiators</a:t>
            </a:r>
            <a:endParaRPr lang="en-US" sz="1600" dirty="0"/>
          </a:p>
        </p:txBody>
      </p:sp>
      <p:sp>
        <p:nvSpPr>
          <p:cNvPr id="11" name="Shape 9"/>
          <p:cNvSpPr/>
          <p:nvPr/>
        </p:nvSpPr>
        <p:spPr>
          <a:xfrm>
            <a:off x="8475025" y="1803288"/>
            <a:ext cx="2904043" cy="777149"/>
          </a:xfrm>
          <a:prstGeom prst="roundRect">
            <a:avLst>
              <a:gd name="adj" fmla="val 13072"/>
            </a:avLst>
          </a:prstGeom>
          <a:solidFill>
            <a:srgbClr val="EEE5F8"/>
          </a:solidFill>
          <a:ln/>
        </p:spPr>
      </p:sp>
      <p:sp>
        <p:nvSpPr>
          <p:cNvPr id="12" name="Text 10"/>
          <p:cNvSpPr txBox="1"/>
          <p:nvPr/>
        </p:nvSpPr>
        <p:spPr>
          <a:xfrm>
            <a:off x="8652876" y="1915028"/>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JURY</a:t>
            </a:r>
            <a:endParaRPr lang="en-US" sz="1200" dirty="0"/>
          </a:p>
        </p:txBody>
      </p:sp>
      <p:sp>
        <p:nvSpPr>
          <p:cNvPr id="13" name="Text 11"/>
          <p:cNvSpPr txBox="1"/>
          <p:nvPr/>
        </p:nvSpPr>
        <p:spPr>
          <a:xfrm>
            <a:off x="8652876" y="2148657"/>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7A47B0"/>
                </a:solidFill>
                <a:latin typeface="Arial" pitchFamily="34" charset="0"/>
                <a:ea typeface="Arial" pitchFamily="34" charset="-122"/>
                <a:cs typeface="Arial" pitchFamily="34" charset="-120"/>
              </a:rPr>
              <a:t>Team 3 · Peacemakers</a:t>
            </a:r>
            <a:endParaRPr lang="en-US" sz="1600" dirty="0"/>
          </a:p>
        </p:txBody>
      </p:sp>
      <p:sp>
        <p:nvSpPr>
          <p:cNvPr id="14" name="Text 12"/>
          <p:cNvSpPr txBox="1"/>
          <p:nvPr/>
        </p:nvSpPr>
        <p:spPr>
          <a:xfrm>
            <a:off x="812810" y="2918216"/>
            <a:ext cx="1463040" cy="381030"/>
          </a:xfrm>
          <a:prstGeom prst="rect">
            <a:avLst/>
          </a:prstGeom>
          <a:noFill/>
          <a:ln/>
        </p:spPr>
        <p:txBody>
          <a:bodyPr wrap="square" lIns="0" tIns="0" rIns="0" bIns="0" rtlCol="0" anchor="t"/>
          <a:lstStyle/>
          <a:p>
            <a:pPr algn="l" indent="0" marL="0">
              <a:lnSpc>
                <a:spcPts val="2800"/>
              </a:lnSpc>
              <a:buNone/>
            </a:pPr>
            <a:r>
              <a:rPr lang="en-US" sz="2000" b="1" dirty="0">
                <a:solidFill>
                  <a:srgbClr val="14302A"/>
                </a:solidFill>
                <a:latin typeface="Arial" pitchFamily="34" charset="0"/>
                <a:ea typeface="Arial" pitchFamily="34" charset="-122"/>
                <a:cs typeface="Arial" pitchFamily="34" charset="-120"/>
              </a:rPr>
              <a:t>Match 2</a:t>
            </a:r>
            <a:endParaRPr lang="en-US" sz="2000" dirty="0"/>
          </a:p>
        </p:txBody>
      </p:sp>
      <p:sp>
        <p:nvSpPr>
          <p:cNvPr id="15" name="Shape 13"/>
          <p:cNvSpPr/>
          <p:nvPr/>
        </p:nvSpPr>
        <p:spPr>
          <a:xfrm>
            <a:off x="2362170" y="2732867"/>
            <a:ext cx="2904043" cy="777149"/>
          </a:xfrm>
          <a:prstGeom prst="roundRect">
            <a:avLst>
              <a:gd name="adj" fmla="val 13072"/>
            </a:avLst>
          </a:prstGeom>
          <a:solidFill>
            <a:srgbClr val="FBE9D6"/>
          </a:solidFill>
          <a:ln/>
        </p:spPr>
      </p:sp>
      <p:sp>
        <p:nvSpPr>
          <p:cNvPr id="16" name="Text 14"/>
          <p:cNvSpPr txBox="1"/>
          <p:nvPr/>
        </p:nvSpPr>
        <p:spPr>
          <a:xfrm>
            <a:off x="2540020" y="2844607"/>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DIPLOMAT</a:t>
            </a:r>
            <a:endParaRPr lang="en-US" sz="1200" dirty="0"/>
          </a:p>
        </p:txBody>
      </p:sp>
      <p:sp>
        <p:nvSpPr>
          <p:cNvPr id="17" name="Text 15"/>
          <p:cNvSpPr txBox="1"/>
          <p:nvPr/>
        </p:nvSpPr>
        <p:spPr>
          <a:xfrm>
            <a:off x="2540020" y="3078236"/>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9A4C0C"/>
                </a:solidFill>
                <a:latin typeface="Arial" pitchFamily="34" charset="0"/>
                <a:ea typeface="Arial" pitchFamily="34" charset="-122"/>
                <a:cs typeface="Arial" pitchFamily="34" charset="-120"/>
              </a:rPr>
              <a:t>Team 2 · Negotiators</a:t>
            </a:r>
            <a:endParaRPr lang="en-US" sz="1600" dirty="0"/>
          </a:p>
        </p:txBody>
      </p:sp>
      <p:sp>
        <p:nvSpPr>
          <p:cNvPr id="18" name="Shape 16"/>
          <p:cNvSpPr/>
          <p:nvPr/>
        </p:nvSpPr>
        <p:spPr>
          <a:xfrm>
            <a:off x="5418643" y="2732867"/>
            <a:ext cx="2904043" cy="777149"/>
          </a:xfrm>
          <a:prstGeom prst="roundRect">
            <a:avLst>
              <a:gd name="adj" fmla="val 13072"/>
            </a:avLst>
          </a:prstGeom>
          <a:solidFill>
            <a:srgbClr val="EEE5F8"/>
          </a:solidFill>
          <a:ln/>
        </p:spPr>
      </p:sp>
      <p:sp>
        <p:nvSpPr>
          <p:cNvPr id="19" name="Text 17"/>
          <p:cNvSpPr txBox="1"/>
          <p:nvPr/>
        </p:nvSpPr>
        <p:spPr>
          <a:xfrm>
            <a:off x="5596402" y="2844607"/>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DIFFICULT FLATMATE</a:t>
            </a:r>
            <a:endParaRPr lang="en-US" sz="1200" dirty="0"/>
          </a:p>
        </p:txBody>
      </p:sp>
      <p:sp>
        <p:nvSpPr>
          <p:cNvPr id="20" name="Text 18"/>
          <p:cNvSpPr txBox="1"/>
          <p:nvPr/>
        </p:nvSpPr>
        <p:spPr>
          <a:xfrm>
            <a:off x="5596402" y="3078236"/>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7A47B0"/>
                </a:solidFill>
                <a:latin typeface="Arial" pitchFamily="34" charset="0"/>
                <a:ea typeface="Arial" pitchFamily="34" charset="-122"/>
                <a:cs typeface="Arial" pitchFamily="34" charset="-120"/>
              </a:rPr>
              <a:t>Team 3 · Peacemakers</a:t>
            </a:r>
            <a:endParaRPr lang="en-US" sz="1600" dirty="0"/>
          </a:p>
        </p:txBody>
      </p:sp>
      <p:sp>
        <p:nvSpPr>
          <p:cNvPr id="21" name="Shape 19"/>
          <p:cNvSpPr/>
          <p:nvPr/>
        </p:nvSpPr>
        <p:spPr>
          <a:xfrm>
            <a:off x="8475025" y="2732867"/>
            <a:ext cx="2904043" cy="777149"/>
          </a:xfrm>
          <a:prstGeom prst="roundRect">
            <a:avLst>
              <a:gd name="adj" fmla="val 13072"/>
            </a:avLst>
          </a:prstGeom>
          <a:solidFill>
            <a:srgbClr val="E3EAFA"/>
          </a:solidFill>
          <a:ln/>
        </p:spPr>
      </p:sp>
      <p:sp>
        <p:nvSpPr>
          <p:cNvPr id="22" name="Text 20"/>
          <p:cNvSpPr txBox="1"/>
          <p:nvPr/>
        </p:nvSpPr>
        <p:spPr>
          <a:xfrm>
            <a:off x="8652876" y="2844607"/>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JURY</a:t>
            </a:r>
            <a:endParaRPr lang="en-US" sz="1200" dirty="0"/>
          </a:p>
        </p:txBody>
      </p:sp>
      <p:sp>
        <p:nvSpPr>
          <p:cNvPr id="23" name="Text 21"/>
          <p:cNvSpPr txBox="1"/>
          <p:nvPr/>
        </p:nvSpPr>
        <p:spPr>
          <a:xfrm>
            <a:off x="8652876" y="3078236"/>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2F62C9"/>
                </a:solidFill>
                <a:latin typeface="Arial" pitchFamily="34" charset="0"/>
                <a:ea typeface="Arial" pitchFamily="34" charset="-122"/>
                <a:cs typeface="Arial" pitchFamily="34" charset="-120"/>
              </a:rPr>
              <a:t>Team 1 · Diplomats</a:t>
            </a:r>
            <a:endParaRPr lang="en-US" sz="1600" dirty="0"/>
          </a:p>
        </p:txBody>
      </p:sp>
      <p:sp>
        <p:nvSpPr>
          <p:cNvPr id="24" name="Text 22"/>
          <p:cNvSpPr txBox="1"/>
          <p:nvPr/>
        </p:nvSpPr>
        <p:spPr>
          <a:xfrm>
            <a:off x="812810" y="3847795"/>
            <a:ext cx="1463040" cy="381030"/>
          </a:xfrm>
          <a:prstGeom prst="rect">
            <a:avLst/>
          </a:prstGeom>
          <a:noFill/>
          <a:ln/>
        </p:spPr>
        <p:txBody>
          <a:bodyPr wrap="square" lIns="0" tIns="0" rIns="0" bIns="0" rtlCol="0" anchor="t"/>
          <a:lstStyle/>
          <a:p>
            <a:pPr algn="l" indent="0" marL="0">
              <a:lnSpc>
                <a:spcPts val="2800"/>
              </a:lnSpc>
              <a:buNone/>
            </a:pPr>
            <a:r>
              <a:rPr lang="en-US" sz="2000" b="1" dirty="0">
                <a:solidFill>
                  <a:srgbClr val="14302A"/>
                </a:solidFill>
                <a:latin typeface="Arial" pitchFamily="34" charset="0"/>
                <a:ea typeface="Arial" pitchFamily="34" charset="-122"/>
                <a:cs typeface="Arial" pitchFamily="34" charset="-120"/>
              </a:rPr>
              <a:t>Match 3</a:t>
            </a:r>
            <a:endParaRPr lang="en-US" sz="2000" dirty="0"/>
          </a:p>
        </p:txBody>
      </p:sp>
      <p:sp>
        <p:nvSpPr>
          <p:cNvPr id="25" name="Shape 23"/>
          <p:cNvSpPr/>
          <p:nvPr/>
        </p:nvSpPr>
        <p:spPr>
          <a:xfrm>
            <a:off x="2362170" y="3662446"/>
            <a:ext cx="2904043" cy="777149"/>
          </a:xfrm>
          <a:prstGeom prst="roundRect">
            <a:avLst>
              <a:gd name="adj" fmla="val 13072"/>
            </a:avLst>
          </a:prstGeom>
          <a:solidFill>
            <a:srgbClr val="EEE5F8"/>
          </a:solidFill>
          <a:ln/>
        </p:spPr>
      </p:sp>
      <p:sp>
        <p:nvSpPr>
          <p:cNvPr id="26" name="Text 24"/>
          <p:cNvSpPr txBox="1"/>
          <p:nvPr/>
        </p:nvSpPr>
        <p:spPr>
          <a:xfrm>
            <a:off x="2540020" y="3774186"/>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DIPLOMAT</a:t>
            </a:r>
            <a:endParaRPr lang="en-US" sz="1200" dirty="0"/>
          </a:p>
        </p:txBody>
      </p:sp>
      <p:sp>
        <p:nvSpPr>
          <p:cNvPr id="27" name="Text 25"/>
          <p:cNvSpPr txBox="1"/>
          <p:nvPr/>
        </p:nvSpPr>
        <p:spPr>
          <a:xfrm>
            <a:off x="2540020" y="4007907"/>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7A47B0"/>
                </a:solidFill>
                <a:latin typeface="Arial" pitchFamily="34" charset="0"/>
                <a:ea typeface="Arial" pitchFamily="34" charset="-122"/>
                <a:cs typeface="Arial" pitchFamily="34" charset="-120"/>
              </a:rPr>
              <a:t>Team 3 · Peacemakers</a:t>
            </a:r>
            <a:endParaRPr lang="en-US" sz="1600" dirty="0"/>
          </a:p>
        </p:txBody>
      </p:sp>
      <p:sp>
        <p:nvSpPr>
          <p:cNvPr id="28" name="Shape 26"/>
          <p:cNvSpPr/>
          <p:nvPr/>
        </p:nvSpPr>
        <p:spPr>
          <a:xfrm>
            <a:off x="5418643" y="3662446"/>
            <a:ext cx="2904043" cy="777149"/>
          </a:xfrm>
          <a:prstGeom prst="roundRect">
            <a:avLst>
              <a:gd name="adj" fmla="val 13072"/>
            </a:avLst>
          </a:prstGeom>
          <a:solidFill>
            <a:srgbClr val="E3EAFA"/>
          </a:solidFill>
          <a:ln/>
        </p:spPr>
      </p:sp>
      <p:sp>
        <p:nvSpPr>
          <p:cNvPr id="29" name="Text 27"/>
          <p:cNvSpPr txBox="1"/>
          <p:nvPr/>
        </p:nvSpPr>
        <p:spPr>
          <a:xfrm>
            <a:off x="5596402" y="3774186"/>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DIFFICULT FLATMATE</a:t>
            </a:r>
            <a:endParaRPr lang="en-US" sz="1200" dirty="0"/>
          </a:p>
        </p:txBody>
      </p:sp>
      <p:sp>
        <p:nvSpPr>
          <p:cNvPr id="30" name="Text 28"/>
          <p:cNvSpPr txBox="1"/>
          <p:nvPr/>
        </p:nvSpPr>
        <p:spPr>
          <a:xfrm>
            <a:off x="5596402" y="4007907"/>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2F62C9"/>
                </a:solidFill>
                <a:latin typeface="Arial" pitchFamily="34" charset="0"/>
                <a:ea typeface="Arial" pitchFamily="34" charset="-122"/>
                <a:cs typeface="Arial" pitchFamily="34" charset="-120"/>
              </a:rPr>
              <a:t>Team 1 · Diplomats</a:t>
            </a:r>
            <a:endParaRPr lang="en-US" sz="1600" dirty="0"/>
          </a:p>
        </p:txBody>
      </p:sp>
      <p:sp>
        <p:nvSpPr>
          <p:cNvPr id="31" name="Shape 29"/>
          <p:cNvSpPr/>
          <p:nvPr/>
        </p:nvSpPr>
        <p:spPr>
          <a:xfrm>
            <a:off x="8475025" y="3662446"/>
            <a:ext cx="2904043" cy="777149"/>
          </a:xfrm>
          <a:prstGeom prst="roundRect">
            <a:avLst>
              <a:gd name="adj" fmla="val 13072"/>
            </a:avLst>
          </a:prstGeom>
          <a:solidFill>
            <a:srgbClr val="FBE9D6"/>
          </a:solidFill>
          <a:ln/>
        </p:spPr>
      </p:sp>
      <p:sp>
        <p:nvSpPr>
          <p:cNvPr id="32" name="Text 30"/>
          <p:cNvSpPr txBox="1"/>
          <p:nvPr/>
        </p:nvSpPr>
        <p:spPr>
          <a:xfrm>
            <a:off x="8652876" y="3774186"/>
            <a:ext cx="2637495"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3D4F49"/>
                </a:solidFill>
                <a:latin typeface="Arial" pitchFamily="34" charset="0"/>
                <a:ea typeface="Arial" pitchFamily="34" charset="-122"/>
                <a:cs typeface="Arial" pitchFamily="34" charset="-120"/>
              </a:rPr>
              <a:t>JURY</a:t>
            </a:r>
            <a:endParaRPr lang="en-US" sz="1200" dirty="0"/>
          </a:p>
        </p:txBody>
      </p:sp>
      <p:sp>
        <p:nvSpPr>
          <p:cNvPr id="33" name="Text 31"/>
          <p:cNvSpPr txBox="1"/>
          <p:nvPr/>
        </p:nvSpPr>
        <p:spPr>
          <a:xfrm>
            <a:off x="8652876" y="4007907"/>
            <a:ext cx="2637495" cy="304770"/>
          </a:xfrm>
          <a:prstGeom prst="rect">
            <a:avLst/>
          </a:prstGeom>
          <a:noFill/>
          <a:ln/>
        </p:spPr>
        <p:txBody>
          <a:bodyPr wrap="square" lIns="0" tIns="0" rIns="0" bIns="0" rtlCol="0" anchor="t"/>
          <a:lstStyle/>
          <a:p>
            <a:pPr algn="l" indent="0" marL="0">
              <a:lnSpc>
                <a:spcPts val="2240"/>
              </a:lnSpc>
              <a:buNone/>
            </a:pPr>
            <a:r>
              <a:rPr lang="en-US" sz="1600" b="1" dirty="0">
                <a:solidFill>
                  <a:srgbClr val="9A4C0C"/>
                </a:solidFill>
                <a:latin typeface="Arial" pitchFamily="34" charset="0"/>
                <a:ea typeface="Arial" pitchFamily="34" charset="-122"/>
                <a:cs typeface="Arial" pitchFamily="34" charset="-120"/>
              </a:rPr>
              <a:t>Team 2 · Negotiators</a:t>
            </a:r>
            <a:endParaRPr lang="en-US" sz="1600" dirty="0"/>
          </a:p>
        </p:txBody>
      </p:sp>
      <p:sp>
        <p:nvSpPr>
          <p:cNvPr id="34" name="Text 32"/>
          <p:cNvSpPr txBox="1"/>
          <p:nvPr/>
        </p:nvSpPr>
        <p:spPr>
          <a:xfrm>
            <a:off x="812810" y="4673316"/>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3D4F49"/>
                </a:solidFill>
                <a:latin typeface="Arial" pitchFamily="34" charset="0"/>
                <a:ea typeface="Arial" pitchFamily="34" charset="-122"/>
                <a:cs typeface="Arial" pitchFamily="34" charset="-120"/>
              </a:rPr>
              <a:t>Choose a new player for every match, so more people speak. Teams can help their player prepare for </a:t>
            </a:r>
            <a:pPr algn="l" indent="0" marL="0">
              <a:lnSpc>
                <a:spcPts val="2240"/>
              </a:lnSpc>
              <a:buNone/>
            </a:pPr>
            <a:r>
              <a:rPr lang="en-US" sz="1600" b="1" dirty="0">
                <a:solidFill>
                  <a:srgbClr val="3D4F49"/>
                </a:solidFill>
                <a:latin typeface="Arial" pitchFamily="34" charset="0"/>
                <a:ea typeface="Arial" pitchFamily="34" charset="-122"/>
                <a:cs typeface="Arial" pitchFamily="34" charset="-120"/>
              </a:rPr>
              <a:t>1 minute</a:t>
            </a:r>
            <a:pPr algn="l" indent="0" marL="0">
              <a:lnSpc>
                <a:spcPts val="2240"/>
              </a:lnSpc>
              <a:buNone/>
            </a:pPr>
            <a:r>
              <a:rPr lang="en-US" sz="1600" dirty="0">
                <a:solidFill>
                  <a:srgbClr val="3D4F49"/>
                </a:solidFill>
                <a:latin typeface="Arial" pitchFamily="34" charset="0"/>
                <a:ea typeface="Arial" pitchFamily="34" charset="-122"/>
                <a:cs typeface="Arial" pitchFamily="34" charset="-120"/>
              </a:rPr>
              <a:t>.</a:t>
            </a:r>
            <a:endParaRPr lang="en-US" sz="1600" dirty="0"/>
          </a:p>
        </p:txBody>
      </p:sp>
      <p:sp>
        <p:nvSpPr>
          <p:cNvPr id="35" name="Text 33"/>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6" name="Text 34"/>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5 · JURY SCORECARD</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How the jury gives points</a:t>
            </a:r>
            <a:endParaRPr lang="en-US" sz="3200" dirty="0"/>
          </a:p>
        </p:txBody>
      </p:sp>
      <p:sp>
        <p:nvSpPr>
          <p:cNvPr id="4" name="Shape 2"/>
          <p:cNvSpPr/>
          <p:nvPr/>
        </p:nvSpPr>
        <p:spPr>
          <a:xfrm>
            <a:off x="812810" y="1803288"/>
            <a:ext cx="6410950" cy="2915656"/>
          </a:xfrm>
          <a:prstGeom prst="roundRect">
            <a:avLst>
              <a:gd name="adj" fmla="val 4356"/>
            </a:avLst>
          </a:prstGeom>
          <a:solidFill>
            <a:srgbClr val="FFFDF8"/>
          </a:solidFill>
          <a:ln w="12700">
            <a:solidFill>
              <a:srgbClr val="E3DFD2"/>
            </a:solidFill>
            <a:prstDash val="solid"/>
          </a:ln>
        </p:spPr>
      </p:sp>
      <p:sp>
        <p:nvSpPr>
          <p:cNvPr id="5" name="Text 3"/>
          <p:cNvSpPr txBox="1"/>
          <p:nvPr/>
        </p:nvSpPr>
        <p:spPr>
          <a:xfrm>
            <a:off x="1054120" y="2003999"/>
            <a:ext cx="6084966"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THE DIPLOMAT'S TEAM · UP TO 7 POINTS</a:t>
            </a:r>
            <a:endParaRPr lang="en-US" sz="1200" dirty="0"/>
          </a:p>
        </p:txBody>
      </p:sp>
      <p:sp>
        <p:nvSpPr>
          <p:cNvPr id="6" name="Text 4"/>
          <p:cNvSpPr txBox="1"/>
          <p:nvPr/>
        </p:nvSpPr>
        <p:spPr>
          <a:xfrm>
            <a:off x="1054120" y="2313798"/>
            <a:ext cx="5544922"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Starts politely with a toolkit phrase</a:t>
            </a:r>
            <a:endParaRPr lang="en-US" sz="1600" dirty="0"/>
          </a:p>
        </p:txBody>
      </p:sp>
      <p:sp>
        <p:nvSpPr>
          <p:cNvPr id="7" name="Shape 5"/>
          <p:cNvSpPr/>
          <p:nvPr/>
        </p:nvSpPr>
        <p:spPr>
          <a:xfrm>
            <a:off x="6580022" y="2321387"/>
            <a:ext cx="402427" cy="289499"/>
          </a:xfrm>
          <a:prstGeom prst="roundRect">
            <a:avLst>
              <a:gd name="adj" fmla="val 43872"/>
            </a:avLst>
          </a:prstGeom>
          <a:solidFill>
            <a:srgbClr val="2E7D57"/>
          </a:solidFill>
          <a:ln/>
        </p:spPr>
      </p:sp>
      <p:sp>
        <p:nvSpPr>
          <p:cNvPr id="8" name="Text 6"/>
          <p:cNvSpPr txBox="1"/>
          <p:nvPr/>
        </p:nvSpPr>
        <p:spPr>
          <a:xfrm>
            <a:off x="6694322" y="2344247"/>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054120" y="2692268"/>
            <a:ext cx="5544922"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Shows empathy: Oh dear… / I'm sorry… / I didn't realise…</a:t>
            </a:r>
            <a:endParaRPr lang="en-US" sz="1600" dirty="0"/>
          </a:p>
        </p:txBody>
      </p:sp>
      <p:sp>
        <p:nvSpPr>
          <p:cNvPr id="10" name="Shape 8"/>
          <p:cNvSpPr/>
          <p:nvPr/>
        </p:nvSpPr>
        <p:spPr>
          <a:xfrm>
            <a:off x="6580022" y="2699857"/>
            <a:ext cx="402427" cy="289499"/>
          </a:xfrm>
          <a:prstGeom prst="roundRect">
            <a:avLst>
              <a:gd name="adj" fmla="val 43872"/>
            </a:avLst>
          </a:prstGeom>
          <a:solidFill>
            <a:srgbClr val="2E7D57"/>
          </a:solidFill>
          <a:ln/>
        </p:spPr>
      </p:sp>
      <p:sp>
        <p:nvSpPr>
          <p:cNvPr id="11" name="Text 9"/>
          <p:cNvSpPr txBox="1"/>
          <p:nvPr/>
        </p:nvSpPr>
        <p:spPr>
          <a:xfrm>
            <a:off x="6694322" y="2722717"/>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12" name="Text 10"/>
          <p:cNvSpPr txBox="1"/>
          <p:nvPr/>
        </p:nvSpPr>
        <p:spPr>
          <a:xfrm>
            <a:off x="1054120" y="3070647"/>
            <a:ext cx="5544922"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Uses a question tag to get agreement</a:t>
            </a:r>
            <a:endParaRPr lang="en-US" sz="1600" dirty="0"/>
          </a:p>
        </p:txBody>
      </p:sp>
      <p:sp>
        <p:nvSpPr>
          <p:cNvPr id="13" name="Shape 11"/>
          <p:cNvSpPr/>
          <p:nvPr/>
        </p:nvSpPr>
        <p:spPr>
          <a:xfrm>
            <a:off x="6580022" y="3078236"/>
            <a:ext cx="402427" cy="289499"/>
          </a:xfrm>
          <a:prstGeom prst="roundRect">
            <a:avLst>
              <a:gd name="adj" fmla="val 43872"/>
            </a:avLst>
          </a:prstGeom>
          <a:solidFill>
            <a:srgbClr val="2E7D57"/>
          </a:solidFill>
          <a:ln/>
        </p:spPr>
      </p:sp>
      <p:sp>
        <p:nvSpPr>
          <p:cNvPr id="14" name="Text 12"/>
          <p:cNvSpPr txBox="1"/>
          <p:nvPr/>
        </p:nvSpPr>
        <p:spPr>
          <a:xfrm>
            <a:off x="6694322" y="3101096"/>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15" name="Text 13"/>
          <p:cNvSpPr txBox="1"/>
          <p:nvPr/>
        </p:nvSpPr>
        <p:spPr>
          <a:xfrm>
            <a:off x="1054120" y="3449117"/>
            <a:ext cx="5544922"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Uses be supposed to</a:t>
            </a:r>
            <a:endParaRPr lang="en-US" sz="1600" dirty="0"/>
          </a:p>
        </p:txBody>
      </p:sp>
      <p:sp>
        <p:nvSpPr>
          <p:cNvPr id="16" name="Shape 14"/>
          <p:cNvSpPr/>
          <p:nvPr/>
        </p:nvSpPr>
        <p:spPr>
          <a:xfrm>
            <a:off x="6580022" y="3456706"/>
            <a:ext cx="402427" cy="289499"/>
          </a:xfrm>
          <a:prstGeom prst="roundRect">
            <a:avLst>
              <a:gd name="adj" fmla="val 43872"/>
            </a:avLst>
          </a:prstGeom>
          <a:solidFill>
            <a:srgbClr val="2E7D57"/>
          </a:solidFill>
          <a:ln/>
        </p:spPr>
      </p:sp>
      <p:sp>
        <p:nvSpPr>
          <p:cNvPr id="17" name="Text 15"/>
          <p:cNvSpPr txBox="1"/>
          <p:nvPr/>
        </p:nvSpPr>
        <p:spPr>
          <a:xfrm>
            <a:off x="6694322" y="3479566"/>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18" name="Text 16"/>
          <p:cNvSpPr txBox="1"/>
          <p:nvPr/>
        </p:nvSpPr>
        <p:spPr>
          <a:xfrm>
            <a:off x="1054120" y="3827496"/>
            <a:ext cx="5544922"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Suggests a solution: I thought perhaps we could…</a:t>
            </a:r>
            <a:endParaRPr lang="en-US" sz="1600" dirty="0"/>
          </a:p>
        </p:txBody>
      </p:sp>
      <p:sp>
        <p:nvSpPr>
          <p:cNvPr id="19" name="Shape 17"/>
          <p:cNvSpPr/>
          <p:nvPr/>
        </p:nvSpPr>
        <p:spPr>
          <a:xfrm>
            <a:off x="6580022" y="3835085"/>
            <a:ext cx="402427" cy="289499"/>
          </a:xfrm>
          <a:prstGeom prst="roundRect">
            <a:avLst>
              <a:gd name="adj" fmla="val 43872"/>
            </a:avLst>
          </a:prstGeom>
          <a:solidFill>
            <a:srgbClr val="2E7D57"/>
          </a:solidFill>
          <a:ln/>
        </p:spPr>
      </p:sp>
      <p:sp>
        <p:nvSpPr>
          <p:cNvPr id="20" name="Text 18"/>
          <p:cNvSpPr txBox="1"/>
          <p:nvPr/>
        </p:nvSpPr>
        <p:spPr>
          <a:xfrm>
            <a:off x="6694322" y="3857945"/>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21" name="Text 19"/>
          <p:cNvSpPr txBox="1"/>
          <p:nvPr/>
        </p:nvSpPr>
        <p:spPr>
          <a:xfrm>
            <a:off x="1054120" y="4205966"/>
            <a:ext cx="5544922"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Reaches a clear agreement or rota</a:t>
            </a:r>
            <a:endParaRPr lang="en-US" sz="1600" dirty="0"/>
          </a:p>
        </p:txBody>
      </p:sp>
      <p:sp>
        <p:nvSpPr>
          <p:cNvPr id="22" name="Shape 20"/>
          <p:cNvSpPr/>
          <p:nvPr/>
        </p:nvSpPr>
        <p:spPr>
          <a:xfrm>
            <a:off x="6580022" y="4213555"/>
            <a:ext cx="402427" cy="289499"/>
          </a:xfrm>
          <a:prstGeom prst="roundRect">
            <a:avLst>
              <a:gd name="adj" fmla="val 43872"/>
            </a:avLst>
          </a:prstGeom>
          <a:solidFill>
            <a:srgbClr val="2E7D57"/>
          </a:solidFill>
          <a:ln/>
        </p:spPr>
      </p:sp>
      <p:sp>
        <p:nvSpPr>
          <p:cNvPr id="23" name="Text 21"/>
          <p:cNvSpPr txBox="1"/>
          <p:nvPr/>
        </p:nvSpPr>
        <p:spPr>
          <a:xfrm>
            <a:off x="6694322" y="4236415"/>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+2</a:t>
            </a:r>
            <a:endParaRPr lang="en-US" sz="1200" dirty="0"/>
          </a:p>
        </p:txBody>
      </p:sp>
      <p:sp>
        <p:nvSpPr>
          <p:cNvPr id="24" name="Shape 22"/>
          <p:cNvSpPr/>
          <p:nvPr/>
        </p:nvSpPr>
        <p:spPr>
          <a:xfrm>
            <a:off x="7426940" y="1803288"/>
            <a:ext cx="3952311" cy="1874246"/>
          </a:xfrm>
          <a:prstGeom prst="roundRect">
            <a:avLst>
              <a:gd name="adj" fmla="val 6777"/>
            </a:avLst>
          </a:prstGeom>
          <a:solidFill>
            <a:srgbClr val="FFFDF8"/>
          </a:solidFill>
          <a:ln w="12700">
            <a:solidFill>
              <a:srgbClr val="E3DFD2"/>
            </a:solidFill>
            <a:prstDash val="solid"/>
          </a:ln>
        </p:spPr>
      </p:sp>
      <p:sp>
        <p:nvSpPr>
          <p:cNvPr id="25" name="Text 23"/>
          <p:cNvSpPr txBox="1"/>
          <p:nvPr/>
        </p:nvSpPr>
        <p:spPr>
          <a:xfrm>
            <a:off x="7668250" y="2003999"/>
            <a:ext cx="3577133" cy="441838"/>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THE DIFFICULT FLATMATE'S TEAM · UP TO 2</a:t>
            </a:r>
            <a:endParaRPr lang="en-US" sz="1200" dirty="0"/>
          </a:p>
        </p:txBody>
      </p:sp>
      <p:sp>
        <p:nvSpPr>
          <p:cNvPr id="26" name="Text 24"/>
          <p:cNvSpPr txBox="1"/>
          <p:nvPr/>
        </p:nvSpPr>
        <p:spPr>
          <a:xfrm>
            <a:off x="7668250" y="2527127"/>
            <a:ext cx="3037180"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Stays in role, English only</a:t>
            </a:r>
            <a:endParaRPr lang="en-US" sz="1600" dirty="0"/>
          </a:p>
        </p:txBody>
      </p:sp>
      <p:sp>
        <p:nvSpPr>
          <p:cNvPr id="27" name="Shape 25"/>
          <p:cNvSpPr/>
          <p:nvPr/>
        </p:nvSpPr>
        <p:spPr>
          <a:xfrm>
            <a:off x="10735513" y="2534717"/>
            <a:ext cx="402427" cy="289499"/>
          </a:xfrm>
          <a:prstGeom prst="roundRect">
            <a:avLst>
              <a:gd name="adj" fmla="val 43872"/>
            </a:avLst>
          </a:prstGeom>
          <a:solidFill>
            <a:srgbClr val="2E7D57"/>
          </a:solidFill>
          <a:ln/>
        </p:spPr>
      </p:sp>
      <p:sp>
        <p:nvSpPr>
          <p:cNvPr id="28" name="Text 26"/>
          <p:cNvSpPr txBox="1"/>
          <p:nvPr/>
        </p:nvSpPr>
        <p:spPr>
          <a:xfrm>
            <a:off x="10849813" y="2557577"/>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29" name="Text 27"/>
          <p:cNvSpPr txBox="1"/>
          <p:nvPr/>
        </p:nvSpPr>
        <p:spPr>
          <a:xfrm>
            <a:off x="7668250" y="2897916"/>
            <a:ext cx="3037180" cy="563728"/>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Gives real excuses, but stays polite</a:t>
            </a:r>
            <a:endParaRPr lang="en-US" sz="1600" dirty="0"/>
          </a:p>
        </p:txBody>
      </p:sp>
      <p:sp>
        <p:nvSpPr>
          <p:cNvPr id="30" name="Shape 28"/>
          <p:cNvSpPr/>
          <p:nvPr/>
        </p:nvSpPr>
        <p:spPr>
          <a:xfrm>
            <a:off x="10735513" y="3042666"/>
            <a:ext cx="402427" cy="289499"/>
          </a:xfrm>
          <a:prstGeom prst="roundRect">
            <a:avLst>
              <a:gd name="adj" fmla="val 43872"/>
            </a:avLst>
          </a:prstGeom>
          <a:solidFill>
            <a:srgbClr val="2E7D57"/>
          </a:solidFill>
          <a:ln/>
        </p:spPr>
      </p:sp>
      <p:sp>
        <p:nvSpPr>
          <p:cNvPr id="31" name="Text 29"/>
          <p:cNvSpPr txBox="1"/>
          <p:nvPr/>
        </p:nvSpPr>
        <p:spPr>
          <a:xfrm>
            <a:off x="10849813" y="3065526"/>
            <a:ext cx="215433"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+1</a:t>
            </a:r>
            <a:endParaRPr lang="en-US" sz="1200" dirty="0"/>
          </a:p>
        </p:txBody>
      </p:sp>
      <p:sp>
        <p:nvSpPr>
          <p:cNvPr id="32" name="Shape 30"/>
          <p:cNvSpPr/>
          <p:nvPr/>
        </p:nvSpPr>
        <p:spPr>
          <a:xfrm>
            <a:off x="7426940" y="3829964"/>
            <a:ext cx="3952311" cy="1188629"/>
          </a:xfrm>
          <a:prstGeom prst="roundRect">
            <a:avLst>
              <a:gd name="adj" fmla="val 10685"/>
            </a:avLst>
          </a:prstGeom>
          <a:solidFill>
            <a:srgbClr val="14302A"/>
          </a:solidFill>
          <a:ln/>
        </p:spPr>
      </p:sp>
      <p:sp>
        <p:nvSpPr>
          <p:cNvPr id="33" name="Text 31"/>
          <p:cNvSpPr txBox="1"/>
          <p:nvPr/>
        </p:nvSpPr>
        <p:spPr>
          <a:xfrm>
            <a:off x="7655540" y="3992545"/>
            <a:ext cx="3603102"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8FD3B0"/>
                </a:solidFill>
                <a:latin typeface="Arial" pitchFamily="34" charset="0"/>
                <a:ea typeface="Arial" pitchFamily="34" charset="-122"/>
                <a:cs typeface="Arial" pitchFamily="34" charset="-120"/>
              </a:rPr>
              <a:t>JURY RULE</a:t>
            </a:r>
            <a:endParaRPr lang="en-US" sz="1200" dirty="0"/>
          </a:p>
        </p:txBody>
      </p:sp>
      <p:sp>
        <p:nvSpPr>
          <p:cNvPr id="34" name="Text 32"/>
          <p:cNvSpPr txBox="1"/>
          <p:nvPr/>
        </p:nvSpPr>
        <p:spPr>
          <a:xfrm>
            <a:off x="7655540" y="4251503"/>
            <a:ext cx="3603102" cy="589239"/>
          </a:xfrm>
          <a:prstGeom prst="rect">
            <a:avLst/>
          </a:prstGeom>
          <a:noFill/>
          <a:ln/>
        </p:spPr>
        <p:txBody>
          <a:bodyPr wrap="square" lIns="0" tIns="0" rIns="0" bIns="0" rtlCol="0" anchor="t"/>
          <a:lstStyle/>
          <a:p>
            <a:pPr algn="l" indent="0" marL="0">
              <a:lnSpc>
                <a:spcPts val="2240"/>
              </a:lnSpc>
              <a:buNone/>
            </a:pPr>
            <a:r>
              <a:rPr lang="en-US" sz="1600" dirty="0">
                <a:solidFill>
                  <a:srgbClr val="F3F0E6"/>
                </a:solidFill>
                <a:latin typeface="Arial" pitchFamily="34" charset="0"/>
                <a:ea typeface="Arial" pitchFamily="34" charset="-122"/>
                <a:cs typeface="Arial" pitchFamily="34" charset="-120"/>
              </a:rPr>
              <a:t>Give a reason for every point. The teacher has the final say.</a:t>
            </a:r>
            <a:endParaRPr lang="en-US" sz="1600" dirty="0"/>
          </a:p>
        </p:txBody>
      </p:sp>
      <p:sp>
        <p:nvSpPr>
          <p:cNvPr id="35" name="Text 33"/>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6" name="Text 34"/>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510591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GAME 5 · TOPIC CARDS · EXERCISES 5 AND 8</a:t>
            </a:r>
            <a:endParaRPr lang="en-US" sz="1200" dirty="0"/>
          </a:p>
        </p:txBody>
      </p:sp>
      <p:sp>
        <p:nvSpPr>
          <p:cNvPr id="3" name="Text 1"/>
          <p:cNvSpPr txBox="1"/>
          <p:nvPr/>
        </p:nvSpPr>
        <p:spPr>
          <a:xfrm>
            <a:off x="812810" y="1102309"/>
            <a:ext cx="510591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Pick a number from 1 to 8</a:t>
            </a:r>
            <a:endParaRPr lang="en-US" sz="3200" dirty="0"/>
          </a:p>
        </p:txBody>
      </p:sp>
      <p:sp>
        <p:nvSpPr>
          <p:cNvPr id="4" name="Shape 2"/>
          <p:cNvSpPr/>
          <p:nvPr/>
        </p:nvSpPr>
        <p:spPr>
          <a:xfrm>
            <a:off x="9592239" y="1209020"/>
            <a:ext cx="1786920" cy="340340"/>
          </a:xfrm>
          <a:prstGeom prst="roundRect">
            <a:avLst>
              <a:gd name="adj" fmla="val 50000"/>
            </a:avLst>
          </a:prstGeom>
          <a:solidFill>
            <a:srgbClr val="14302A"/>
          </a:solidFill>
          <a:ln/>
        </p:spPr>
      </p:sp>
      <p:sp>
        <p:nvSpPr>
          <p:cNvPr id="5" name="Text 3"/>
          <p:cNvSpPr txBox="1"/>
          <p:nvPr/>
        </p:nvSpPr>
        <p:spPr>
          <a:xfrm>
            <a:off x="9744669" y="1257209"/>
            <a:ext cx="1549908" cy="228600"/>
          </a:xfrm>
          <a:prstGeom prst="rect">
            <a:avLst/>
          </a:prstGeom>
          <a:noFill/>
          <a:ln/>
        </p:spPr>
        <p:txBody>
          <a:bodyPr wrap="square" lIns="0" tIns="0" rIns="0" bIns="0" rtlCol="0" anchor="t"/>
          <a:lstStyle/>
          <a:p>
            <a:pPr algn="l" indent="0" marL="0">
              <a:lnSpc>
                <a:spcPts val="1680"/>
              </a:lnSpc>
              <a:buNone/>
            </a:pPr>
            <a:r>
              <a:rPr lang="en-US" sz="1200" b="1" dirty="0">
                <a:solidFill>
                  <a:srgbClr val="F3F0E6"/>
                </a:solidFill>
                <a:latin typeface="Arial" pitchFamily="34" charset="0"/>
                <a:ea typeface="Arial" pitchFamily="34" charset="-122"/>
                <a:cs typeface="Arial" pitchFamily="34" charset="-120"/>
              </a:rPr>
              <a:t>3 minutes per match</a:t>
            </a:r>
            <a:endParaRPr lang="en-US" sz="1200" dirty="0"/>
          </a:p>
        </p:txBody>
      </p:sp>
      <p:sp>
        <p:nvSpPr>
          <p:cNvPr id="6" name="Shape 4"/>
          <p:cNvSpPr/>
          <p:nvPr/>
        </p:nvSpPr>
        <p:spPr>
          <a:xfrm>
            <a:off x="812810" y="1803288"/>
            <a:ext cx="2527310" cy="1729588"/>
          </a:xfrm>
          <a:prstGeom prst="roundRect">
            <a:avLst>
              <a:gd name="adj" fmla="val 6609"/>
            </a:avLst>
          </a:prstGeom>
          <a:solidFill>
            <a:srgbClr val="FFFDF8"/>
          </a:solidFill>
          <a:ln w="12700">
            <a:solidFill>
              <a:srgbClr val="E3DFD2"/>
            </a:solidFill>
            <a:prstDash val="solid"/>
          </a:ln>
        </p:spPr>
      </p:sp>
      <p:sp>
        <p:nvSpPr>
          <p:cNvPr id="7" name="Text 5"/>
          <p:cNvSpPr txBox="1"/>
          <p:nvPr/>
        </p:nvSpPr>
        <p:spPr>
          <a:xfrm>
            <a:off x="1003280" y="1993758"/>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1003280" y="2326508"/>
            <a:ext cx="2227296" cy="274320"/>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Washing the dishes</a:t>
            </a:r>
            <a:endParaRPr lang="en-US" sz="1600" dirty="0"/>
          </a:p>
        </p:txBody>
      </p:sp>
      <p:sp>
        <p:nvSpPr>
          <p:cNvPr id="9" name="Text 7"/>
          <p:cNvSpPr txBox="1"/>
          <p:nvPr/>
        </p:nvSpPr>
        <p:spPr>
          <a:xfrm>
            <a:off x="1003280" y="2636398"/>
            <a:ext cx="2227296" cy="441838"/>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“I'll do them at the weekend.”</a:t>
            </a:r>
            <a:endParaRPr lang="en-US" sz="1200" dirty="0"/>
          </a:p>
        </p:txBody>
      </p:sp>
      <p:sp>
        <p:nvSpPr>
          <p:cNvPr id="10" name="Shape 8"/>
          <p:cNvSpPr/>
          <p:nvPr/>
        </p:nvSpPr>
        <p:spPr>
          <a:xfrm>
            <a:off x="3492459" y="1803288"/>
            <a:ext cx="2527310" cy="1729588"/>
          </a:xfrm>
          <a:prstGeom prst="roundRect">
            <a:avLst>
              <a:gd name="adj" fmla="val 6609"/>
            </a:avLst>
          </a:prstGeom>
          <a:solidFill>
            <a:srgbClr val="FFFDF8"/>
          </a:solidFill>
          <a:ln w="12700">
            <a:solidFill>
              <a:srgbClr val="E3DFD2"/>
            </a:solidFill>
            <a:prstDash val="solid"/>
          </a:ln>
        </p:spPr>
      </p:sp>
      <p:sp>
        <p:nvSpPr>
          <p:cNvPr id="11" name="Text 9"/>
          <p:cNvSpPr txBox="1"/>
          <p:nvPr/>
        </p:nvSpPr>
        <p:spPr>
          <a:xfrm>
            <a:off x="3683020" y="1993758"/>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2</a:t>
            </a:r>
            <a:endParaRPr lang="en-US" sz="2000" dirty="0"/>
          </a:p>
        </p:txBody>
      </p:sp>
      <p:sp>
        <p:nvSpPr>
          <p:cNvPr id="12" name="Text 10"/>
          <p:cNvSpPr txBox="1"/>
          <p:nvPr/>
        </p:nvSpPr>
        <p:spPr>
          <a:xfrm>
            <a:off x="3683020" y="2326508"/>
            <a:ext cx="2227296" cy="538399"/>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Cleaning the bath and toilet</a:t>
            </a:r>
            <a:endParaRPr lang="en-US" sz="1600" dirty="0"/>
          </a:p>
        </p:txBody>
      </p:sp>
      <p:sp>
        <p:nvSpPr>
          <p:cNvPr id="13" name="Text 11"/>
          <p:cNvSpPr txBox="1"/>
          <p:nvPr/>
        </p:nvSpPr>
        <p:spPr>
          <a:xfrm>
            <a:off x="3683020" y="2900477"/>
            <a:ext cx="2227296" cy="228600"/>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“It looks clean to me!”</a:t>
            </a:r>
            <a:endParaRPr lang="en-US" sz="1200" dirty="0"/>
          </a:p>
        </p:txBody>
      </p:sp>
      <p:sp>
        <p:nvSpPr>
          <p:cNvPr id="14" name="Shape 12"/>
          <p:cNvSpPr/>
          <p:nvPr/>
        </p:nvSpPr>
        <p:spPr>
          <a:xfrm>
            <a:off x="6172200" y="1803288"/>
            <a:ext cx="2527310" cy="1729588"/>
          </a:xfrm>
          <a:prstGeom prst="roundRect">
            <a:avLst>
              <a:gd name="adj" fmla="val 6609"/>
            </a:avLst>
          </a:prstGeom>
          <a:solidFill>
            <a:srgbClr val="FFFDF8"/>
          </a:solidFill>
          <a:ln w="12700">
            <a:solidFill>
              <a:srgbClr val="E3DFD2"/>
            </a:solidFill>
            <a:prstDash val="solid"/>
          </a:ln>
        </p:spPr>
      </p:sp>
      <p:sp>
        <p:nvSpPr>
          <p:cNvPr id="15" name="Text 13"/>
          <p:cNvSpPr txBox="1"/>
          <p:nvPr/>
        </p:nvSpPr>
        <p:spPr>
          <a:xfrm>
            <a:off x="6362670" y="1993758"/>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3</a:t>
            </a:r>
            <a:endParaRPr lang="en-US" sz="2000" dirty="0"/>
          </a:p>
        </p:txBody>
      </p:sp>
      <p:sp>
        <p:nvSpPr>
          <p:cNvPr id="16" name="Text 14"/>
          <p:cNvSpPr txBox="1"/>
          <p:nvPr/>
        </p:nvSpPr>
        <p:spPr>
          <a:xfrm>
            <a:off x="6362670" y="2326508"/>
            <a:ext cx="2227296" cy="538399"/>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Vacuuming the carpets</a:t>
            </a:r>
            <a:endParaRPr lang="en-US" sz="1600" dirty="0"/>
          </a:p>
        </p:txBody>
      </p:sp>
      <p:sp>
        <p:nvSpPr>
          <p:cNvPr id="17" name="Text 15"/>
          <p:cNvSpPr txBox="1"/>
          <p:nvPr/>
        </p:nvSpPr>
        <p:spPr>
          <a:xfrm>
            <a:off x="6362670" y="2900477"/>
            <a:ext cx="2227296" cy="441838"/>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“The vacuum cleaner is too loud.”</a:t>
            </a:r>
            <a:endParaRPr lang="en-US" sz="1200" dirty="0"/>
          </a:p>
        </p:txBody>
      </p:sp>
      <p:sp>
        <p:nvSpPr>
          <p:cNvPr id="18" name="Shape 16"/>
          <p:cNvSpPr/>
          <p:nvPr/>
        </p:nvSpPr>
        <p:spPr>
          <a:xfrm>
            <a:off x="8851941" y="1803288"/>
            <a:ext cx="2527310" cy="1729588"/>
          </a:xfrm>
          <a:prstGeom prst="roundRect">
            <a:avLst>
              <a:gd name="adj" fmla="val 6609"/>
            </a:avLst>
          </a:prstGeom>
          <a:solidFill>
            <a:srgbClr val="FFFDF8"/>
          </a:solidFill>
          <a:ln w="12700">
            <a:solidFill>
              <a:srgbClr val="E3DFD2"/>
            </a:solidFill>
            <a:prstDash val="solid"/>
          </a:ln>
        </p:spPr>
      </p:sp>
      <p:sp>
        <p:nvSpPr>
          <p:cNvPr id="19" name="Text 17"/>
          <p:cNvSpPr txBox="1"/>
          <p:nvPr/>
        </p:nvSpPr>
        <p:spPr>
          <a:xfrm>
            <a:off x="9042410" y="1993758"/>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4</a:t>
            </a:r>
            <a:endParaRPr lang="en-US" sz="2000" dirty="0"/>
          </a:p>
        </p:txBody>
      </p:sp>
      <p:sp>
        <p:nvSpPr>
          <p:cNvPr id="20" name="Text 18"/>
          <p:cNvSpPr txBox="1"/>
          <p:nvPr/>
        </p:nvSpPr>
        <p:spPr>
          <a:xfrm>
            <a:off x="9042410" y="2326508"/>
            <a:ext cx="2227296" cy="538399"/>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Taking out the rubbish</a:t>
            </a:r>
            <a:endParaRPr lang="en-US" sz="1600" dirty="0"/>
          </a:p>
        </p:txBody>
      </p:sp>
      <p:sp>
        <p:nvSpPr>
          <p:cNvPr id="21" name="Text 19"/>
          <p:cNvSpPr txBox="1"/>
          <p:nvPr/>
        </p:nvSpPr>
        <p:spPr>
          <a:xfrm>
            <a:off x="9042410" y="2900477"/>
            <a:ext cx="2227296" cy="228600"/>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“The bin isn't full yet.”</a:t>
            </a:r>
            <a:endParaRPr lang="en-US" sz="1200" dirty="0"/>
          </a:p>
        </p:txBody>
      </p:sp>
      <p:sp>
        <p:nvSpPr>
          <p:cNvPr id="22" name="Shape 20"/>
          <p:cNvSpPr/>
          <p:nvPr/>
        </p:nvSpPr>
        <p:spPr>
          <a:xfrm>
            <a:off x="812810" y="3685306"/>
            <a:ext cx="2527310" cy="1729588"/>
          </a:xfrm>
          <a:prstGeom prst="roundRect">
            <a:avLst>
              <a:gd name="adj" fmla="val 6609"/>
            </a:avLst>
          </a:prstGeom>
          <a:solidFill>
            <a:srgbClr val="FFFDF8"/>
          </a:solidFill>
          <a:ln w="12700">
            <a:solidFill>
              <a:srgbClr val="E3DFD2"/>
            </a:solidFill>
            <a:prstDash val="solid"/>
          </a:ln>
        </p:spPr>
      </p:sp>
      <p:sp>
        <p:nvSpPr>
          <p:cNvPr id="23" name="Text 21"/>
          <p:cNvSpPr txBox="1"/>
          <p:nvPr/>
        </p:nvSpPr>
        <p:spPr>
          <a:xfrm>
            <a:off x="1003280" y="3875776"/>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5</a:t>
            </a:r>
            <a:endParaRPr lang="en-US" sz="2000" dirty="0"/>
          </a:p>
        </p:txBody>
      </p:sp>
      <p:sp>
        <p:nvSpPr>
          <p:cNvPr id="24" name="Text 22"/>
          <p:cNvSpPr txBox="1"/>
          <p:nvPr/>
        </p:nvSpPr>
        <p:spPr>
          <a:xfrm>
            <a:off x="1003280" y="4208526"/>
            <a:ext cx="2227296" cy="538399"/>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Borrowing things without asking</a:t>
            </a:r>
            <a:endParaRPr lang="en-US" sz="1600" dirty="0"/>
          </a:p>
        </p:txBody>
      </p:sp>
      <p:sp>
        <p:nvSpPr>
          <p:cNvPr id="25" name="Text 23"/>
          <p:cNvSpPr txBox="1"/>
          <p:nvPr/>
        </p:nvSpPr>
        <p:spPr>
          <a:xfrm>
            <a:off x="1003280" y="4782495"/>
            <a:ext cx="2227296" cy="441838"/>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“But we're friends, aren't we?”</a:t>
            </a:r>
            <a:endParaRPr lang="en-US" sz="1200" dirty="0"/>
          </a:p>
        </p:txBody>
      </p:sp>
      <p:sp>
        <p:nvSpPr>
          <p:cNvPr id="26" name="Shape 24"/>
          <p:cNvSpPr/>
          <p:nvPr/>
        </p:nvSpPr>
        <p:spPr>
          <a:xfrm>
            <a:off x="3492459" y="3685306"/>
            <a:ext cx="2527310" cy="1729588"/>
          </a:xfrm>
          <a:prstGeom prst="roundRect">
            <a:avLst>
              <a:gd name="adj" fmla="val 6609"/>
            </a:avLst>
          </a:prstGeom>
          <a:solidFill>
            <a:srgbClr val="FFFDF8"/>
          </a:solidFill>
          <a:ln w="12700">
            <a:solidFill>
              <a:srgbClr val="E3DFD2"/>
            </a:solidFill>
            <a:prstDash val="solid"/>
          </a:ln>
        </p:spPr>
      </p:sp>
      <p:sp>
        <p:nvSpPr>
          <p:cNvPr id="27" name="Text 25"/>
          <p:cNvSpPr txBox="1"/>
          <p:nvPr/>
        </p:nvSpPr>
        <p:spPr>
          <a:xfrm>
            <a:off x="3683020" y="3875776"/>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6</a:t>
            </a:r>
            <a:endParaRPr lang="en-US" sz="2000" dirty="0"/>
          </a:p>
        </p:txBody>
      </p:sp>
      <p:sp>
        <p:nvSpPr>
          <p:cNvPr id="28" name="Text 26"/>
          <p:cNvSpPr txBox="1"/>
          <p:nvPr/>
        </p:nvSpPr>
        <p:spPr>
          <a:xfrm>
            <a:off x="3683020" y="4208526"/>
            <a:ext cx="2227296" cy="274320"/>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Playing music</a:t>
            </a:r>
            <a:endParaRPr lang="en-US" sz="1600" dirty="0"/>
          </a:p>
        </p:txBody>
      </p:sp>
      <p:sp>
        <p:nvSpPr>
          <p:cNvPr id="29" name="Text 27"/>
          <p:cNvSpPr txBox="1"/>
          <p:nvPr/>
        </p:nvSpPr>
        <p:spPr>
          <a:xfrm>
            <a:off x="3683020" y="4518325"/>
            <a:ext cx="2227296" cy="441838"/>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“Music helps me study.”</a:t>
            </a:r>
            <a:endParaRPr lang="en-US" sz="1200" dirty="0"/>
          </a:p>
        </p:txBody>
      </p:sp>
      <p:sp>
        <p:nvSpPr>
          <p:cNvPr id="30" name="Shape 28"/>
          <p:cNvSpPr/>
          <p:nvPr/>
        </p:nvSpPr>
        <p:spPr>
          <a:xfrm>
            <a:off x="6172200" y="3685306"/>
            <a:ext cx="2527310" cy="1729588"/>
          </a:xfrm>
          <a:prstGeom prst="roundRect">
            <a:avLst>
              <a:gd name="adj" fmla="val 6609"/>
            </a:avLst>
          </a:prstGeom>
          <a:solidFill>
            <a:srgbClr val="FFFDF8"/>
          </a:solidFill>
          <a:ln w="12700">
            <a:solidFill>
              <a:srgbClr val="E3DFD2"/>
            </a:solidFill>
            <a:prstDash val="solid"/>
          </a:ln>
        </p:spPr>
      </p:sp>
      <p:sp>
        <p:nvSpPr>
          <p:cNvPr id="31" name="Text 29"/>
          <p:cNvSpPr txBox="1"/>
          <p:nvPr/>
        </p:nvSpPr>
        <p:spPr>
          <a:xfrm>
            <a:off x="6362670" y="3875776"/>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7</a:t>
            </a:r>
            <a:endParaRPr lang="en-US" sz="2000" dirty="0"/>
          </a:p>
        </p:txBody>
      </p:sp>
      <p:sp>
        <p:nvSpPr>
          <p:cNvPr id="32" name="Text 30"/>
          <p:cNvSpPr txBox="1"/>
          <p:nvPr/>
        </p:nvSpPr>
        <p:spPr>
          <a:xfrm>
            <a:off x="6362670" y="4208526"/>
            <a:ext cx="2227296" cy="274320"/>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Visitors</a:t>
            </a:r>
            <a:endParaRPr lang="en-US" sz="1600" dirty="0"/>
          </a:p>
        </p:txBody>
      </p:sp>
      <p:sp>
        <p:nvSpPr>
          <p:cNvPr id="33" name="Text 31"/>
          <p:cNvSpPr txBox="1"/>
          <p:nvPr/>
        </p:nvSpPr>
        <p:spPr>
          <a:xfrm>
            <a:off x="6362670" y="4518325"/>
            <a:ext cx="2227296" cy="441838"/>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“My friends are really nice!”</a:t>
            </a:r>
            <a:endParaRPr lang="en-US" sz="1200" dirty="0"/>
          </a:p>
        </p:txBody>
      </p:sp>
      <p:sp>
        <p:nvSpPr>
          <p:cNvPr id="34" name="Shape 32"/>
          <p:cNvSpPr/>
          <p:nvPr/>
        </p:nvSpPr>
        <p:spPr>
          <a:xfrm>
            <a:off x="8851941" y="3685306"/>
            <a:ext cx="2527310" cy="1729588"/>
          </a:xfrm>
          <a:prstGeom prst="roundRect">
            <a:avLst>
              <a:gd name="adj" fmla="val 6609"/>
            </a:avLst>
          </a:prstGeom>
          <a:solidFill>
            <a:srgbClr val="FFFDF8"/>
          </a:solidFill>
          <a:ln w="12700">
            <a:solidFill>
              <a:srgbClr val="E3DFD2"/>
            </a:solidFill>
            <a:prstDash val="solid"/>
          </a:ln>
        </p:spPr>
      </p:sp>
      <p:sp>
        <p:nvSpPr>
          <p:cNvPr id="35" name="Text 33"/>
          <p:cNvSpPr txBox="1"/>
          <p:nvPr/>
        </p:nvSpPr>
        <p:spPr>
          <a:xfrm>
            <a:off x="9042410" y="3875776"/>
            <a:ext cx="2227296" cy="292059"/>
          </a:xfrm>
          <a:prstGeom prst="rect">
            <a:avLst/>
          </a:prstGeom>
          <a:noFill/>
          <a:ln/>
        </p:spPr>
        <p:txBody>
          <a:bodyPr wrap="square" lIns="0" tIns="0" rIns="0" bIns="0" rtlCol="0" anchor="t"/>
          <a:lstStyle/>
          <a:p>
            <a:pPr algn="l" indent="0" marL="0">
              <a:lnSpc>
                <a:spcPts val="2300"/>
              </a:lnSpc>
              <a:buNone/>
            </a:pPr>
            <a:r>
              <a:rPr lang="en-US" sz="2000" b="1" dirty="0">
                <a:solidFill>
                  <a:srgbClr val="2E7D57"/>
                </a:solidFill>
                <a:latin typeface="Arial" pitchFamily="34" charset="0"/>
                <a:ea typeface="Arial" pitchFamily="34" charset="-122"/>
                <a:cs typeface="Arial" pitchFamily="34" charset="-120"/>
              </a:rPr>
              <a:t>8</a:t>
            </a:r>
            <a:endParaRPr lang="en-US" sz="2000" dirty="0"/>
          </a:p>
        </p:txBody>
      </p:sp>
      <p:sp>
        <p:nvSpPr>
          <p:cNvPr id="36" name="Text 34"/>
          <p:cNvSpPr txBox="1"/>
          <p:nvPr/>
        </p:nvSpPr>
        <p:spPr>
          <a:xfrm>
            <a:off x="9042410" y="4208526"/>
            <a:ext cx="2227296" cy="274320"/>
          </a:xfrm>
          <a:prstGeom prst="rect">
            <a:avLst/>
          </a:prstGeom>
          <a:noFill/>
          <a:ln/>
        </p:spPr>
        <p:txBody>
          <a:bodyPr wrap="square" lIns="0" tIns="0" rIns="0" bIns="0" rtlCol="0" anchor="t"/>
          <a:lstStyle/>
          <a:p>
            <a:pPr algn="l" indent="0" marL="0">
              <a:lnSpc>
                <a:spcPts val="2080"/>
              </a:lnSpc>
              <a:buNone/>
            </a:pPr>
            <a:r>
              <a:rPr lang="en-US" sz="1600" b="1" dirty="0">
                <a:solidFill>
                  <a:srgbClr val="14302A"/>
                </a:solidFill>
                <a:latin typeface="Arial" pitchFamily="34" charset="0"/>
                <a:ea typeface="Arial" pitchFamily="34" charset="-122"/>
                <a:cs typeface="Arial" pitchFamily="34" charset="-120"/>
              </a:rPr>
              <a:t>Noise levels</a:t>
            </a:r>
            <a:endParaRPr lang="en-US" sz="1600" dirty="0"/>
          </a:p>
        </p:txBody>
      </p:sp>
      <p:sp>
        <p:nvSpPr>
          <p:cNvPr id="37" name="Text 35"/>
          <p:cNvSpPr txBox="1"/>
          <p:nvPr/>
        </p:nvSpPr>
        <p:spPr>
          <a:xfrm>
            <a:off x="9042410" y="4518325"/>
            <a:ext cx="2227296" cy="441838"/>
          </a:xfrm>
          <a:prstGeom prst="rect">
            <a:avLst/>
          </a:prstGeom>
          <a:noFill/>
          <a:ln/>
        </p:spPr>
        <p:txBody>
          <a:bodyPr wrap="square" lIns="0" tIns="0" rIns="0" bIns="0" rtlCol="0" anchor="t"/>
          <a:lstStyle/>
          <a:p>
            <a:pPr algn="l" indent="0" marL="0">
              <a:lnSpc>
                <a:spcPts val="1680"/>
              </a:lnSpc>
              <a:buNone/>
            </a:pPr>
            <a:r>
              <a:rPr lang="en-US" sz="1200" i="1" dirty="0">
                <a:solidFill>
                  <a:srgbClr val="5E6B66"/>
                </a:solidFill>
                <a:latin typeface="Arial" pitchFamily="34" charset="0"/>
                <a:ea typeface="Arial" pitchFamily="34" charset="-122"/>
                <a:cs typeface="Arial" pitchFamily="34" charset="-120"/>
              </a:rPr>
              <a:t>Excuse: “It's only eleven o'clock!”</a:t>
            </a:r>
            <a:endParaRPr lang="en-US" sz="1200" dirty="0"/>
          </a:p>
        </p:txBody>
      </p:sp>
      <p:sp>
        <p:nvSpPr>
          <p:cNvPr id="38" name="Text 36"/>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39" name="Text 37"/>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EE"/>
        </a:solidFill>
      </p:bgPr>
    </p:bg>
    <p:spTree>
      <p:nvGrpSpPr>
        <p:cNvPr id="1" name=""/>
        <p:cNvGrpSpPr/>
        <p:nvPr/>
      </p:nvGrpSpPr>
      <p:grpSpPr>
        <a:xfrm>
          <a:off x="0" y="0"/>
          <a:ext cx="0" cy="0"/>
          <a:chOff x="0" y="0"/>
          <a:chExt cx="0" cy="0"/>
        </a:xfrm>
      </p:grpSpPr>
      <p:sp>
        <p:nvSpPr>
          <p:cNvPr id="2" name="Text 0"/>
          <p:cNvSpPr txBox="1"/>
          <p:nvPr/>
        </p:nvSpPr>
        <p:spPr>
          <a:xfrm>
            <a:off x="812810" y="797540"/>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2E7D57"/>
                </a:solidFill>
                <a:latin typeface="Arial" pitchFamily="34" charset="0"/>
                <a:ea typeface="Arial" pitchFamily="34" charset="-122"/>
                <a:cs typeface="Arial" pitchFamily="34" charset="-120"/>
              </a:rPr>
              <a:t>FINAL SCORES</a:t>
            </a:r>
            <a:endParaRPr lang="en-US" sz="1200" dirty="0"/>
          </a:p>
        </p:txBody>
      </p:sp>
      <p:sp>
        <p:nvSpPr>
          <p:cNvPr id="3" name="Text 1"/>
          <p:cNvSpPr txBox="1"/>
          <p:nvPr/>
        </p:nvSpPr>
        <p:spPr>
          <a:xfrm>
            <a:off x="812810" y="1102309"/>
            <a:ext cx="10815798" cy="446959"/>
          </a:xfrm>
          <a:prstGeom prst="rect">
            <a:avLst/>
          </a:prstGeom>
          <a:noFill/>
          <a:ln/>
        </p:spPr>
        <p:txBody>
          <a:bodyPr wrap="square" lIns="0" tIns="0" rIns="0" bIns="0" rtlCol="0" anchor="t"/>
          <a:lstStyle/>
          <a:p>
            <a:pPr algn="l" indent="0" marL="0">
              <a:lnSpc>
                <a:spcPts val="3520"/>
              </a:lnSpc>
              <a:buNone/>
            </a:pPr>
            <a:r>
              <a:rPr lang="en-US" sz="3200" b="1" dirty="0">
                <a:solidFill>
                  <a:srgbClr val="14302A"/>
                </a:solidFill>
                <a:latin typeface="Arial" pitchFamily="34" charset="0"/>
                <a:ea typeface="Arial" pitchFamily="34" charset="-122"/>
                <a:cs typeface="Arial" pitchFamily="34" charset="-120"/>
              </a:rPr>
              <a:t>And the winner is…</a:t>
            </a:r>
            <a:endParaRPr lang="en-US" sz="3200" dirty="0"/>
          </a:p>
        </p:txBody>
      </p:sp>
      <p:sp>
        <p:nvSpPr>
          <p:cNvPr id="4" name="Shape 2"/>
          <p:cNvSpPr/>
          <p:nvPr/>
        </p:nvSpPr>
        <p:spPr>
          <a:xfrm>
            <a:off x="812810" y="1803288"/>
            <a:ext cx="10566441" cy="3086100"/>
          </a:xfrm>
          <a:prstGeom prst="roundRect">
            <a:avLst>
              <a:gd name="adj" fmla="val 3292"/>
            </a:avLst>
          </a:prstGeom>
          <a:ln w="12700">
            <a:solidFill>
              <a:srgbClr val="E3DFD2"/>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812810" y="1803288"/>
          <a:ext cx="10566441" cy="914400"/>
        </p:xfrm>
        <a:graphic>
          <a:graphicData uri="http://schemas.openxmlformats.org/drawingml/2006/table">
            <a:tbl>
              <a:tblPr/>
              <a:tblGrid>
                <a:gridCol w="4216390"/>
                <a:gridCol w="2108241"/>
                <a:gridCol w="2108241"/>
                <a:gridCol w="2108241"/>
              </a:tblGrid>
              <a:tr h="383408">
                <a:tc>
                  <a:txBody>
                    <a:bodyPr/>
                    <a:lstStyle/>
                    <a:p>
                      <a:pPr indent="0" marL="0">
                        <a:lnSpc>
                          <a:spcPts val="1920"/>
                        </a:lnSpc>
                        <a:buNone/>
                      </a:pPr>
                      <a:r>
                        <a:rPr lang="en-US" sz="1600" b="1" dirty="0">
                          <a:solidFill>
                            <a:srgbClr val="F3F0E6"/>
                          </a:solidFill>
                          <a:latin typeface="Arial" pitchFamily="34" charset="0"/>
                          <a:ea typeface="Arial" pitchFamily="34" charset="-122"/>
                          <a:cs typeface="Arial" pitchFamily="34" charset="-120"/>
                        </a:rPr>
                        <a:t>Game</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14302A"/>
                    </a:solidFill>
                  </a:tcPr>
                </a:tc>
                <a:tc>
                  <a:txBody>
                    <a:bodyPr/>
                    <a:lstStyle/>
                    <a:p>
                      <a:pPr indent="0" marL="0">
                        <a:lnSpc>
                          <a:spcPts val="1920"/>
                        </a:lnSpc>
                        <a:buNone/>
                      </a:pPr>
                      <a:r>
                        <a:rPr lang="en-US" sz="1600" b="1" dirty="0">
                          <a:solidFill>
                            <a:srgbClr val="9DB9F5"/>
                          </a:solidFill>
                          <a:latin typeface="Arial" pitchFamily="34" charset="0"/>
                          <a:ea typeface="Arial" pitchFamily="34" charset="-122"/>
                          <a:cs typeface="Arial" pitchFamily="34" charset="-120"/>
                        </a:rPr>
                        <a:t>Diplomats</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14302A"/>
                    </a:solidFill>
                  </a:tcPr>
                </a:tc>
                <a:tc>
                  <a:txBody>
                    <a:bodyPr/>
                    <a:lstStyle/>
                    <a:p>
                      <a:pPr indent="0" marL="0">
                        <a:lnSpc>
                          <a:spcPts val="1920"/>
                        </a:lnSpc>
                        <a:buNone/>
                      </a:pPr>
                      <a:r>
                        <a:rPr lang="en-US" sz="1600" b="1" dirty="0">
                          <a:solidFill>
                            <a:srgbClr val="F2B26B"/>
                          </a:solidFill>
                          <a:latin typeface="Arial" pitchFamily="34" charset="0"/>
                          <a:ea typeface="Arial" pitchFamily="34" charset="-122"/>
                          <a:cs typeface="Arial" pitchFamily="34" charset="-120"/>
                        </a:rPr>
                        <a:t>Negotiators</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14302A"/>
                    </a:solidFill>
                  </a:tcPr>
                </a:tc>
                <a:tc>
                  <a:txBody>
                    <a:bodyPr/>
                    <a:lstStyle/>
                    <a:p>
                      <a:pPr indent="0" marL="0">
                        <a:lnSpc>
                          <a:spcPts val="1920"/>
                        </a:lnSpc>
                        <a:buNone/>
                      </a:pPr>
                      <a:r>
                        <a:rPr lang="en-US" sz="1600" b="1" dirty="0">
                          <a:solidFill>
                            <a:srgbClr val="C9A8EE"/>
                          </a:solidFill>
                          <a:latin typeface="Arial" pitchFamily="34" charset="0"/>
                          <a:ea typeface="Arial" pitchFamily="34" charset="-122"/>
                          <a:cs typeface="Arial" pitchFamily="34" charset="-120"/>
                        </a:rPr>
                        <a:t>Peacemakers</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14302A"/>
                    </a:solidFill>
                  </a:tcPr>
                </a:tc>
              </a:tr>
              <a:tr h="383408">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Warm-up · Problem Storm</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r>
              <a:tr h="383408">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Game 1 · Tag Tennis</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r>
              <a:tr h="383408">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Game 2 · Missing Word Rescue</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r>
              <a:tr h="383408">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Game 3 · Diplomatic Makeover</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r>
              <a:tr h="383408">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Game 4 · House Rules</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FFDF8"/>
                    </a:solidFill>
                  </a:tcPr>
                </a:tc>
              </a:tr>
              <a:tr h="383408">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Game 5 · Flatmate Showdown</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6350" cap="flat" cmpd="sng" algn="ctr">
                      <a:solidFill>
                        <a:srgbClr val="DCDCD9"/>
                      </a:solidFill>
                      <a:prstDash val="solid"/>
                      <a:round/>
                      <a:headEnd type="none" w="med" len="med"/>
                      <a:tailEnd type="none" w="med" len="med"/>
                    </a:lnB>
                    <a:solidFill>
                      <a:srgbClr val="F1EEE4"/>
                    </a:solidFill>
                  </a:tcPr>
                </a:tc>
              </a:tr>
              <a:tr h="377007">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TOTAL</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0" cap="flat" cmpd="sng" algn="ctr">
                      <a:noFill/>
                    </a:lnB>
                    <a:solidFill>
                      <a:srgbClr val="DFF0E6"/>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0" cap="flat" cmpd="sng" algn="ctr">
                      <a:noFill/>
                    </a:lnB>
                    <a:solidFill>
                      <a:srgbClr val="DFF0E6"/>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0" cap="flat" cmpd="sng" algn="ctr">
                      <a:noFill/>
                    </a:lnB>
                    <a:solidFill>
                      <a:srgbClr val="DFF0E6"/>
                    </a:solidFill>
                  </a:tcPr>
                </a:tc>
                <a:tc>
                  <a:txBody>
                    <a:bodyPr/>
                    <a:lstStyle/>
                    <a:p>
                      <a:pPr indent="0" marL="0">
                        <a:lnSpc>
                          <a:spcPts val="1920"/>
                        </a:lnSpc>
                        <a:buNone/>
                      </a:pPr>
                      <a:r>
                        <a:rPr lang="en-US" sz="1600" dirty="0">
                          <a:solidFill>
                            <a:srgbClr val="14302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121920" marR="121920" marT="71120" marB="71120" anchor="ctr">
                    <a:lnL w="0" cap="flat" cmpd="sng" algn="ctr">
                      <a:noFill/>
                    </a:lnL>
                    <a:lnR w="0" cap="flat" cmpd="sng" algn="ctr">
                      <a:noFill/>
                    </a:lnR>
                    <a:lnT w="0" cap="flat" cmpd="sng" algn="ctr">
                      <a:noFill/>
                    </a:lnT>
                    <a:lnB w="0" cap="flat" cmpd="sng" algn="ctr">
                      <a:noFill/>
                    </a:lnB>
                    <a:solidFill>
                      <a:srgbClr val="DFF0E6"/>
                    </a:solidFill>
                  </a:tcPr>
                </a:tc>
              </a:tr>
            </a:tbl>
          </a:graphicData>
        </a:graphic>
      </p:graphicFrame>
      <p:sp>
        <p:nvSpPr>
          <p:cNvPr id="6" name="Shape 3"/>
          <p:cNvSpPr/>
          <p:nvPr/>
        </p:nvSpPr>
        <p:spPr>
          <a:xfrm>
            <a:off x="812810" y="1803288"/>
            <a:ext cx="10566441" cy="3086100"/>
          </a:xfrm>
          <a:prstGeom prst="rect">
            <a:avLst/>
          </a:prstGeom>
          <a:ln w="12700">
            <a:solidFill>
              <a:srgbClr val="E3DFD2"/>
            </a:solidFill>
            <a:prstDash val="solid"/>
          </a:ln>
        </p:spPr>
      </p:sp>
      <p:sp>
        <p:nvSpPr>
          <p:cNvPr id="7" name="Text 4"/>
          <p:cNvSpPr txBox="1"/>
          <p:nvPr/>
        </p:nvSpPr>
        <p:spPr>
          <a:xfrm>
            <a:off x="812810" y="6223041"/>
            <a:ext cx="7810530" cy="228600"/>
          </a:xfrm>
          <a:prstGeom prst="rect">
            <a:avLst/>
          </a:prstGeom>
          <a:noFill/>
          <a:ln/>
        </p:spPr>
        <p:txBody>
          <a:bodyPr wrap="square" lIns="0" tIns="0" rIns="0" bIns="0" rtlCol="0" anchor="t"/>
          <a:lstStyle/>
          <a:p>
            <a:pPr algn="l" indent="0" marL="0">
              <a:lnSpc>
                <a:spcPts val="1680"/>
              </a:lnSpc>
              <a:buNone/>
            </a:pPr>
            <a:r>
              <a:rPr lang="en-US" sz="1200" dirty="0">
                <a:solidFill>
                  <a:srgbClr val="5E6B66"/>
                </a:solidFill>
                <a:latin typeface="Arial" pitchFamily="34" charset="0"/>
                <a:ea typeface="Arial" pitchFamily="34" charset="-122"/>
                <a:cs typeface="Arial" pitchFamily="34" charset="-120"/>
              </a:rPr>
              <a:t>2G Speaking · The Diplomatic Flatmate</a:t>
            </a:r>
            <a:endParaRPr lang="en-US" sz="1200" dirty="0"/>
          </a:p>
        </p:txBody>
      </p:sp>
      <p:sp>
        <p:nvSpPr>
          <p:cNvPr id="8" name="Text 5"/>
          <p:cNvSpPr txBox="1"/>
          <p:nvPr/>
        </p:nvSpPr>
        <p:spPr>
          <a:xfrm>
            <a:off x="10045690" y="6223041"/>
            <a:ext cx="1333470" cy="228600"/>
          </a:xfrm>
          <a:prstGeom prst="rect">
            <a:avLst/>
          </a:prstGeom>
          <a:noFill/>
          <a:ln/>
        </p:spPr>
        <p:txBody>
          <a:bodyPr wrap="square" lIns="0" tIns="0" rIns="0" bIns="0" rtlCol="0" anchor="t"/>
          <a:lstStyle/>
          <a:p>
            <a:pPr algn="r" indent="0" marL="0">
              <a:lnSpc>
                <a:spcPts val="1680"/>
              </a:lnSpc>
              <a:buNone/>
            </a:pPr>
            <a:r>
              <a:rPr lang="en-US" sz="1200" dirty="0">
                <a:solidFill>
                  <a:srgbClr val="5E6B66"/>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E7D57"/>
        </a:solidFill>
      </p:bgPr>
    </p:bg>
    <p:spTree>
      <p:nvGrpSpPr>
        <p:cNvPr id="1" name=""/>
        <p:cNvGrpSpPr/>
        <p:nvPr/>
      </p:nvGrpSpPr>
      <p:grpSpPr>
        <a:xfrm>
          <a:off x="0" y="0"/>
          <a:ext cx="0" cy="0"/>
          <a:chOff x="0" y="0"/>
          <a:chExt cx="0" cy="0"/>
        </a:xfrm>
      </p:grpSpPr>
      <p:sp>
        <p:nvSpPr>
          <p:cNvPr id="2" name="Text 0"/>
          <p:cNvSpPr txBox="1"/>
          <p:nvPr/>
        </p:nvSpPr>
        <p:spPr>
          <a:xfrm>
            <a:off x="812810" y="1428933"/>
            <a:ext cx="10815798" cy="22860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F7F5EE"/>
                </a:solidFill>
                <a:latin typeface="Arial" pitchFamily="34" charset="0"/>
                <a:ea typeface="Arial" pitchFamily="34" charset="-122"/>
                <a:cs typeface="Arial" pitchFamily="34" charset="-120"/>
              </a:rPr>
              <a:t>LESSON COMPLETE</a:t>
            </a:r>
            <a:endParaRPr lang="en-US" sz="1200" dirty="0"/>
          </a:p>
        </p:txBody>
      </p:sp>
      <p:sp>
        <p:nvSpPr>
          <p:cNvPr id="3" name="Text 1"/>
          <p:cNvSpPr txBox="1"/>
          <p:nvPr/>
        </p:nvSpPr>
        <p:spPr>
          <a:xfrm>
            <a:off x="812810" y="1886041"/>
            <a:ext cx="10815798" cy="800100"/>
          </a:xfrm>
          <a:prstGeom prst="rect">
            <a:avLst/>
          </a:prstGeom>
          <a:noFill/>
          <a:ln/>
        </p:spPr>
        <p:txBody>
          <a:bodyPr wrap="square" lIns="0" tIns="0" rIns="0" bIns="0" rtlCol="0" anchor="t"/>
          <a:lstStyle/>
          <a:p>
            <a:pPr algn="l" indent="0" marL="0">
              <a:lnSpc>
                <a:spcPts val="6300"/>
              </a:lnSpc>
              <a:buNone/>
            </a:pPr>
            <a:r>
              <a:rPr lang="en-US" sz="6000" b="1" dirty="0">
                <a:solidFill>
                  <a:srgbClr val="F7F5EE"/>
                </a:solidFill>
                <a:latin typeface="Arial" pitchFamily="34" charset="0"/>
                <a:ea typeface="Arial" pitchFamily="34" charset="-122"/>
                <a:cs typeface="Arial" pitchFamily="34" charset="-120"/>
              </a:rPr>
              <a:t>Well done, flatmates!</a:t>
            </a:r>
            <a:endParaRPr lang="en-US" sz="6000" dirty="0"/>
          </a:p>
        </p:txBody>
      </p:sp>
      <p:sp>
        <p:nvSpPr>
          <p:cNvPr id="4" name="Text 2"/>
          <p:cNvSpPr txBox="1"/>
          <p:nvPr/>
        </p:nvSpPr>
        <p:spPr>
          <a:xfrm>
            <a:off x="812810" y="2894442"/>
            <a:ext cx="10815798" cy="304770"/>
          </a:xfrm>
          <a:prstGeom prst="rect">
            <a:avLst/>
          </a:prstGeom>
          <a:noFill/>
          <a:ln/>
        </p:spPr>
        <p:txBody>
          <a:bodyPr wrap="square" lIns="0" tIns="0" rIns="0" bIns="0" rtlCol="0" anchor="t"/>
          <a:lstStyle/>
          <a:p>
            <a:pPr algn="l" indent="0" marL="0">
              <a:lnSpc>
                <a:spcPts val="2240"/>
              </a:lnSpc>
              <a:buNone/>
            </a:pPr>
            <a:r>
              <a:rPr lang="en-US" sz="1600" dirty="0">
                <a:solidFill>
                  <a:srgbClr val="F7F5EE"/>
                </a:solidFill>
                <a:latin typeface="Arial" pitchFamily="34" charset="0"/>
                <a:ea typeface="Arial" pitchFamily="34" charset="-122"/>
                <a:cs typeface="Arial" pitchFamily="34" charset="-120"/>
              </a:rPr>
              <a:t>Today you practised:</a:t>
            </a:r>
            <a:endParaRPr lang="en-US" sz="1600" dirty="0"/>
          </a:p>
        </p:txBody>
      </p:sp>
      <p:sp>
        <p:nvSpPr>
          <p:cNvPr id="5" name="Shape 3"/>
          <p:cNvSpPr/>
          <p:nvPr/>
        </p:nvSpPr>
        <p:spPr>
          <a:xfrm>
            <a:off x="812810" y="3427811"/>
            <a:ext cx="2527310" cy="1168237"/>
          </a:xfrm>
          <a:prstGeom prst="roundRect">
            <a:avLst>
              <a:gd name="adj" fmla="val 9784"/>
            </a:avLst>
          </a:prstGeom>
          <a:solidFill>
            <a:srgbClr val="F7F5EE"/>
          </a:solidFill>
          <a:ln/>
        </p:spPr>
      </p:sp>
      <p:sp>
        <p:nvSpPr>
          <p:cNvPr id="6" name="Text 4"/>
          <p:cNvSpPr txBox="1"/>
          <p:nvPr/>
        </p:nvSpPr>
        <p:spPr>
          <a:xfrm>
            <a:off x="990570" y="3590392"/>
            <a:ext cx="225326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QUESTION TAGS</a:t>
            </a:r>
            <a:endParaRPr lang="en-US" sz="1200" dirty="0"/>
          </a:p>
        </p:txBody>
      </p:sp>
      <p:sp>
        <p:nvSpPr>
          <p:cNvPr id="7" name="Text 5"/>
          <p:cNvSpPr txBox="1"/>
          <p:nvPr/>
        </p:nvSpPr>
        <p:spPr>
          <a:xfrm>
            <a:off x="990570" y="3854470"/>
            <a:ext cx="2253264"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…isn't it? …do you?</a:t>
            </a:r>
            <a:endParaRPr lang="en-US" sz="1600" dirty="0"/>
          </a:p>
        </p:txBody>
      </p:sp>
      <p:sp>
        <p:nvSpPr>
          <p:cNvPr id="8" name="Shape 6"/>
          <p:cNvSpPr/>
          <p:nvPr/>
        </p:nvSpPr>
        <p:spPr>
          <a:xfrm>
            <a:off x="3492459" y="3427811"/>
            <a:ext cx="2527310" cy="1168237"/>
          </a:xfrm>
          <a:prstGeom prst="roundRect">
            <a:avLst>
              <a:gd name="adj" fmla="val 9784"/>
            </a:avLst>
          </a:prstGeom>
          <a:solidFill>
            <a:srgbClr val="F7F5EE"/>
          </a:solidFill>
          <a:ln/>
        </p:spPr>
      </p:sp>
      <p:sp>
        <p:nvSpPr>
          <p:cNvPr id="9" name="Text 7"/>
          <p:cNvSpPr txBox="1"/>
          <p:nvPr/>
        </p:nvSpPr>
        <p:spPr>
          <a:xfrm>
            <a:off x="3670310" y="3590392"/>
            <a:ext cx="225326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TOOLKIT PHRASES</a:t>
            </a:r>
            <a:endParaRPr lang="en-US" sz="1200" dirty="0"/>
          </a:p>
        </p:txBody>
      </p:sp>
      <p:sp>
        <p:nvSpPr>
          <p:cNvPr id="10" name="Text 8"/>
          <p:cNvSpPr txBox="1"/>
          <p:nvPr/>
        </p:nvSpPr>
        <p:spPr>
          <a:xfrm>
            <a:off x="3670310" y="3854470"/>
            <a:ext cx="2253264"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Can I have a word…?</a:t>
            </a:r>
            <a:endParaRPr lang="en-US" sz="1600" dirty="0"/>
          </a:p>
        </p:txBody>
      </p:sp>
      <p:sp>
        <p:nvSpPr>
          <p:cNvPr id="11" name="Shape 9"/>
          <p:cNvSpPr/>
          <p:nvPr/>
        </p:nvSpPr>
        <p:spPr>
          <a:xfrm>
            <a:off x="6172200" y="3427811"/>
            <a:ext cx="2527310" cy="1168237"/>
          </a:xfrm>
          <a:prstGeom prst="roundRect">
            <a:avLst>
              <a:gd name="adj" fmla="val 9784"/>
            </a:avLst>
          </a:prstGeom>
          <a:solidFill>
            <a:srgbClr val="F7F5EE"/>
          </a:solidFill>
          <a:ln/>
        </p:spPr>
      </p:sp>
      <p:sp>
        <p:nvSpPr>
          <p:cNvPr id="12" name="Text 10"/>
          <p:cNvSpPr txBox="1"/>
          <p:nvPr/>
        </p:nvSpPr>
        <p:spPr>
          <a:xfrm>
            <a:off x="6349959" y="3590392"/>
            <a:ext cx="225326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EMPATHY</a:t>
            </a:r>
            <a:endParaRPr lang="en-US" sz="1200" dirty="0"/>
          </a:p>
        </p:txBody>
      </p:sp>
      <p:sp>
        <p:nvSpPr>
          <p:cNvPr id="13" name="Text 11"/>
          <p:cNvSpPr txBox="1"/>
          <p:nvPr/>
        </p:nvSpPr>
        <p:spPr>
          <a:xfrm>
            <a:off x="6349959" y="3854470"/>
            <a:ext cx="2253264" cy="563728"/>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Oh dear… I didn't realise…</a:t>
            </a:r>
            <a:endParaRPr lang="en-US" sz="1600" dirty="0"/>
          </a:p>
        </p:txBody>
      </p:sp>
      <p:sp>
        <p:nvSpPr>
          <p:cNvPr id="14" name="Shape 12"/>
          <p:cNvSpPr/>
          <p:nvPr/>
        </p:nvSpPr>
        <p:spPr>
          <a:xfrm>
            <a:off x="8851941" y="3427811"/>
            <a:ext cx="2527310" cy="1168237"/>
          </a:xfrm>
          <a:prstGeom prst="roundRect">
            <a:avLst>
              <a:gd name="adj" fmla="val 9784"/>
            </a:avLst>
          </a:prstGeom>
          <a:solidFill>
            <a:srgbClr val="F7F5EE"/>
          </a:solidFill>
          <a:ln/>
        </p:spPr>
      </p:sp>
      <p:sp>
        <p:nvSpPr>
          <p:cNvPr id="15" name="Text 13"/>
          <p:cNvSpPr txBox="1"/>
          <p:nvPr/>
        </p:nvSpPr>
        <p:spPr>
          <a:xfrm>
            <a:off x="9029700" y="3590392"/>
            <a:ext cx="2253264" cy="228600"/>
          </a:xfrm>
          <a:prstGeom prst="rect">
            <a:avLst/>
          </a:prstGeom>
          <a:noFill/>
          <a:ln/>
        </p:spPr>
        <p:txBody>
          <a:bodyPr wrap="square" lIns="0" tIns="0" rIns="0" bIns="0" rtlCol="0" anchor="t"/>
          <a:lstStyle/>
          <a:p>
            <a:pPr algn="l" indent="0" marL="0">
              <a:lnSpc>
                <a:spcPts val="1680"/>
              </a:lnSpc>
              <a:buNone/>
            </a:pPr>
            <a:r>
              <a:rPr lang="en-US" sz="1200" b="1" spc="100" kern="0" dirty="0">
                <a:solidFill>
                  <a:srgbClr val="2E7D57"/>
                </a:solidFill>
                <a:latin typeface="Arial" pitchFamily="34" charset="0"/>
                <a:ea typeface="Arial" pitchFamily="34" charset="-122"/>
                <a:cs typeface="Arial" pitchFamily="34" charset="-120"/>
              </a:rPr>
              <a:t>BE SUPPOSED TO</a:t>
            </a:r>
            <a:endParaRPr lang="en-US" sz="1200" dirty="0"/>
          </a:p>
        </p:txBody>
      </p:sp>
      <p:sp>
        <p:nvSpPr>
          <p:cNvPr id="16" name="Text 14"/>
          <p:cNvSpPr txBox="1"/>
          <p:nvPr/>
        </p:nvSpPr>
        <p:spPr>
          <a:xfrm>
            <a:off x="9029700" y="3854470"/>
            <a:ext cx="2253264" cy="289499"/>
          </a:xfrm>
          <a:prstGeom prst="rect">
            <a:avLst/>
          </a:prstGeom>
          <a:noFill/>
          <a:ln/>
        </p:spPr>
        <p:txBody>
          <a:bodyPr wrap="square" lIns="0" tIns="0" rIns="0" bIns="0" rtlCol="0" anchor="t"/>
          <a:lstStyle/>
          <a:p>
            <a:pPr algn="l" indent="0" marL="0">
              <a:lnSpc>
                <a:spcPts val="2160"/>
              </a:lnSpc>
              <a:buNone/>
            </a:pPr>
            <a:r>
              <a:rPr lang="en-US" sz="1600" dirty="0">
                <a:solidFill>
                  <a:srgbClr val="14302A"/>
                </a:solidFill>
                <a:latin typeface="Arial" pitchFamily="34" charset="0"/>
                <a:ea typeface="Arial" pitchFamily="34" charset="-122"/>
                <a:cs typeface="Arial" pitchFamily="34" charset="-120"/>
              </a:rPr>
              <a:t>We're supposed to…</a:t>
            </a:r>
            <a:endParaRPr lang="en-US" sz="1600" dirty="0"/>
          </a:p>
        </p:txBody>
      </p:sp>
      <p:sp>
        <p:nvSpPr>
          <p:cNvPr id="17" name="Shape 15"/>
          <p:cNvSpPr/>
          <p:nvPr/>
        </p:nvSpPr>
        <p:spPr>
          <a:xfrm>
            <a:off x="812810" y="4824649"/>
            <a:ext cx="10566441" cy="589239"/>
          </a:xfrm>
          <a:prstGeom prst="roundRect">
            <a:avLst>
              <a:gd name="adj" fmla="val 19398"/>
            </a:avLst>
          </a:prstGeom>
          <a:solidFill>
            <a:srgbClr val="14302A"/>
          </a:solidFill>
          <a:ln/>
        </p:spPr>
      </p:sp>
      <p:sp>
        <p:nvSpPr>
          <p:cNvPr id="18" name="Text 16"/>
          <p:cNvSpPr txBox="1"/>
          <p:nvPr/>
        </p:nvSpPr>
        <p:spPr>
          <a:xfrm>
            <a:off x="1015990" y="4956688"/>
            <a:ext cx="10401300" cy="304770"/>
          </a:xfrm>
          <a:prstGeom prst="rect">
            <a:avLst/>
          </a:prstGeom>
          <a:noFill/>
          <a:ln/>
        </p:spPr>
        <p:txBody>
          <a:bodyPr wrap="square" lIns="0" tIns="0" rIns="0" bIns="0" rtlCol="0" anchor="t"/>
          <a:lstStyle/>
          <a:p>
            <a:pPr algn="l" indent="0" marL="0">
              <a:lnSpc>
                <a:spcPts val="2240"/>
              </a:lnSpc>
              <a:buNone/>
            </a:pPr>
            <a:r>
              <a:rPr lang="en-US" sz="1600" b="1" dirty="0">
                <a:solidFill>
                  <a:srgbClr val="8FD3B0"/>
                </a:solidFill>
                <a:latin typeface="Arial" pitchFamily="34" charset="0"/>
                <a:ea typeface="Arial" pitchFamily="34" charset="-122"/>
                <a:cs typeface="Arial" pitchFamily="34" charset="-120"/>
              </a:rPr>
              <a:t>Homework:</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 write a cleaning rota for your flat, with five rules that use </a:t>
            </a:r>
            <a:pPr algn="l" indent="0" marL="0">
              <a:lnSpc>
                <a:spcPts val="2240"/>
              </a:lnSpc>
              <a:buNone/>
            </a:pPr>
            <a:r>
              <a:rPr lang="en-US" sz="1600" b="1" dirty="0">
                <a:solidFill>
                  <a:srgbClr val="F3F0E6"/>
                </a:solidFill>
                <a:latin typeface="Arial" pitchFamily="34" charset="0"/>
                <a:ea typeface="Arial" pitchFamily="34" charset="-122"/>
                <a:cs typeface="Arial" pitchFamily="34" charset="-120"/>
              </a:rPr>
              <a:t>(not) supposed to</a:t>
            </a:r>
            <a:pPr algn="l" indent="0" marL="0">
              <a:lnSpc>
                <a:spcPts val="2240"/>
              </a:lnSpc>
              <a:buNone/>
            </a:pPr>
            <a:r>
              <a:rPr lang="en-US" sz="1600" dirty="0">
                <a:solidFill>
                  <a:srgbClr val="F3F0E6"/>
                </a:solidFill>
                <a:latin typeface="Arial" pitchFamily="34" charset="0"/>
                <a:ea typeface="Arial" pitchFamily="34" charset="-122"/>
                <a:cs typeface="Arial" pitchFamily="34" charset="-120"/>
              </a:rPr>
              <a: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Diplomatic Flatmate</dc:title>
  <dc:subject>Unit 2G Speaking: diplomatic language, question tags and be supposed to, with team games</dc:subject>
  <dc:creator>PptxGenJS</dc:creator>
  <cp:lastModifiedBy>PptxGenJS</cp:lastModifiedBy>
  <cp:revision>1</cp:revision>
  <dcterms:created xsi:type="dcterms:W3CDTF">2026-10-07T02:29:24Z</dcterms:created>
  <dcterms:modified xsi:type="dcterms:W3CDTF">2026-10-07T02:29:24Z</dcterms:modified>
</cp:coreProperties>
</file>